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show the complete scientific chain for one transparent routing instance. The aim is to understand the encoding and probability dynamics, not to outperform classical shortest-path algorithms.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fixed in data/graph.json. NetworkX shortest path and exhaustive simple-route enumeration agree on the same unique cost-10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objective says which route is cheap, while the flow penalty says whether the selected edges form a valid source-to-target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 layer alone does not change measurement probabilities. Interference appears after the mixer, so the mixer geometry is scientifically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Restricting the logical basis to valid routes structurally removes infeasible probability mass, but it does not by itself guarantee concentration on the optimum.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full-space methods leave most probability on infeasible bitstrings. The feasible basis removes that mass by construction and lets us study concentration among valid routes.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table uses the saved three-seed median. Evaluation caps differ between the historical Q2-F baseline and the final matrix, so this is a course-result summary rather than a strict equal-budget leaderboard.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an ideal statevector probability distribution, not finite-shot frequency. The optimum label is used for evaluation and presentation, not supplied directly to COBYLA.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near-unit success probability depends on instance-specific threshold information. This is a clear mechanism demonstration, not a scalable quantum-routing or quantum-advantage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shallow cells improve, but the saved three-seed depth-three comparison does not show stable superiority over expectation. We report this as a legitimate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circuit replay focuses on the final feasible methods. The dynamics dashboard compares Penalty-X, Global-Grover, and Feasible-Grover layer by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scientific message is the separation of validity from optimality. Representation controls where amplitude is allowed; the phase and mixer control where probability concentrates inside that representation.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optional Qiskit example connects the Ising formula to familiar gates without claiming that the logical feasible-space operators have a shallow hardware decomposition.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234440"/>
            <a:ext cx="10424160" cy="11430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ptos"/>
              </a:defRPr>
            </a:pPr>
            <a:r>
              <a:t>QAOA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658368"/>
            <a:ext cx="7315200" cy="32004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400" b="1">
                <a:solidFill>
                  <a:srgbClr val="E9B949"/>
                </a:solidFill>
                <a:latin typeface="Aptos"/>
              </a:defRPr>
            </a:pPr>
            <a:r>
              <a:t>DTU SCIQIS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88920"/>
            <a:ext cx="9966960" cy="123444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Aptos"/>
              </a:defRPr>
            </a:pPr>
            <a:r>
              <a:t>From a weighted graph to QUBO, Ising, QAOA, and decoded routes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83480"/>
            <a:ext cx="99669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500" b="0">
                <a:solidFill>
                  <a:srgbClr val="E8EDF4"/>
                </a:solidFill>
                <a:latin typeface="Aptos"/>
              </a:defRPr>
            </a:pPr>
            <a:r>
              <a:t>Ideal statevector simulation · teaching-scale instance · no quantum-advantage claim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GRAPH AND EXACT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The routing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7 nodes and 14 directed weighted edges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Source 0, target 6; one binary variable per edge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Unique optimum: 0 → 1 → 2 → 4 → 5 → 6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Exact route cost: 10</a:t>
            </a:r>
          </a:p>
        </p:txBody>
      </p:sp>
      <p:pic>
        <p:nvPicPr>
          <p:cNvPr id="5" name="Picture 4" descr="01_routing_graph_and_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982014"/>
            <a:ext cx="6629400" cy="3616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CONSTRAINED BINARY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Edge variables become a routing QUBO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x_e = 1 means that directed edge e is selected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Routing cost is the weighted sum of selected edges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Squared flow residuals enforce source, conservation, and target constraints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The frozen penalty coefficient is A = 6</a:t>
            </a:r>
          </a:p>
        </p:txBody>
      </p:sp>
      <p:pic>
        <p:nvPicPr>
          <p:cNvPr id="5" name="Picture 4" descr="eq_final_qu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3272784"/>
            <a:ext cx="6629400" cy="10348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QUANTUM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QUBO → Ising → QAOA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Substitute x_j = (I − Z_j) / 2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The diagonal cost Hamiltonian contains I, Z, and ZZ terms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A cost phase changes phases; the mixer converts phase differences into probability changes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All 16,384 QUBO and Ising basis energies agree exactly</a:t>
            </a:r>
          </a:p>
        </p:txBody>
      </p:sp>
      <p:pic>
        <p:nvPicPr>
          <p:cNvPr id="5" name="Picture 4" descr="02_qubo_ising_qao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731244"/>
            <a:ext cx="6629400" cy="21178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REPRESENTATION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Two search spaces, three mixers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Penalty-X: 2^14 = 16,384 edge bitstrings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Global-Grover: the same full bitstring space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Feasible-Grover: only 20 enumerated valid routes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Global-Grover and Feasible-Grover are QAOA mixers, not standard Grover search</a:t>
            </a:r>
          </a:p>
        </p:txBody>
      </p:sp>
      <p:pic>
        <p:nvPicPr>
          <p:cNvPr id="5" name="Picture 4" descr="03_three_search_spaces_and_mix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503866"/>
            <a:ext cx="6629400" cy="25726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SHALLOW QAOA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What happens to probability mass?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Full-space initial p_feas = 20 / 16,384 ≈ 0.00122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At p=2, Global-Grover reaches p_opt ≈ 0.000213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At p=2, Feasible-Grover keeps p_feas = 1 and reaches p_opt ≈ 0.170927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Feasible restriction solves validity; phase and mixer still determine optimality</a:t>
            </a:r>
          </a:p>
        </p:txBody>
      </p:sp>
      <p:pic>
        <p:nvPicPr>
          <p:cNvPr id="5" name="Picture 4" descr="06_probability_mass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912835"/>
            <a:ext cx="6629400" cy="3754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THREE SEEDS · MEDIAN p_opt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Final course method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Q2-F Expectation, p=3: 0.264901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BSP / path exchange, p=3: 0.444656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GM-QAOA Expectation, p=3: 0.182410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GM-Th-QAOA, p=3: 0.998712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All four methods use the 20-route feasible basis, so p_feas ≈ 1</a:t>
            </a:r>
          </a:p>
        </p:txBody>
      </p:sp>
      <p:pic>
        <p:nvPicPr>
          <p:cNvPr id="5" name="Picture 4" descr="02_popt_versu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38355"/>
            <a:ext cx="6629400" cy="43036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GM-Th-QAOA · DEPTH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The final distribution is concentrated on the optimum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Median p_opt = 0.998712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Seed range: 0.816034–0.999804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Median expected route cost = 10.002983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The highlighted state is the unique cost-10 route</a:t>
            </a:r>
          </a:p>
        </p:txBody>
      </p:sp>
      <p:pic>
        <p:nvPicPr>
          <p:cNvPr id="5" name="Picture 4" descr="04_final_probabi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825137"/>
            <a:ext cx="6629400" cy="3930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FEASIBLE BASIS + THRESHOLD PHASE + MIXER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Why GM-Th works on this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The logical basis contains only valid routes: p_feas = 1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A deterministic greedy incumbent has cost 11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The threshold marks routes with cost &lt; 11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On this graph, that marked set contains exactly the unique optimum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The feasible Grover mixer amplifies the marked probability</a:t>
            </a:r>
          </a:p>
        </p:txBody>
      </p:sp>
      <p:pic>
        <p:nvPicPr>
          <p:cNvPr id="5" name="Picture 4" descr="05_grover_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58773"/>
            <a:ext cx="6629400" cy="44628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EXPECTATION · CVaR · ASCENDING CVaR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CVaR course extension: a useful negative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CVaR changes the classical objective, not the mixer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At depth 3: Expectation 0.264901, CVaR 0.258176, Ascending CVaR 0.263190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CVaR did not provide a clear improvement in this course experiment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The fractional cutoff implementation remains tested and available</a:t>
            </a:r>
          </a:p>
        </p:txBody>
      </p:sp>
      <p:pic>
        <p:nvPicPr>
          <p:cNvPr id="5" name="Picture 4" descr="03_popt_versu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26642"/>
            <a:ext cx="6629400" cy="43270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REPRODUCIBLE COURSE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Run it and watch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python -m src.main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python scripts/run_course_final.py --seed 2601 --depth 1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python scripts/run_qaoa_visualizer.py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python scripts/run_qaoa_dynamics_visualizer.py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Both browser demos replay saved data and do not rerun historical experiments</a:t>
            </a:r>
          </a:p>
        </p:txBody>
      </p:sp>
      <p:pic>
        <p:nvPicPr>
          <p:cNvPr id="5" name="Picture 4" descr="07_layer_by_layer_expected_h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889500"/>
            <a:ext cx="6629400" cy="38013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COURSE TAKEAWAYS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Graph → QUBO → Ising → QAOA → decoded routes works end to end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Full-space QAOA can waste most probability on infeasible bitstrings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Feasibility preservation does not automatically imply optimal-state concentration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Mixer and phase/objective design strongly change the final distribution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One fixed graph, ideal simulation, enumerated feasible basis, finite optimizer budgets</a:t>
            </a:r>
          </a:p>
          <a:p>
            <a:pPr>
              <a:spcAft>
                <a:spcPts val="1300"/>
              </a:spcAft>
              <a:defRPr sz="1600">
                <a:solidFill>
                  <a:srgbClr val="26364D"/>
                </a:solidFill>
                <a:latin typeface="Aptos"/>
              </a:defRPr>
            </a:pPr>
            <a:r>
              <a:t>•  No hardware, scalability, or quantum-advantage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8961120" cy="2743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20639B"/>
                </a:solidFill>
                <a:latin typeface="Aptos"/>
              </a:defRPr>
            </a:pPr>
            <a:r>
              <a:t>COURSE IMPLEMENTATION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14213D"/>
                </a:solidFill>
                <a:latin typeface="Aptos"/>
              </a:defRPr>
            </a:pPr>
            <a:r>
              <a:t>Backup: a two-qubit Ising gate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206240" cy="4800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Local Z terms become RZ rotations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A ZZ coupling becomes CX–RZ–CX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The X mixer becomes RX rotations</a:t>
            </a:r>
          </a:p>
          <a:p>
            <a:pPr>
              <a:spcAft>
                <a:spcPts val="1300"/>
              </a:spcAft>
              <a:defRPr sz="1800">
                <a:solidFill>
                  <a:srgbClr val="26364D"/>
                </a:solidFill>
                <a:latin typeface="Aptos"/>
              </a:defRPr>
            </a:pPr>
            <a:r>
              <a:t>•  This is a small teaching decomposition, not the full 14-qubit compiled circuit</a:t>
            </a:r>
          </a:p>
        </p:txBody>
      </p:sp>
      <p:pic>
        <p:nvPicPr>
          <p:cNvPr id="5" name="Picture 4" descr="simple_ising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821341"/>
            <a:ext cx="6629400" cy="1937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0996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r">
              <a:defRPr sz="1000" b="0">
                <a:solidFill>
                  <a:srgbClr val="617087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QAOA Routing — Final SCIQIS Course Presentation</dc:title>
  <dc:subject>Graph to QUBO, Ising, QAOA, and decoded routes</dc:subject>
  <dc:creator/>
  <cp:keywords>QAOA, routing, QUBO, Ising, CVaR, SCIQIS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