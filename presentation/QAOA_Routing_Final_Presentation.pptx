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Penalty-X</c:v>
                </c:pt>
              </c:strCache>
            </c:strRef>
          </c:tx>
          <c:spPr>
            <a:ln w="27940">
              <a:solidFill>
                <a:srgbClr val="20639B"/>
              </a:solidFill>
            </a:ln>
          </c:spPr>
          <c:marker>
            <c:symbol val="none"/>
          </c:marker>
          <c:cat>
            <c:numRef>
              <c:f>Sheet1!$A$2:$A$111</c:f>
              <c:numCache>
                <c:formatCode>General</c:formatCode>
                <c:ptCount val="11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numCache>
            </c:numRef>
          </c:cat>
          <c:val>
            <c:numRef>
              <c:f>Sheet1!$B$2:$B$111</c:f>
              <c:numCache>
                <c:formatCode>General</c:formatCode>
                <c:ptCount val="110"/>
                <c:pt idx="0">
                  <c:v>0.00032672836480405706</c:v>
                </c:pt>
                <c:pt idx="1">
                  <c:v>0.0013475410063316683</c:v>
                </c:pt>
                <c:pt idx="2">
                  <c:v>0.0008070725652476909</c:v>
                </c:pt>
                <c:pt idx="3">
                  <c:v>0.0011668080274910917</c:v>
                </c:pt>
                <c:pt idx="4">
                  <c:v>0.0010816179868551145</c:v>
                </c:pt>
                <c:pt idx="5">
                  <c:v>0.0014193263373146426</c:v>
                </c:pt>
                <c:pt idx="6">
                  <c:v>0.0015776451255014687</c:v>
                </c:pt>
                <c:pt idx="7">
                  <c:v>0.00169430644799696</c:v>
                </c:pt>
                <c:pt idx="8">
                  <c:v>0.0017177472285687281</c:v>
                </c:pt>
                <c:pt idx="9">
                  <c:v>0.0016338906680880704</c:v>
                </c:pt>
                <c:pt idx="10">
                  <c:v>0.0018771261905928247</c:v>
                </c:pt>
                <c:pt idx="11">
                  <c:v>0.0019410192157447365</c:v>
                </c:pt>
                <c:pt idx="12">
                  <c:v>0.0019913358415023516</c:v>
                </c:pt>
                <c:pt idx="13">
                  <c:v>0.0019160875452559456</c:v>
                </c:pt>
                <c:pt idx="14">
                  <c:v>0.0018772781793469512</c:v>
                </c:pt>
                <c:pt idx="15">
                  <c:v>0.0021341054023496756</c:v>
                </c:pt>
                <c:pt idx="16">
                  <c:v>0.0019160195117306803</c:v>
                </c:pt>
                <c:pt idx="17">
                  <c:v>0.0015945467068600127</c:v>
                </c:pt>
                <c:pt idx="18">
                  <c:v>0.002119924887468223</c:v>
                </c:pt>
                <c:pt idx="19">
                  <c:v>0.0012648519663668843</c:v>
                </c:pt>
                <c:pt idx="20">
                  <c:v>0.0028331539935815514</c:v>
                </c:pt>
                <c:pt idx="21">
                  <c:v>7.448970897640856e-05</c:v>
                </c:pt>
                <c:pt idx="22">
                  <c:v>6.937332159488764e-05</c:v>
                </c:pt>
                <c:pt idx="23">
                  <c:v>4.314598623347962e-05</c:v>
                </c:pt>
                <c:pt idx="24">
                  <c:v>6.195921754713217e-05</c:v>
                </c:pt>
                <c:pt idx="25">
                  <c:v>9.016170820625976e-05</c:v>
                </c:pt>
                <c:pt idx="26">
                  <c:v>0.00011435313235175471</c:v>
                </c:pt>
                <c:pt idx="27">
                  <c:v>0.00014468955558365063</c:v>
                </c:pt>
                <c:pt idx="28">
                  <c:v>7.935951396106816e-05</c:v>
                </c:pt>
                <c:pt idx="29">
                  <c:v>7.880021038615159e-05</c:v>
                </c:pt>
                <c:pt idx="30">
                  <c:v>0.0001138449047644958</c:v>
                </c:pt>
                <c:pt idx="31">
                  <c:v>0.00013980702131354285</c:v>
                </c:pt>
                <c:pt idx="32">
                  <c:v>0.00015418607654969335</c:v>
                </c:pt>
                <c:pt idx="33">
                  <c:v>0.00011334811998749444</c:v>
                </c:pt>
                <c:pt idx="34">
                  <c:v>6.423635531677916e-05</c:v>
                </c:pt>
                <c:pt idx="35">
                  <c:v>8.01063392149446e-05</c:v>
                </c:pt>
                <c:pt idx="36">
                  <c:v>6.863495052440831e-05</c:v>
                </c:pt>
                <c:pt idx="37">
                  <c:v>4.978513568749853e-05</c:v>
                </c:pt>
                <c:pt idx="38">
                  <c:v>7.57652806842576e-05</c:v>
                </c:pt>
                <c:pt idx="39">
                  <c:v>0.0001007980850302729</c:v>
                </c:pt>
                <c:pt idx="40">
                  <c:v>7.10520084357585e-05</c:v>
                </c:pt>
                <c:pt idx="41">
                  <c:v>6.483244257145526e-05</c:v>
                </c:pt>
                <c:pt idx="42">
                  <c:v>7.985391050533298e-05</c:v>
                </c:pt>
                <c:pt idx="43">
                  <c:v>7.201340425149854e-05</c:v>
                </c:pt>
                <c:pt idx="44">
                  <c:v>8.713713582593884e-05</c:v>
                </c:pt>
                <c:pt idx="45">
                  <c:v>7.405240145701492e-05</c:v>
                </c:pt>
                <c:pt idx="46">
                  <c:v>7.232038732973008e-05</c:v>
                </c:pt>
                <c:pt idx="47">
                  <c:v>5.723363403543194e-05</c:v>
                </c:pt>
                <c:pt idx="48">
                  <c:v>5.7855643372662973e-05</c:v>
                </c:pt>
                <c:pt idx="49">
                  <c:v>4.566694964479663e-05</c:v>
                </c:pt>
                <c:pt idx="50">
                  <c:v>4.782005495461137e-05</c:v>
                </c:pt>
                <c:pt idx="51">
                  <c:v>5.324403942763739e-05</c:v>
                </c:pt>
                <c:pt idx="52">
                  <c:v>3.564197228907962e-05</c:v>
                </c:pt>
                <c:pt idx="53">
                  <c:v>3.424432195647372e-05</c:v>
                </c:pt>
                <c:pt idx="54">
                  <c:v>2.3756778143392174e-05</c:v>
                </c:pt>
                <c:pt idx="55">
                  <c:v>4.2178058507047414e-05</c:v>
                </c:pt>
                <c:pt idx="56">
                  <c:v>4.4621990150131636e-05</c:v>
                </c:pt>
                <c:pt idx="57">
                  <c:v>8.160772075311085e-05</c:v>
                </c:pt>
                <c:pt idx="58">
                  <c:v>9.75011227860039e-05</c:v>
                </c:pt>
                <c:pt idx="59">
                  <c:v>0.00015014076127738737</c:v>
                </c:pt>
                <c:pt idx="60">
                  <c:v>0.0001395186628900623</c:v>
                </c:pt>
                <c:pt idx="61">
                  <c:v>0.000140173555254779</c:v>
                </c:pt>
                <c:pt idx="62">
                  <c:v>0.00012017135528032693</c:v>
                </c:pt>
                <c:pt idx="63">
                  <c:v>0.0001760107701358115</c:v>
                </c:pt>
                <c:pt idx="64">
                  <c:v>0.00013770251095375182</c:v>
                </c:pt>
                <c:pt idx="65">
                  <c:v>3.155785495506267e-05</c:v>
                </c:pt>
                <c:pt idx="66">
                  <c:v>3.80364701755937e-05</c:v>
                </c:pt>
                <c:pt idx="67">
                  <c:v>3.53270185957417e-05</c:v>
                </c:pt>
                <c:pt idx="68">
                  <c:v>3.1683931726263506e-05</c:v>
                </c:pt>
                <c:pt idx="69">
                  <c:v>2.8118131441232675e-05</c:v>
                </c:pt>
                <c:pt idx="70">
                  <c:v>3.127524167917396e-06</c:v>
                </c:pt>
                <c:pt idx="71">
                  <c:v>1.828468397122348e-05</c:v>
                </c:pt>
                <c:pt idx="72">
                  <c:v>3.2336339762840004e-05</c:v>
                </c:pt>
                <c:pt idx="73">
                  <c:v>4.6343030489494366e-05</c:v>
                </c:pt>
                <c:pt idx="74">
                  <c:v>5.8282456344821674e-05</c:v>
                </c:pt>
                <c:pt idx="75">
                  <c:v>3.986045472610445e-05</c:v>
                </c:pt>
                <c:pt idx="76">
                  <c:v>3.8312834162051975e-05</c:v>
                </c:pt>
                <c:pt idx="77">
                  <c:v>0.00016162186429305908</c:v>
                </c:pt>
                <c:pt idx="78">
                  <c:v>0.0002039167139864957</c:v>
                </c:pt>
                <c:pt idx="79">
                  <c:v>0.00039901516480528136</c:v>
                </c:pt>
                <c:pt idx="80">
                  <c:v>0.0003083624948118673</c:v>
                </c:pt>
                <c:pt idx="81">
                  <c:v>0.0002743917544421108</c:v>
                </c:pt>
                <c:pt idx="82">
                  <c:v>0.00027661353125167063</c:v>
                </c:pt>
                <c:pt idx="83">
                  <c:v>0.00018840707816675776</c:v>
                </c:pt>
                <c:pt idx="84">
                  <c:v>0.0001414201974657885</c:v>
                </c:pt>
                <c:pt idx="85">
                  <c:v>0.00017943886601163605</c:v>
                </c:pt>
                <c:pt idx="86">
                  <c:v>0.0001771670505118435</c:v>
                </c:pt>
                <c:pt idx="87">
                  <c:v>6.875120151520123e-05</c:v>
                </c:pt>
                <c:pt idx="88">
                  <c:v>0.00013030509217534664</c:v>
                </c:pt>
                <c:pt idx="89">
                  <c:v>0.00015926354579888442</c:v>
                </c:pt>
                <c:pt idx="90">
                  <c:v>0.0002444212330167808</c:v>
                </c:pt>
                <c:pt idx="91">
                  <c:v>0.0002902505456148687</c:v>
                </c:pt>
                <c:pt idx="92">
                  <c:v>0.00027622019358441226</c:v>
                </c:pt>
                <c:pt idx="93">
                  <c:v>0.000275744082879135</c:v>
                </c:pt>
                <c:pt idx="94">
                  <c:v>0.0002823937815409814</c:v>
                </c:pt>
                <c:pt idx="95">
                  <c:v>0.00027170435591430383</c:v>
                </c:pt>
                <c:pt idx="96">
                  <c:v>0.00027031880350798966</c:v>
                </c:pt>
                <c:pt idx="97">
                  <c:v>0.00023575346828397164</c:v>
                </c:pt>
                <c:pt idx="98">
                  <c:v>0.00023301112875876752</c:v>
                </c:pt>
                <c:pt idx="99">
                  <c:v>0.0001348414792719059</c:v>
                </c:pt>
                <c:pt idx="100">
                  <c:v>0.0001438791568135757</c:v>
                </c:pt>
                <c:pt idx="101">
                  <c:v>0.00017391277324292292</c:v>
                </c:pt>
                <c:pt idx="102">
                  <c:v>0.00019327970135714617</c:v>
                </c:pt>
                <c:pt idx="103">
                  <c:v>0.00033209913749498933</c:v>
                </c:pt>
                <c:pt idx="104">
                  <c:v>0.0004026084385192199</c:v>
                </c:pt>
                <c:pt idx="105">
                  <c:v>0.00034904431745775286</c:v>
                </c:pt>
                <c:pt idx="106">
                  <c:v>0.00033138360369007393</c:v>
                </c:pt>
                <c:pt idx="107">
                  <c:v>0.0003068212206879945</c:v>
                </c:pt>
                <c:pt idx="108">
                  <c:v>0.00031316327596353104</c:v>
                </c:pt>
                <c:pt idx="109">
                  <c:v>0.0003578671392297369</c:v>
                </c:pt>
              </c:numCache>
            </c:numRef>
          </c:val>
          <c:smooth val="0"/>
        </c:ser>
        <c:ser>
          <c:idx val="1"/>
          <c:order val="1"/>
          <c:tx>
            <c:strRef>
              <c:f>Sheet1!$C$1</c:f>
              <c:strCache>
                <c:ptCount val="1"/>
                <c:pt idx="0">
                  <c:v>Global-Grover</c:v>
                </c:pt>
              </c:strCache>
            </c:strRef>
          </c:tx>
          <c:spPr>
            <a:ln w="27940">
              <a:solidFill>
                <a:srgbClr val="D14D5A"/>
              </a:solidFill>
            </a:ln>
          </c:spPr>
          <c:marker>
            <c:symbol val="none"/>
          </c:marker>
          <c:cat>
            <c:numRef>
              <c:f>Sheet1!$A$2:$A$111</c:f>
              <c:numCache>
                <c:formatCode>General</c:formatCode>
                <c:ptCount val="11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numCache>
            </c:numRef>
          </c:cat>
          <c:val>
            <c:numRef>
              <c:f>Sheet1!$C$2:$C$111</c:f>
              <c:numCache>
                <c:formatCode>General</c:formatCode>
                <c:ptCount val="110"/>
                <c:pt idx="0">
                  <c:v>6.480843532618566e-05</c:v>
                </c:pt>
                <c:pt idx="1">
                  <c:v>6.52654822691043e-05</c:v>
                </c:pt>
                <c:pt idx="2">
                  <c:v>6.602690732399946e-05</c:v>
                </c:pt>
                <c:pt idx="3">
                  <c:v>6.618383448352744e-05</c:v>
                </c:pt>
                <c:pt idx="4">
                  <c:v>6.568540944143444e-05</c:v>
                </c:pt>
                <c:pt idx="5">
                  <c:v>6.494374637031364e-05</c:v>
                </c:pt>
                <c:pt idx="6">
                  <c:v>6.579441243355911e-05</c:v>
                </c:pt>
                <c:pt idx="7">
                  <c:v>6.693282898510081e-05</c:v>
                </c:pt>
                <c:pt idx="8">
                  <c:v>6.717036155480043e-05</c:v>
                </c:pt>
                <c:pt idx="9">
                  <c:v>6.488244153472825e-05</c:v>
                </c:pt>
                <c:pt idx="10">
                  <c:v>6.181735573597232e-05</c:v>
                </c:pt>
                <c:pt idx="11">
                  <c:v>6.018631633760073e-05</c:v>
                </c:pt>
                <c:pt idx="12">
                  <c:v>6.237281093911828e-05</c:v>
                </c:pt>
                <c:pt idx="13">
                  <c:v>6.133703384260213e-05</c:v>
                </c:pt>
                <c:pt idx="14">
                  <c:v>6.226399497789877e-05</c:v>
                </c:pt>
                <c:pt idx="15">
                  <c:v>6.260765476101988e-05</c:v>
                </c:pt>
                <c:pt idx="16">
                  <c:v>0.00011189882801425732</c:v>
                </c:pt>
                <c:pt idx="17">
                  <c:v>0.00016842030870907498</c:v>
                </c:pt>
                <c:pt idx="18">
                  <c:v>0.00021323992380466462</c:v>
                </c:pt>
                <c:pt idx="19">
                  <c:v>0.00021415777153051418</c:v>
                </c:pt>
                <c:pt idx="20">
                  <c:v>0.0002146538324896903</c:v>
                </c:pt>
                <c:pt idx="21">
                  <c:v>0.0002153104546449675</c:v>
                </c:pt>
                <c:pt idx="22">
                  <c:v>0.00021570375789989064</c:v>
                </c:pt>
                <c:pt idx="23">
                  <c:v>0.00021468937212714876</c:v>
                </c:pt>
                <c:pt idx="24">
                  <c:v>0.00021688665903284187</c:v>
                </c:pt>
                <c:pt idx="25">
                  <c:v>0.00021573009771214097</c:v>
                </c:pt>
                <c:pt idx="26">
                  <c:v>0.00021458260634853196</c:v>
                </c:pt>
                <c:pt idx="27">
                  <c:v>0.00021455979606102037</c:v>
                </c:pt>
                <c:pt idx="28">
                  <c:v>0.00021207844997715226</c:v>
                </c:pt>
                <c:pt idx="29">
                  <c:v>0.00021178098679082308</c:v>
                </c:pt>
                <c:pt idx="30">
                  <c:v>0.00021462314431634156</c:v>
                </c:pt>
                <c:pt idx="31">
                  <c:v>0.00021844726423504512</c:v>
                </c:pt>
                <c:pt idx="32">
                  <c:v>0.00022041369125304374</c:v>
                </c:pt>
                <c:pt idx="33">
                  <c:v>0.00021906269955964688</c:v>
                </c:pt>
                <c:pt idx="34">
                  <c:v>0.00021912055780724205</c:v>
                </c:pt>
                <c:pt idx="35">
                  <c:v>0.0002206258052584712</c:v>
                </c:pt>
                <c:pt idx="36">
                  <c:v>0.00021956064197171552</c:v>
                </c:pt>
                <c:pt idx="37">
                  <c:v>0.00022041058193839915</c:v>
                </c:pt>
                <c:pt idx="38">
                  <c:v>0.00022004372789808228</c:v>
                </c:pt>
                <c:pt idx="39">
                  <c:v>0.0002591280135313276</c:v>
                </c:pt>
                <c:pt idx="40">
                  <c:v>0.00037380940128601</c:v>
                </c:pt>
                <c:pt idx="41">
                  <c:v>0.00042348561409965397</c:v>
                </c:pt>
                <c:pt idx="42">
                  <c:v>0.0005039220808348196</c:v>
                </c:pt>
                <c:pt idx="43">
                  <c:v>0.0005374458974242641</c:v>
                </c:pt>
                <c:pt idx="44">
                  <c:v>0.0005070246504258673</c:v>
                </c:pt>
                <c:pt idx="45">
                  <c:v>0.0005104747874444683</c:v>
                </c:pt>
                <c:pt idx="46">
                  <c:v>0.0005119269793257072</c:v>
                </c:pt>
                <c:pt idx="47">
                  <c:v>0.0005113562114653048</c:v>
                </c:pt>
                <c:pt idx="48">
                  <c:v>0.0005120713212951294</c:v>
                </c:pt>
                <c:pt idx="49">
                  <c:v>0.0005116045802984566</c:v>
                </c:pt>
                <c:pt idx="50">
                  <c:v>0.0005096906213395035</c:v>
                </c:pt>
                <c:pt idx="51">
                  <c:v>0.0005157028726057424</c:v>
                </c:pt>
                <c:pt idx="52">
                  <c:v>0.0005065880000993981</c:v>
                </c:pt>
                <c:pt idx="53">
                  <c:v>0.0004982862743641862</c:v>
                </c:pt>
                <c:pt idx="54">
                  <c:v>0.00047955487572839663</c:v>
                </c:pt>
                <c:pt idx="55">
                  <c:v>0.0004850709709341603</c:v>
                </c:pt>
                <c:pt idx="56">
                  <c:v>0.0005486692664725917</c:v>
                </c:pt>
                <c:pt idx="57">
                  <c:v>0.000546733139135821</c:v>
                </c:pt>
                <c:pt idx="58">
                  <c:v>0.0005504025416044073</c:v>
                </c:pt>
                <c:pt idx="59">
                  <c:v>0.0005500524917635087</c:v>
                </c:pt>
                <c:pt idx="60">
                  <c:v>0.0005817504107675144</c:v>
                </c:pt>
                <c:pt idx="61">
                  <c:v>0.0006186729298573198</c:v>
                </c:pt>
                <c:pt idx="62">
                  <c:v>0.0006212131244801457</c:v>
                </c:pt>
                <c:pt idx="63">
                  <c:v>0.0006219930744909824</c:v>
                </c:pt>
                <c:pt idx="64">
                  <c:v>0.0006254361153293281</c:v>
                </c:pt>
                <c:pt idx="65">
                  <c:v>0.0006252252280031843</c:v>
                </c:pt>
                <c:pt idx="66">
                  <c:v>0.0006302791384778999</c:v>
                </c:pt>
                <c:pt idx="67">
                  <c:v>0.0006381420465970633</c:v>
                </c:pt>
                <c:pt idx="68">
                  <c:v>0.000693199959852768</c:v>
                </c:pt>
                <c:pt idx="69">
                  <c:v>0.0007050943453638413</c:v>
                </c:pt>
                <c:pt idx="70">
                  <c:v>0.0007007024073032352</c:v>
                </c:pt>
                <c:pt idx="71">
                  <c:v>0.0007052950805082115</c:v>
                </c:pt>
                <c:pt idx="72">
                  <c:v>0.0007067499332716321</c:v>
                </c:pt>
                <c:pt idx="73">
                  <c:v>0.0007160036459433841</c:v>
                </c:pt>
                <c:pt idx="74">
                  <c:v>0.0007111719752484299</c:v>
                </c:pt>
                <c:pt idx="75">
                  <c:v>0.0007149378518931348</c:v>
                </c:pt>
                <c:pt idx="76">
                  <c:v>0.0007263560701771177</c:v>
                </c:pt>
                <c:pt idx="77">
                  <c:v>0.0007249366136919576</c:v>
                </c:pt>
                <c:pt idx="78">
                  <c:v>0.0007228654875907802</c:v>
                </c:pt>
                <c:pt idx="79">
                  <c:v>0.0007188664208228143</c:v>
                </c:pt>
                <c:pt idx="80">
                  <c:v>0.0007214384069936624</c:v>
                </c:pt>
                <c:pt idx="81">
                  <c:v>0.0007217316925761164</c:v>
                </c:pt>
                <c:pt idx="82">
                  <c:v>0.0007175027547848661</c:v>
                </c:pt>
                <c:pt idx="83">
                  <c:v>0.0007275253124033573</c:v>
                </c:pt>
                <c:pt idx="84">
                  <c:v>0.0007348327295630343</c:v>
                </c:pt>
                <c:pt idx="85">
                  <c:v>0.0007348533229460017</c:v>
                </c:pt>
                <c:pt idx="86">
                  <c:v>0.0007352882664993916</c:v>
                </c:pt>
                <c:pt idx="87">
                  <c:v>0.000735258908763125</c:v>
                </c:pt>
                <c:pt idx="88">
                  <c:v>0.0007352195666435174</c:v>
                </c:pt>
                <c:pt idx="89">
                  <c:v>0.0007387539558478011</c:v>
                </c:pt>
                <c:pt idx="90">
                  <c:v>0.0007378140546015221</c:v>
                </c:pt>
                <c:pt idx="91">
                  <c:v>0.0007377819267719927</c:v>
                </c:pt>
                <c:pt idx="92">
                  <c:v>0.0007378325904611716</c:v>
                </c:pt>
                <c:pt idx="93">
                  <c:v>0.0007379962970180402</c:v>
                </c:pt>
                <c:pt idx="94">
                  <c:v>0.0007379136139879748</c:v>
                </c:pt>
                <c:pt idx="95">
                  <c:v>0.0007421178838273204</c:v>
                </c:pt>
                <c:pt idx="96">
                  <c:v>0.0007070147331342638</c:v>
                </c:pt>
                <c:pt idx="97">
                  <c:v>0.0008161189254992881</c:v>
                </c:pt>
                <c:pt idx="98">
                  <c:v>0.0008183055704733459</c:v>
                </c:pt>
                <c:pt idx="99">
                  <c:v>0.0008439592737625252</c:v>
                </c:pt>
                <c:pt idx="100">
                  <c:v>0.0008719418955819544</c:v>
                </c:pt>
                <c:pt idx="101">
                  <c:v>0.000883067841156081</c:v>
                </c:pt>
                <c:pt idx="102">
                  <c:v>0.0009293825089780482</c:v>
                </c:pt>
                <c:pt idx="103">
                  <c:v>0.0009292260230666774</c:v>
                </c:pt>
                <c:pt idx="104">
                  <c:v>0.0009333058542295409</c:v>
                </c:pt>
                <c:pt idx="105">
                  <c:v>0.0009881227373030649</c:v>
                </c:pt>
                <c:pt idx="106">
                  <c:v>0.0009613699338535616</c:v>
                </c:pt>
                <c:pt idx="107">
                  <c:v>0.0009694609450103274</c:v>
                </c:pt>
                <c:pt idx="108">
                  <c:v>0.001026519660382785</c:v>
                </c:pt>
                <c:pt idx="109">
                  <c:v>0.001029783422714649</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txPr>
          <a:bodyPr/>
          <a:lstStyle/>
          <a:p>
            <a:pPr>
              <a:defRPr sz="1000">
                <a:latin typeface="Aptos"/>
              </a:defRPr>
            </a:pPr>
          </a:p>
        </c:txPr>
        <c:crossAx val="2140495176"/>
        <c:crosses val="autoZero"/>
        <c:auto val="1"/>
        <c:lblAlgn val="ctr"/>
        <c:lblOffset val="100"/>
        <c:noMultiLvlLbl val="0"/>
      </c:catAx>
      <c:valAx>
        <c:axId val="2140495176"/>
        <c:scaling>
          <c:max val="0.0031"/>
          <c:min val="0.0"/>
        </c:scaling>
        <c:delete val="0"/>
        <c:axPos val="l"/>
        <c:majorGridlines>
          <c:spPr>
            <a:ln>
              <a:solidFill>
                <a:srgbClr val="E7ECF3"/>
              </a:solidFill>
            </a:ln>
          </c:spPr>
        </c:majorGridlines>
        <c:majorTickMark val="out"/>
        <c:minorTickMark val="none"/>
        <c:tickLblPos val="nextTo"/>
        <c:txPr>
          <a:bodyPr/>
          <a:lstStyle/>
          <a:p>
            <a:pPr>
              <a:defRPr sz="1000">
                <a:latin typeface="Aptos"/>
              </a:defRPr>
            </a:pPr>
          </a:p>
        </c:txPr>
        <c:crossAx val="2118791784"/>
        <c:crosses val="autoZero"/>
      </c:valAx>
    </c:plotArea>
    <c:legend>
      <c:legendPos val="b"/>
      <c:layout/>
      <c:overlay val="0"/>
      <c:txPr>
        <a:bodyPr/>
        <a:lstStyle/>
        <a:p>
          <a:pPr>
            <a:defRPr sz="1100">
              <a:latin typeface="Aptos"/>
            </a:defRPr>
          </a:pPr>
        </a:p>
      </c:txPr>
    </c:legend>
    <c:plotVisOnly val="1"/>
    <c:dispBlanksAs val="gap"/>
    <c:showDLblsOverMax val="0"/>
  </c:chart>
  <c:txPr>
    <a:bodyPr/>
    <a:lstStyle/>
    <a:p>
      <a:pPr>
        <a:defRPr sz="1100">
          <a:latin typeface="Aptos"/>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Penalty-X</c:v>
                </c:pt>
              </c:strCache>
            </c:strRef>
          </c:tx>
          <c:spPr>
            <a:ln w="27940">
              <a:solidFill>
                <a:srgbClr val="20639B"/>
              </a:solidFill>
            </a:ln>
          </c:spPr>
          <c:marker>
            <c:symbol val="none"/>
          </c:marker>
          <c:cat>
            <c:numRef>
              <c:f>Sheet1!$A$2:$A$111</c:f>
              <c:numCache>
                <c:formatCode>General</c:formatCode>
                <c:ptCount val="11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numCache>
            </c:numRef>
          </c:cat>
          <c:val>
            <c:numRef>
              <c:f>Sheet1!$B$2:$B$111</c:f>
              <c:numCache>
                <c:formatCode>General</c:formatCode>
                <c:ptCount val="110"/>
                <c:pt idx="0">
                  <c:v>0.005251685228113069</c:v>
                </c:pt>
                <c:pt idx="1">
                  <c:v>0.011251298572330086</c:v>
                </c:pt>
                <c:pt idx="2">
                  <c:v>0.01465845804619652</c:v>
                </c:pt>
                <c:pt idx="3">
                  <c:v>0.014809233690585698</c:v>
                </c:pt>
                <c:pt idx="4">
                  <c:v>0.015338674045372773</c:v>
                </c:pt>
                <c:pt idx="5">
                  <c:v>0.015615615466400898</c:v>
                </c:pt>
                <c:pt idx="6">
                  <c:v>0.015643077757839727</c:v>
                </c:pt>
                <c:pt idx="7">
                  <c:v>0.01516658698099862</c:v>
                </c:pt>
                <c:pt idx="8">
                  <c:v>0.015235377473253967</c:v>
                </c:pt>
                <c:pt idx="9">
                  <c:v>0.015546306061684197</c:v>
                </c:pt>
                <c:pt idx="10">
                  <c:v>0.014611023269289727</c:v>
                </c:pt>
                <c:pt idx="11">
                  <c:v>0.01470861876657102</c:v>
                </c:pt>
                <c:pt idx="12">
                  <c:v>0.014716402167528826</c:v>
                </c:pt>
                <c:pt idx="13">
                  <c:v>0.01462946466128712</c:v>
                </c:pt>
                <c:pt idx="14">
                  <c:v>0.014615522049824347</c:v>
                </c:pt>
                <c:pt idx="15">
                  <c:v>0.014559640942382789</c:v>
                </c:pt>
                <c:pt idx="16">
                  <c:v>0.014382572994528681</c:v>
                </c:pt>
                <c:pt idx="17">
                  <c:v>0.013891003359412447</c:v>
                </c:pt>
                <c:pt idx="18">
                  <c:v>0.018215519097326296</c:v>
                </c:pt>
                <c:pt idx="19">
                  <c:v>0.011325599743238088</c:v>
                </c:pt>
                <c:pt idx="20">
                  <c:v>0.017946369478107183</c:v>
                </c:pt>
                <c:pt idx="21">
                  <c:v>0.021208025419466488</c:v>
                </c:pt>
                <c:pt idx="22">
                  <c:v>0.038164350909363244</c:v>
                </c:pt>
                <c:pt idx="23">
                  <c:v>0.033075311704621926</c:v>
                </c:pt>
                <c:pt idx="24">
                  <c:v>0.0368625493689962</c:v>
                </c:pt>
                <c:pt idx="25">
                  <c:v>0.03987153552967627</c:v>
                </c:pt>
                <c:pt idx="26">
                  <c:v>0.04350181786878279</c:v>
                </c:pt>
                <c:pt idx="27">
                  <c:v>0.05566696237099099</c:v>
                </c:pt>
                <c:pt idx="28">
                  <c:v>0.051496997199991484</c:v>
                </c:pt>
                <c:pt idx="29">
                  <c:v>0.05097005629458374</c:v>
                </c:pt>
                <c:pt idx="30">
                  <c:v>0.05430659888377702</c:v>
                </c:pt>
                <c:pt idx="31">
                  <c:v>0.05850866353904129</c:v>
                </c:pt>
                <c:pt idx="32">
                  <c:v>0.05550801897779438</c:v>
                </c:pt>
                <c:pt idx="33">
                  <c:v>0.053551368657209296</c:v>
                </c:pt>
                <c:pt idx="34">
                  <c:v>0.06561931186886309</c:v>
                </c:pt>
                <c:pt idx="35">
                  <c:v>0.07102119527458496</c:v>
                </c:pt>
                <c:pt idx="36">
                  <c:v>0.07387561782305088</c:v>
                </c:pt>
                <c:pt idx="37">
                  <c:v>0.07220671095624448</c:v>
                </c:pt>
                <c:pt idx="38">
                  <c:v>0.06199639490090212</c:v>
                </c:pt>
                <c:pt idx="39">
                  <c:v>0.06927388093507042</c:v>
                </c:pt>
                <c:pt idx="40">
                  <c:v>0.07257100188181327</c:v>
                </c:pt>
                <c:pt idx="41">
                  <c:v>0.08745852918019562</c:v>
                </c:pt>
                <c:pt idx="42">
                  <c:v>0.07813315749977776</c:v>
                </c:pt>
                <c:pt idx="43">
                  <c:v>0.0721117844860781</c:v>
                </c:pt>
                <c:pt idx="44">
                  <c:v>0.07244109053368111</c:v>
                </c:pt>
                <c:pt idx="45">
                  <c:v>0.06819269446718498</c:v>
                </c:pt>
                <c:pt idx="46">
                  <c:v>0.0662238635700316</c:v>
                </c:pt>
                <c:pt idx="47">
                  <c:v>0.07256670713694793</c:v>
                </c:pt>
                <c:pt idx="48">
                  <c:v>0.07373639706489936</c:v>
                </c:pt>
                <c:pt idx="49">
                  <c:v>0.07444995442905987</c:v>
                </c:pt>
                <c:pt idx="50">
                  <c:v>0.07444968674728077</c:v>
                </c:pt>
                <c:pt idx="51">
                  <c:v>0.07375367514854711</c:v>
                </c:pt>
                <c:pt idx="52">
                  <c:v>0.06455766527186334</c:v>
                </c:pt>
                <c:pt idx="53">
                  <c:v>0.06737707336965942</c:v>
                </c:pt>
                <c:pt idx="54">
                  <c:v>0.08325974692706321</c:v>
                </c:pt>
                <c:pt idx="55">
                  <c:v>0.08571730375720837</c:v>
                </c:pt>
                <c:pt idx="56">
                  <c:v>0.09133119278317568</c:v>
                </c:pt>
                <c:pt idx="57">
                  <c:v>0.10343778481834322</c:v>
                </c:pt>
                <c:pt idx="58">
                  <c:v>0.10472321792860442</c:v>
                </c:pt>
                <c:pt idx="59">
                  <c:v>0.10866566953040295</c:v>
                </c:pt>
                <c:pt idx="60">
                  <c:v>0.11694299874943652</c:v>
                </c:pt>
                <c:pt idx="61">
                  <c:v>0.11758676676576293</c:v>
                </c:pt>
                <c:pt idx="62">
                  <c:v>0.1091201429147189</c:v>
                </c:pt>
                <c:pt idx="63">
                  <c:v>0.13920323345779437</c:v>
                </c:pt>
                <c:pt idx="64">
                  <c:v>0.14706031296665778</c:v>
                </c:pt>
                <c:pt idx="65">
                  <c:v>0.13787632972675995</c:v>
                </c:pt>
                <c:pt idx="66">
                  <c:v>0.13066804235974014</c:v>
                </c:pt>
                <c:pt idx="67">
                  <c:v>0.1309345616820506</c:v>
                </c:pt>
                <c:pt idx="68">
                  <c:v>0.12152419842114698</c:v>
                </c:pt>
                <c:pt idx="69">
                  <c:v>0.11708823705011197</c:v>
                </c:pt>
                <c:pt idx="70">
                  <c:v>0.12556531972087062</c:v>
                </c:pt>
                <c:pt idx="71">
                  <c:v>0.13235342090206434</c:v>
                </c:pt>
                <c:pt idx="72">
                  <c:v>0.1468804946165787</c:v>
                </c:pt>
                <c:pt idx="73">
                  <c:v>0.14275945808409107</c:v>
                </c:pt>
                <c:pt idx="74">
                  <c:v>0.1403499722822042</c:v>
                </c:pt>
                <c:pt idx="75">
                  <c:v>0.14775751835762388</c:v>
                </c:pt>
                <c:pt idx="76">
                  <c:v>0.14128226438978359</c:v>
                </c:pt>
                <c:pt idx="77">
                  <c:v>0.13963572055536808</c:v>
                </c:pt>
                <c:pt idx="78">
                  <c:v>0.14400916784654058</c:v>
                </c:pt>
                <c:pt idx="79">
                  <c:v>0.16418839817804898</c:v>
                </c:pt>
                <c:pt idx="80">
                  <c:v>0.16358898954561324</c:v>
                </c:pt>
                <c:pt idx="81">
                  <c:v>0.15642707903479777</c:v>
                </c:pt>
                <c:pt idx="82">
                  <c:v>0.15346772232602024</c:v>
                </c:pt>
                <c:pt idx="83">
                  <c:v>0.1319768504648941</c:v>
                </c:pt>
                <c:pt idx="84">
                  <c:v>0.13491838805968479</c:v>
                </c:pt>
                <c:pt idx="85">
                  <c:v>0.14855812251865627</c:v>
                </c:pt>
                <c:pt idx="86">
                  <c:v>0.13050019701281618</c:v>
                </c:pt>
                <c:pt idx="87">
                  <c:v>0.14787996371399892</c:v>
                </c:pt>
                <c:pt idx="88">
                  <c:v>0.14428688235109802</c:v>
                </c:pt>
                <c:pt idx="89">
                  <c:v>0.1356734323506734</c:v>
                </c:pt>
                <c:pt idx="90">
                  <c:v>0.15684890503009466</c:v>
                </c:pt>
                <c:pt idx="91">
                  <c:v>0.17030021092302597</c:v>
                </c:pt>
                <c:pt idx="92">
                  <c:v>0.17979733162881303</c:v>
                </c:pt>
                <c:pt idx="93">
                  <c:v>0.1838419472948074</c:v>
                </c:pt>
                <c:pt idx="94">
                  <c:v>0.18704019251633838</c:v>
                </c:pt>
                <c:pt idx="95">
                  <c:v>0.18842808774666506</c:v>
                </c:pt>
                <c:pt idx="96">
                  <c:v>0.18870479017246233</c:v>
                </c:pt>
                <c:pt idx="97">
                  <c:v>0.18839293957992537</c:v>
                </c:pt>
                <c:pt idx="98">
                  <c:v>0.1757141856959731</c:v>
                </c:pt>
                <c:pt idx="99">
                  <c:v>0.17759806548073492</c:v>
                </c:pt>
                <c:pt idx="100">
                  <c:v>0.17975610944377984</c:v>
                </c:pt>
                <c:pt idx="101">
                  <c:v>0.18209436674786256</c:v>
                </c:pt>
                <c:pt idx="102">
                  <c:v>0.17362680658360727</c:v>
                </c:pt>
                <c:pt idx="103">
                  <c:v>0.1787114069086721</c:v>
                </c:pt>
                <c:pt idx="104">
                  <c:v>0.13868445741808183</c:v>
                </c:pt>
                <c:pt idx="105">
                  <c:v>0.13845356855239346</c:v>
                </c:pt>
                <c:pt idx="106">
                  <c:v>0.1400557781748493</c:v>
                </c:pt>
                <c:pt idx="107">
                  <c:v>0.14766193182678866</c:v>
                </c:pt>
                <c:pt idx="108">
                  <c:v>0.14770606372524347</c:v>
                </c:pt>
                <c:pt idx="109">
                  <c:v>0.14697022726160758</c:v>
                </c:pt>
              </c:numCache>
            </c:numRef>
          </c:val>
          <c:smooth val="0"/>
        </c:ser>
        <c:ser>
          <c:idx val="1"/>
          <c:order val="1"/>
          <c:tx>
            <c:strRef>
              <c:f>Sheet1!$C$1</c:f>
              <c:strCache>
                <c:ptCount val="1"/>
                <c:pt idx="0">
                  <c:v>Global-Grover</c:v>
                </c:pt>
              </c:strCache>
            </c:strRef>
          </c:tx>
          <c:spPr>
            <a:ln w="27940">
              <a:solidFill>
                <a:srgbClr val="D14D5A"/>
              </a:solidFill>
            </a:ln>
          </c:spPr>
          <c:marker>
            <c:symbol val="none"/>
          </c:marker>
          <c:cat>
            <c:numRef>
              <c:f>Sheet1!$A$2:$A$111</c:f>
              <c:numCache>
                <c:formatCode>General</c:formatCode>
                <c:ptCount val="11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numCache>
            </c:numRef>
          </c:cat>
          <c:val>
            <c:numRef>
              <c:f>Sheet1!$C$2:$C$111</c:f>
              <c:numCache>
                <c:formatCode>General</c:formatCode>
                <c:ptCount val="110"/>
                <c:pt idx="0">
                  <c:v>0.0012232076733822172</c:v>
                </c:pt>
                <c:pt idx="1">
                  <c:v>0.00121917236322014</c:v>
                </c:pt>
                <c:pt idx="2">
                  <c:v>0.0012146108760121511</c:v>
                </c:pt>
                <c:pt idx="3">
                  <c:v>0.0012146271471963992</c:v>
                </c:pt>
                <c:pt idx="4">
                  <c:v>0.0012164100656226876</c:v>
                </c:pt>
                <c:pt idx="5">
                  <c:v>0.0012205365928886743</c:v>
                </c:pt>
                <c:pt idx="6">
                  <c:v>0.0012186210835369391</c:v>
                </c:pt>
                <c:pt idx="7">
                  <c:v>0.00121302048153315</c:v>
                </c:pt>
                <c:pt idx="8">
                  <c:v>0.0012101366581133864</c:v>
                </c:pt>
                <c:pt idx="9">
                  <c:v>0.0012051137803134018</c:v>
                </c:pt>
                <c:pt idx="10">
                  <c:v>0.0012690984547374605</c:v>
                </c:pt>
                <c:pt idx="11">
                  <c:v>0.0012671930935038928</c:v>
                </c:pt>
                <c:pt idx="12">
                  <c:v>0.0012706756673259794</c:v>
                </c:pt>
                <c:pt idx="13">
                  <c:v>0.0012697658004762996</c:v>
                </c:pt>
                <c:pt idx="14">
                  <c:v>0.0012575492617662462</c:v>
                </c:pt>
                <c:pt idx="15">
                  <c:v>0.0012487660159122209</c:v>
                </c:pt>
                <c:pt idx="16">
                  <c:v>0.0022222027350665492</c:v>
                </c:pt>
                <c:pt idx="17">
                  <c:v>0.00334085356041051</c:v>
                </c:pt>
                <c:pt idx="18">
                  <c:v>0.004241028858384074</c:v>
                </c:pt>
                <c:pt idx="19">
                  <c:v>0.004244159992873977</c:v>
                </c:pt>
                <c:pt idx="20">
                  <c:v>0.0042474732243904575</c:v>
                </c:pt>
                <c:pt idx="21">
                  <c:v>0.004261535978153497</c:v>
                </c:pt>
                <c:pt idx="22">
                  <c:v>0.0042686157253412176</c:v>
                </c:pt>
                <c:pt idx="23">
                  <c:v>0.004280638129131473</c:v>
                </c:pt>
                <c:pt idx="24">
                  <c:v>0.004274751966595817</c:v>
                </c:pt>
                <c:pt idx="25">
                  <c:v>0.0042789122944276135</c:v>
                </c:pt>
                <c:pt idx="26">
                  <c:v>0.004280342996971476</c:v>
                </c:pt>
                <c:pt idx="27">
                  <c:v>0.004280344432460548</c:v>
                </c:pt>
                <c:pt idx="28">
                  <c:v>0.004240898609383726</c:v>
                </c:pt>
                <c:pt idx="29">
                  <c:v>0.0042445859583962785</c:v>
                </c:pt>
                <c:pt idx="30">
                  <c:v>0.004191147397283309</c:v>
                </c:pt>
                <c:pt idx="31">
                  <c:v>0.004179396419579497</c:v>
                </c:pt>
                <c:pt idx="32">
                  <c:v>0.004172942669911493</c:v>
                </c:pt>
                <c:pt idx="33">
                  <c:v>0.00418310487544834</c:v>
                </c:pt>
                <c:pt idx="34">
                  <c:v>0.004186194259753965</c:v>
                </c:pt>
                <c:pt idx="35">
                  <c:v>0.0041765061724367185</c:v>
                </c:pt>
                <c:pt idx="36">
                  <c:v>0.004150329057822169</c:v>
                </c:pt>
                <c:pt idx="37">
                  <c:v>0.0041155332401117024</c:v>
                </c:pt>
                <c:pt idx="38">
                  <c:v>0.004104795765907101</c:v>
                </c:pt>
                <c:pt idx="39">
                  <c:v>0.004882725298965293</c:v>
                </c:pt>
                <c:pt idx="40">
                  <c:v>0.006966747997975251</c:v>
                </c:pt>
                <c:pt idx="41">
                  <c:v>0.00783659949293458</c:v>
                </c:pt>
                <c:pt idx="42">
                  <c:v>0.009452851735246959</c:v>
                </c:pt>
                <c:pt idx="43">
                  <c:v>0.010151433677804743</c:v>
                </c:pt>
                <c:pt idx="44">
                  <c:v>0.009740607527635458</c:v>
                </c:pt>
                <c:pt idx="45">
                  <c:v>0.009839130594872375</c:v>
                </c:pt>
                <c:pt idx="46">
                  <c:v>0.00991563000276684</c:v>
                </c:pt>
                <c:pt idx="47">
                  <c:v>0.00994899609652122</c:v>
                </c:pt>
                <c:pt idx="48">
                  <c:v>0.010020941569547756</c:v>
                </c:pt>
                <c:pt idx="49">
                  <c:v>0.010065515719616084</c:v>
                </c:pt>
                <c:pt idx="50">
                  <c:v>0.010056784982740763</c:v>
                </c:pt>
                <c:pt idx="51">
                  <c:v>0.01001830132406054</c:v>
                </c:pt>
                <c:pt idx="52">
                  <c:v>0.009909784963238192</c:v>
                </c:pt>
                <c:pt idx="53">
                  <c:v>0.009796792893285873</c:v>
                </c:pt>
                <c:pt idx="54">
                  <c:v>0.009537000743548924</c:v>
                </c:pt>
                <c:pt idx="55">
                  <c:v>0.009564517658464972</c:v>
                </c:pt>
                <c:pt idx="56">
                  <c:v>0.011160876556038493</c:v>
                </c:pt>
                <c:pt idx="57">
                  <c:v>0.011274857454065807</c:v>
                </c:pt>
                <c:pt idx="58">
                  <c:v>0.01141588450745739</c:v>
                </c:pt>
                <c:pt idx="59">
                  <c:v>0.011431764208246011</c:v>
                </c:pt>
                <c:pt idx="60">
                  <c:v>0.01206514832239426</c:v>
                </c:pt>
                <c:pt idx="61">
                  <c:v>0.012824627359715533</c:v>
                </c:pt>
                <c:pt idx="62">
                  <c:v>0.012776073366637367</c:v>
                </c:pt>
                <c:pt idx="63">
                  <c:v>0.01281563243852603</c:v>
                </c:pt>
                <c:pt idx="64">
                  <c:v>0.012910615753551093</c:v>
                </c:pt>
                <c:pt idx="65">
                  <c:v>0.012912976267187787</c:v>
                </c:pt>
                <c:pt idx="66">
                  <c:v>0.013077727673506012</c:v>
                </c:pt>
                <c:pt idx="67">
                  <c:v>0.01323871682677275</c:v>
                </c:pt>
                <c:pt idx="68">
                  <c:v>0.014214953897628241</c:v>
                </c:pt>
                <c:pt idx="69">
                  <c:v>0.014426194096803763</c:v>
                </c:pt>
                <c:pt idx="70">
                  <c:v>0.01434607501644578</c:v>
                </c:pt>
                <c:pt idx="71">
                  <c:v>0.014428662146249294</c:v>
                </c:pt>
                <c:pt idx="72">
                  <c:v>0.014427280030132682</c:v>
                </c:pt>
                <c:pt idx="73">
                  <c:v>0.014620154123407846</c:v>
                </c:pt>
                <c:pt idx="74">
                  <c:v>0.01477547127190144</c:v>
                </c:pt>
                <c:pt idx="75">
                  <c:v>0.014879080093142222</c:v>
                </c:pt>
                <c:pt idx="76">
                  <c:v>0.015113407965181406</c:v>
                </c:pt>
                <c:pt idx="77">
                  <c:v>0.015000222271326458</c:v>
                </c:pt>
                <c:pt idx="78">
                  <c:v>0.01500175304885413</c:v>
                </c:pt>
                <c:pt idx="79">
                  <c:v>0.014965892005857857</c:v>
                </c:pt>
                <c:pt idx="80">
                  <c:v>0.015008864799194966</c:v>
                </c:pt>
                <c:pt idx="81">
                  <c:v>0.015003404772332356</c:v>
                </c:pt>
                <c:pt idx="82">
                  <c:v>0.014954752802147838</c:v>
                </c:pt>
                <c:pt idx="83">
                  <c:v>0.015106835182792882</c:v>
                </c:pt>
                <c:pt idx="84">
                  <c:v>0.015192792109906266</c:v>
                </c:pt>
                <c:pt idx="85">
                  <c:v>0.015189624287130889</c:v>
                </c:pt>
                <c:pt idx="86">
                  <c:v>0.015174959775554853</c:v>
                </c:pt>
                <c:pt idx="87">
                  <c:v>0.015170747883917996</c:v>
                </c:pt>
                <c:pt idx="88">
                  <c:v>0.015166283096232362</c:v>
                </c:pt>
                <c:pt idx="89">
                  <c:v>0.015233595737909576</c:v>
                </c:pt>
                <c:pt idx="90">
                  <c:v>0.01525618941527923</c:v>
                </c:pt>
                <c:pt idx="91">
                  <c:v>0.01525618652399923</c:v>
                </c:pt>
                <c:pt idx="92">
                  <c:v>0.015252473520788856</c:v>
                </c:pt>
                <c:pt idx="93">
                  <c:v>0.015251761623131802</c:v>
                </c:pt>
                <c:pt idx="94">
                  <c:v>0.015253717520024862</c:v>
                </c:pt>
                <c:pt idx="95">
                  <c:v>0.015339910627354986</c:v>
                </c:pt>
                <c:pt idx="96">
                  <c:v>0.015213264816438064</c:v>
                </c:pt>
                <c:pt idx="97">
                  <c:v>0.0175853095719641</c:v>
                </c:pt>
                <c:pt idx="98">
                  <c:v>0.01773804552417638</c:v>
                </c:pt>
                <c:pt idx="99">
                  <c:v>0.0183336697978007</c:v>
                </c:pt>
                <c:pt idx="100">
                  <c:v>0.01886663542194515</c:v>
                </c:pt>
                <c:pt idx="101">
                  <c:v>0.019101907504876305</c:v>
                </c:pt>
                <c:pt idx="102">
                  <c:v>0.01995532344318504</c:v>
                </c:pt>
                <c:pt idx="103">
                  <c:v>0.019954316067420663</c:v>
                </c:pt>
                <c:pt idx="104">
                  <c:v>0.020012110734965435</c:v>
                </c:pt>
                <c:pt idx="105">
                  <c:v>0.020921391281268294</c:v>
                </c:pt>
                <c:pt idx="106">
                  <c:v>0.020631012495928244</c:v>
                </c:pt>
                <c:pt idx="107">
                  <c:v>0.02088132733653158</c:v>
                </c:pt>
                <c:pt idx="108">
                  <c:v>0.021835821266171427</c:v>
                </c:pt>
                <c:pt idx="109">
                  <c:v>0.02194609805728336</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txPr>
          <a:bodyPr/>
          <a:lstStyle/>
          <a:p>
            <a:pPr>
              <a:defRPr sz="1000">
                <a:latin typeface="Aptos"/>
              </a:defRPr>
            </a:pPr>
          </a:p>
        </c:txPr>
        <c:crossAx val="2140495176"/>
        <c:crosses val="autoZero"/>
        <c:auto val="1"/>
        <c:lblAlgn val="ctr"/>
        <c:lblOffset val="100"/>
        <c:noMultiLvlLbl val="0"/>
      </c:catAx>
      <c:valAx>
        <c:axId val="2140495176"/>
        <c:scaling>
          <c:max val="0.2"/>
          <c:min val="0.0"/>
        </c:scaling>
        <c:delete val="0"/>
        <c:axPos val="l"/>
        <c:majorGridlines>
          <c:spPr>
            <a:ln>
              <a:solidFill>
                <a:srgbClr val="E7ECF3"/>
              </a:solidFill>
            </a:ln>
          </c:spPr>
        </c:majorGridlines>
        <c:majorTickMark val="out"/>
        <c:minorTickMark val="none"/>
        <c:tickLblPos val="nextTo"/>
        <c:txPr>
          <a:bodyPr/>
          <a:lstStyle/>
          <a:p>
            <a:pPr>
              <a:defRPr sz="1000">
                <a:latin typeface="Aptos"/>
              </a:defRPr>
            </a:pPr>
          </a:p>
        </c:txPr>
        <c:crossAx val="2118791784"/>
        <c:crosses val="autoZero"/>
      </c:valAx>
    </c:plotArea>
    <c:plotVisOnly val="1"/>
    <c:dispBlanksAs val="gap"/>
    <c:showDLblsOverMax val="0"/>
  </c:chart>
  <c:txPr>
    <a:bodyPr/>
    <a:lstStyle/>
    <a:p>
      <a:pPr>
        <a:defRPr sz="1100">
          <a:latin typeface="Aptos"/>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Penalty-X</c:v>
                </c:pt>
              </c:strCache>
            </c:strRef>
          </c:tx>
          <c:spPr>
            <a:ln w="27940">
              <a:solidFill>
                <a:srgbClr val="20639B"/>
              </a:solidFill>
            </a:ln>
          </c:spPr>
          <c:marker>
            <c:symbol val="none"/>
          </c:marker>
          <c:cat>
            <c:numRef>
              <c:f>Sheet1!$A$2:$A$111</c:f>
              <c:numCache>
                <c:formatCode>General</c:formatCode>
                <c:ptCount val="11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numCache>
            </c:numRef>
          </c:cat>
          <c:val>
            <c:numRef>
              <c:f>Sheet1!$B$2:$B$111</c:f>
              <c:numCache>
                <c:formatCode>General</c:formatCode>
                <c:ptCount val="110"/>
                <c:pt idx="0">
                  <c:v>0.0622140038125344</c:v>
                </c:pt>
                <c:pt idx="1">
                  <c:v>0.11976759817267915</c:v>
                </c:pt>
                <c:pt idx="2">
                  <c:v>0.05505848996560077</c:v>
                </c:pt>
                <c:pt idx="3">
                  <c:v>0.07878922379574828</c:v>
                </c:pt>
                <c:pt idx="4">
                  <c:v>0.07051574234224026</c:v>
                </c:pt>
                <c:pt idx="5">
                  <c:v>0.090891475931161</c:v>
                </c:pt>
                <c:pt idx="6">
                  <c:v>0.1008526039391968</c:v>
                </c:pt>
                <c:pt idx="7">
                  <c:v>0.11171309999538216</c:v>
                </c:pt>
                <c:pt idx="8">
                  <c:v>0.11274727072461908</c:v>
                </c:pt>
                <c:pt idx="9">
                  <c:v>0.10509832120924191</c:v>
                </c:pt>
                <c:pt idx="10">
                  <c:v>0.12847328732534938</c:v>
                </c:pt>
                <c:pt idx="11">
                  <c:v>0.13196475118086434</c:v>
                </c:pt>
                <c:pt idx="12">
                  <c:v>0.1353140406760667</c:v>
                </c:pt>
                <c:pt idx="13">
                  <c:v>0.1309745496242489</c:v>
                </c:pt>
                <c:pt idx="14">
                  <c:v>0.12844414130041376</c:v>
                </c:pt>
                <c:pt idx="15">
                  <c:v>0.14657678790260154</c:v>
                </c:pt>
                <c:pt idx="16">
                  <c:v>0.13321813228130733</c:v>
                </c:pt>
                <c:pt idx="17">
                  <c:v>0.11478988706597346</c:v>
                </c:pt>
                <c:pt idx="18">
                  <c:v>0.11638015233830966</c:v>
                </c:pt>
                <c:pt idx="19">
                  <c:v>0.11168079351577474</c:v>
                </c:pt>
                <c:pt idx="20">
                  <c:v>0.15786780702568964</c:v>
                </c:pt>
                <c:pt idx="21">
                  <c:v>0.0035123358965816645</c:v>
                </c:pt>
                <c:pt idx="22">
                  <c:v>0.0018177519056892329</c:v>
                </c:pt>
                <c:pt idx="23">
                  <c:v>0.001304477086075365</c:v>
                </c:pt>
                <c:pt idx="24">
                  <c:v>0.0016808174857066152</c:v>
                </c:pt>
                <c:pt idx="25">
                  <c:v>0.0022613051393306047</c:v>
                </c:pt>
                <c:pt idx="26">
                  <c:v>0.0026286977867611212</c:v>
                </c:pt>
                <c:pt idx="27">
                  <c:v>0.002599199766270179</c:v>
                </c:pt>
                <c:pt idx="28">
                  <c:v>0.001541051289900866</c:v>
                </c:pt>
                <c:pt idx="29">
                  <c:v>0.001546009875498709</c:v>
                </c:pt>
                <c:pt idx="30">
                  <c:v>0.002096336487728467</c:v>
                </c:pt>
                <c:pt idx="31">
                  <c:v>0.00238950973850656</c:v>
                </c:pt>
                <c:pt idx="32">
                  <c:v>0.0027777261626175938</c:v>
                </c:pt>
                <c:pt idx="33">
                  <c:v>0.0021166241466778098</c:v>
                </c:pt>
                <c:pt idx="34">
                  <c:v>0.0009789245496074738</c:v>
                </c:pt>
                <c:pt idx="35">
                  <c:v>0.001127921586017164</c:v>
                </c:pt>
                <c:pt idx="36">
                  <c:v>0.0009290609344047019</c:v>
                </c:pt>
                <c:pt idx="37">
                  <c:v>0.0006894807287049415</c:v>
                </c:pt>
                <c:pt idx="38">
                  <c:v>0.001222091716871026</c:v>
                </c:pt>
                <c:pt idx="39">
                  <c:v>0.00145506623376204</c:v>
                </c:pt>
                <c:pt idx="40">
                  <c:v>0.0009790688648817533</c:v>
                </c:pt>
                <c:pt idx="41">
                  <c:v>0.0007412935385395908</c:v>
                </c:pt>
                <c:pt idx="42">
                  <c:v>0.0010220233388822167</c:v>
                </c:pt>
                <c:pt idx="43">
                  <c:v>0.000998635725973491</c:v>
                </c:pt>
                <c:pt idx="44">
                  <c:v>0.0012028689129883387</c:v>
                </c:pt>
                <c:pt idx="45">
                  <c:v>0.0010859286619426614</c:v>
                </c:pt>
                <c:pt idx="46">
                  <c:v>0.0010920593186661697</c:v>
                </c:pt>
                <c:pt idx="47">
                  <c:v>0.0007887037498810659</c:v>
                </c:pt>
                <c:pt idx="48">
                  <c:v>0.0007846280219216722</c:v>
                </c:pt>
                <c:pt idx="49">
                  <c:v>0.0006133912370397846</c:v>
                </c:pt>
                <c:pt idx="50">
                  <c:v>0.0006423137160662127</c:v>
                </c:pt>
                <c:pt idx="51">
                  <c:v>0.0007219171020345588</c:v>
                </c:pt>
                <c:pt idx="52">
                  <c:v>0.0005520951251719714</c:v>
                </c:pt>
                <c:pt idx="53">
                  <c:v>0.0005082488781991871</c:v>
                </c:pt>
                <c:pt idx="54">
                  <c:v>0.00028533329754417184</c:v>
                </c:pt>
                <c:pt idx="55">
                  <c:v>0.0004920600235690505</c:v>
                </c:pt>
                <c:pt idx="56">
                  <c:v>0.0004885733864887347</c:v>
                </c:pt>
                <c:pt idx="57">
                  <c:v>0.0007889546445375817</c:v>
                </c:pt>
                <c:pt idx="58">
                  <c:v>0.0009310363519623296</c:v>
                </c:pt>
                <c:pt idx="59">
                  <c:v>0.001381676125737028</c:v>
                </c:pt>
                <c:pt idx="60">
                  <c:v>0.0011930484456704987</c:v>
                </c:pt>
                <c:pt idx="61">
                  <c:v>0.0011920861429416609</c:v>
                </c:pt>
                <c:pt idx="62">
                  <c:v>0.0011012756405042918</c:v>
                </c:pt>
                <c:pt idx="63">
                  <c:v>0.0012644158168148944</c:v>
                </c:pt>
                <c:pt idx="64">
                  <c:v>0.0009363675907923057</c:v>
                </c:pt>
                <c:pt idx="65">
                  <c:v>0.00022888522647508298</c:v>
                </c:pt>
                <c:pt idx="66">
                  <c:v>0.00029109237032017433</c:v>
                </c:pt>
                <c:pt idx="67">
                  <c:v>0.00026980667397448943</c:v>
                </c:pt>
                <c:pt idx="68">
                  <c:v>0.0002607211743661256</c:v>
                </c:pt>
                <c:pt idx="69">
                  <c:v>0.0002401448014730852</c:v>
                </c:pt>
                <c:pt idx="70">
                  <c:v>2.4907547520842735e-05</c:v>
                </c:pt>
                <c:pt idx="71">
                  <c:v>0.00013815044482116812</c:v>
                </c:pt>
                <c:pt idx="72">
                  <c:v>0.00022015407728066117</c:v>
                </c:pt>
                <c:pt idx="73">
                  <c:v>0.00032462318862401713</c:v>
                </c:pt>
                <c:pt idx="74">
                  <c:v>0.00041526517887464985</c:v>
                </c:pt>
                <c:pt idx="75">
                  <c:v>0.00026976938411775757</c:v>
                </c:pt>
                <c:pt idx="76">
                  <c:v>0.00027117936088814876</c:v>
                </c:pt>
                <c:pt idx="77">
                  <c:v>0.0011574535774245037</c:v>
                </c:pt>
                <c:pt idx="78">
                  <c:v>0.0014159981412002458</c:v>
                </c:pt>
                <c:pt idx="79">
                  <c:v>0.0024302275266281717</c:v>
                </c:pt>
                <c:pt idx="80">
                  <c:v>0.00188498318663364</c:v>
                </c:pt>
                <c:pt idx="81">
                  <c:v>0.0017541192748416108</c:v>
                </c:pt>
                <c:pt idx="82">
                  <c:v>0.0018024215584827976</c:v>
                </c:pt>
                <c:pt idx="83">
                  <c:v>0.001427576711393595</c:v>
                </c:pt>
                <c:pt idx="84">
                  <c:v>0.0010481906840098584</c:v>
                </c:pt>
                <c:pt idx="85">
                  <c:v>0.0012078697749367537</c:v>
                </c:pt>
                <c:pt idx="86">
                  <c:v>0.001357599870094022</c:v>
                </c:pt>
                <c:pt idx="87">
                  <c:v>0.00046491221520832013</c:v>
                </c:pt>
                <c:pt idx="88">
                  <c:v>0.0009030972882085772</c:v>
                </c:pt>
                <c:pt idx="89">
                  <c:v>0.0011738742290180878</c:v>
                </c:pt>
                <c:pt idx="90">
                  <c:v>0.0015583228519821903</c:v>
                </c:pt>
                <c:pt idx="91">
                  <c:v>0.0017043463659951609</c:v>
                </c:pt>
                <c:pt idx="92">
                  <c:v>0.0015362863902488929</c:v>
                </c:pt>
                <c:pt idx="93">
                  <c:v>0.0014998975312035512</c:v>
                </c:pt>
                <c:pt idx="94">
                  <c:v>0.0015098026672332133</c:v>
                </c:pt>
                <c:pt idx="95">
                  <c:v>0.0014419525197305022</c:v>
                </c:pt>
                <c:pt idx="96">
                  <c:v>0.0014324957159854719</c:v>
                </c:pt>
                <c:pt idx="97">
                  <c:v>0.0012513922698464696</c:v>
                </c:pt>
                <c:pt idx="98">
                  <c:v>0.0013260803493801668</c:v>
                </c:pt>
                <c:pt idx="99">
                  <c:v>0.0007592508336558031</c:v>
                </c:pt>
                <c:pt idx="100">
                  <c:v>0.000800413166811307</c:v>
                </c:pt>
                <c:pt idx="101">
                  <c:v>0.0009550694859425921</c:v>
                </c:pt>
                <c:pt idx="102">
                  <c:v>0.0011131904408094688</c:v>
                </c:pt>
                <c:pt idx="103">
                  <c:v>0.001858298489389118</c:v>
                </c:pt>
                <c:pt idx="104">
                  <c:v>0.0029030537813296976</c:v>
                </c:pt>
                <c:pt idx="105">
                  <c:v>0.0025210207371843063</c:v>
                </c:pt>
                <c:pt idx="106">
                  <c:v>0.0023660830563974732</c:v>
                </c:pt>
                <c:pt idx="107">
                  <c:v>0.00207786270226983</c:v>
                </c:pt>
                <c:pt idx="108">
                  <c:v>0.0021201788746199614</c:v>
                </c:pt>
                <c:pt idx="109">
                  <c:v>0.002434963501775989</c:v>
                </c:pt>
              </c:numCache>
            </c:numRef>
          </c:val>
          <c:smooth val="0"/>
        </c:ser>
        <c:ser>
          <c:idx val="1"/>
          <c:order val="1"/>
          <c:tx>
            <c:strRef>
              <c:f>Sheet1!$C$1</c:f>
              <c:strCache>
                <c:ptCount val="1"/>
                <c:pt idx="0">
                  <c:v>Global-Grover</c:v>
                </c:pt>
              </c:strCache>
            </c:strRef>
          </c:tx>
          <c:spPr>
            <a:ln w="27940">
              <a:solidFill>
                <a:srgbClr val="D14D5A"/>
              </a:solidFill>
            </a:ln>
          </c:spPr>
          <c:marker>
            <c:symbol val="none"/>
          </c:marker>
          <c:cat>
            <c:numRef>
              <c:f>Sheet1!$A$2:$A$111</c:f>
              <c:numCache>
                <c:formatCode>General</c:formatCode>
                <c:ptCount val="11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numCache>
            </c:numRef>
          </c:cat>
          <c:val>
            <c:numRef>
              <c:f>Sheet1!$C$2:$C$111</c:f>
              <c:numCache>
                <c:formatCode>General</c:formatCode>
                <c:ptCount val="110"/>
                <c:pt idx="0">
                  <c:v>0.052982364921720766</c:v>
                </c:pt>
                <c:pt idx="1">
                  <c:v>0.0535326129741998</c:v>
                </c:pt>
                <c:pt idx="2">
                  <c:v>0.054360543469511066</c:v>
                </c:pt>
                <c:pt idx="3">
                  <c:v>0.05448901305745791</c:v>
                </c:pt>
                <c:pt idx="4">
                  <c:v>0.053999396501055494</c:v>
                </c:pt>
                <c:pt idx="5">
                  <c:v>0.05320917598759547</c:v>
                </c:pt>
                <c:pt idx="6">
                  <c:v>0.053990869945066675</c:v>
                </c:pt>
                <c:pt idx="7">
                  <c:v>0.05517864702540197</c:v>
                </c:pt>
                <c:pt idx="8">
                  <c:v>0.05550642657129287</c:v>
                </c:pt>
                <c:pt idx="9">
                  <c:v>0.05383926612958896</c:v>
                </c:pt>
                <c:pt idx="10">
                  <c:v>0.04870966118129939</c:v>
                </c:pt>
                <c:pt idx="11">
                  <c:v>0.04749577364818224</c:v>
                </c:pt>
                <c:pt idx="12">
                  <c:v>0.04908633457220138</c:v>
                </c:pt>
                <c:pt idx="13">
                  <c:v>0.04830578506650132</c:v>
                </c:pt>
                <c:pt idx="14">
                  <c:v>0.04951217170645712</c:v>
                </c:pt>
                <c:pt idx="15">
                  <c:v>0.050135617051754185</c:v>
                </c:pt>
                <c:pt idx="16">
                  <c:v>0.050354914179738974</c:v>
                </c:pt>
                <c:pt idx="17">
                  <c:v>0.05041235889680247</c:v>
                </c:pt>
                <c:pt idx="18">
                  <c:v>0.05028023409534491</c:v>
                </c:pt>
                <c:pt idx="19">
                  <c:v>0.05045940112768817</c:v>
                </c:pt>
                <c:pt idx="20">
                  <c:v>0.05053683005158782</c:v>
                </c:pt>
                <c:pt idx="21">
                  <c:v>0.05052414334848828</c:v>
                </c:pt>
                <c:pt idx="22">
                  <c:v>0.05053248448187452</c:v>
                </c:pt>
                <c:pt idx="23">
                  <c:v>0.05015359057475585</c:v>
                </c:pt>
                <c:pt idx="24">
                  <c:v>0.05073666512762816</c:v>
                </c:pt>
                <c:pt idx="25">
                  <c:v>0.050417041263753924</c:v>
                </c:pt>
                <c:pt idx="26">
                  <c:v>0.05013210541780372</c:v>
                </c:pt>
                <c:pt idx="27">
                  <c:v>0.050126759527546035</c:v>
                </c:pt>
                <c:pt idx="28">
                  <c:v>0.05000790386921578</c:v>
                </c:pt>
                <c:pt idx="29">
                  <c:v>0.049894380480596925</c:v>
                </c:pt>
                <c:pt idx="30">
                  <c:v>0.05120868439403008</c:v>
                </c:pt>
                <c:pt idx="31">
                  <c:v>0.052267658366091006</c:v>
                </c:pt>
                <c:pt idx="32">
                  <c:v>0.05281972667449051</c:v>
                </c:pt>
                <c:pt idx="33">
                  <c:v>0.05236844546867069</c:v>
                </c:pt>
                <c:pt idx="34">
                  <c:v>0.05234361909906217</c:v>
                </c:pt>
                <c:pt idx="35">
                  <c:v>0.05282544695241057</c:v>
                </c:pt>
                <c:pt idx="36">
                  <c:v>0.05290198413494642</c:v>
                </c:pt>
                <c:pt idx="37">
                  <c:v>0.05355577736323103</c:v>
                </c:pt>
                <c:pt idx="38">
                  <c:v>0.053606498458628124</c:v>
                </c:pt>
                <c:pt idx="39">
                  <c:v>0.053070364942758484</c:v>
                </c:pt>
                <c:pt idx="40">
                  <c:v>0.05365622545765261</c:v>
                </c:pt>
                <c:pt idx="41">
                  <c:v>0.054039461182297945</c:v>
                </c:pt>
                <c:pt idx="42">
                  <c:v>0.053309000812510304</c:v>
                </c:pt>
                <c:pt idx="43">
                  <c:v>0.05294285659367942</c:v>
                </c:pt>
                <c:pt idx="44">
                  <c:v>0.05205267217546419</c:v>
                </c:pt>
                <c:pt idx="45">
                  <c:v>0.05188210304988738</c:v>
                </c:pt>
                <c:pt idx="46">
                  <c:v>0.05162828576528773</c:v>
                </c:pt>
                <c:pt idx="47">
                  <c:v>0.05139776983570296</c:v>
                </c:pt>
                <c:pt idx="48">
                  <c:v>0.05110012045686832</c:v>
                </c:pt>
                <c:pt idx="49">
                  <c:v>0.05082745827930315</c:v>
                </c:pt>
                <c:pt idx="50">
                  <c:v>0.05068126863746451</c:v>
                </c:pt>
                <c:pt idx="51">
                  <c:v>0.05147607921985737</c:v>
                </c:pt>
                <c:pt idx="52">
                  <c:v>0.05111997908921949</c:v>
                </c:pt>
                <c:pt idx="53">
                  <c:v>0.05086218314420849</c:v>
                </c:pt>
                <c:pt idx="54">
                  <c:v>0.0502836152186294</c:v>
                </c:pt>
                <c:pt idx="55">
                  <c:v>0.050715675191927066</c:v>
                </c:pt>
                <c:pt idx="56">
                  <c:v>0.04916005151725642</c:v>
                </c:pt>
                <c:pt idx="57">
                  <c:v>0.048491357107017304</c:v>
                </c:pt>
                <c:pt idx="58">
                  <c:v>0.04821374473829502</c:v>
                </c:pt>
                <c:pt idx="59">
                  <c:v>0.048116150905801784</c:v>
                </c:pt>
                <c:pt idx="60">
                  <c:v>0.04821742718966172</c:v>
                </c:pt>
                <c:pt idx="61">
                  <c:v>0.0482410063469511</c:v>
                </c:pt>
                <c:pt idx="62">
                  <c:v>0.04862316508782288</c:v>
                </c:pt>
                <c:pt idx="63">
                  <c:v>0.04853393521346341</c:v>
                </c:pt>
                <c:pt idx="64">
                  <c:v>0.04844355430199373</c:v>
                </c:pt>
                <c:pt idx="65">
                  <c:v>0.048418367312568995</c:v>
                </c:pt>
                <c:pt idx="66">
                  <c:v>0.04819485114029203</c:v>
                </c:pt>
                <c:pt idx="67">
                  <c:v>0.04820271140678409</c:v>
                </c:pt>
                <c:pt idx="68">
                  <c:v>0.048765544007035304</c:v>
                </c:pt>
                <c:pt idx="69">
                  <c:v>0.04887597800448703</c:v>
                </c:pt>
                <c:pt idx="70">
                  <c:v>0.04884279543359262</c:v>
                </c:pt>
                <c:pt idx="71">
                  <c:v>0.04888152992698299</c:v>
                </c:pt>
                <c:pt idx="72">
                  <c:v>0.048987053124048385</c:v>
                </c:pt>
                <c:pt idx="73">
                  <c:v>0.048973741309403455</c:v>
                </c:pt>
                <c:pt idx="74">
                  <c:v>0.048131931778099546</c:v>
                </c:pt>
                <c:pt idx="75">
                  <c:v>0.04804986917320582</c:v>
                </c:pt>
                <c:pt idx="76">
                  <c:v>0.04806037604824223</c:v>
                </c:pt>
                <c:pt idx="77">
                  <c:v>0.0483283914450857</c:v>
                </c:pt>
                <c:pt idx="78">
                  <c:v>0.04818540108190852</c:v>
                </c:pt>
                <c:pt idx="79">
                  <c:v>0.04803365015205509</c:v>
                </c:pt>
                <c:pt idx="80">
                  <c:v>0.048067486558500974</c:v>
                </c:pt>
                <c:pt idx="81">
                  <c:v>0.04810452717419551</c:v>
                </c:pt>
                <c:pt idx="82">
                  <c:v>0.04797824238738447</c:v>
                </c:pt>
                <c:pt idx="83">
                  <c:v>0.048158684701348264</c:v>
                </c:pt>
                <c:pt idx="84">
                  <c:v>0.04836719440687245</c:v>
                </c:pt>
                <c:pt idx="85">
                  <c:v>0.04837863722334408</c:v>
                </c:pt>
                <c:pt idx="86">
                  <c:v>0.04845405044722807</c:v>
                </c:pt>
                <c:pt idx="87">
                  <c:v>0.048465567708929395</c:v>
                </c:pt>
                <c:pt idx="88">
                  <c:v>0.04847724138989349</c:v>
                </c:pt>
                <c:pt idx="89">
                  <c:v>0.04849504795570847</c:v>
                </c:pt>
                <c:pt idx="90">
                  <c:v>0.04836162127500815</c:v>
                </c:pt>
                <c:pt idx="91">
                  <c:v>0.048359524551656555</c:v>
                </c:pt>
                <c:pt idx="92">
                  <c:v>0.048374618677784864</c:v>
                </c:pt>
                <c:pt idx="93">
                  <c:v>0.048387610248166193</c:v>
                </c:pt>
                <c:pt idx="94">
                  <c:v>0.048375985265182234</c:v>
                </c:pt>
                <c:pt idx="95">
                  <c:v>0.04837824038582952</c:v>
                </c:pt>
                <c:pt idx="96">
                  <c:v>0.04647357037855071</c:v>
                </c:pt>
                <c:pt idx="97">
                  <c:v>0.046409130425568955</c:v>
                </c:pt>
                <c:pt idx="98">
                  <c:v>0.04613279232810751</c:v>
                </c:pt>
                <c:pt idx="99">
                  <c:v>0.04603329737419871</c:v>
                </c:pt>
                <c:pt idx="100">
                  <c:v>0.04621607807016484</c:v>
                </c:pt>
                <c:pt idx="101">
                  <c:v>0.04622930149413888</c:v>
                </c:pt>
                <c:pt idx="102">
                  <c:v>0.046573161874529395</c:v>
                </c:pt>
                <c:pt idx="103">
                  <c:v>0.046567670870154315</c:v>
                </c:pt>
                <c:pt idx="104">
                  <c:v>0.046637052262501026</c:v>
                </c:pt>
                <c:pt idx="105">
                  <c:v>0.047230259403817386</c:v>
                </c:pt>
                <c:pt idx="106">
                  <c:v>0.046598291481976396</c:v>
                </c:pt>
                <c:pt idx="107">
                  <c:v>0.04642717052350736</c:v>
                </c:pt>
                <c:pt idx="108">
                  <c:v>0.04701081071647594</c:v>
                </c:pt>
                <c:pt idx="109">
                  <c:v>0.046923303633599214</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txPr>
          <a:bodyPr/>
          <a:lstStyle/>
          <a:p>
            <a:pPr>
              <a:defRPr sz="1000">
                <a:latin typeface="Aptos"/>
              </a:defRPr>
            </a:pPr>
          </a:p>
        </c:txPr>
        <c:crossAx val="2140495176"/>
        <c:crosses val="autoZero"/>
        <c:auto val="1"/>
        <c:lblAlgn val="ctr"/>
        <c:lblOffset val="100"/>
        <c:noMultiLvlLbl val="0"/>
      </c:catAx>
      <c:valAx>
        <c:axId val="2140495176"/>
        <c:scaling>
          <c:max val="0.18"/>
          <c:min val="0.0"/>
        </c:scaling>
        <c:delete val="0"/>
        <c:axPos val="l"/>
        <c:majorGridlines>
          <c:spPr>
            <a:ln>
              <a:solidFill>
                <a:srgbClr val="E7ECF3"/>
              </a:solidFill>
            </a:ln>
          </c:spPr>
        </c:majorGridlines>
        <c:majorTickMark val="out"/>
        <c:minorTickMark val="none"/>
        <c:tickLblPos val="nextTo"/>
        <c:txPr>
          <a:bodyPr/>
          <a:lstStyle/>
          <a:p>
            <a:pPr>
              <a:defRPr sz="1000">
                <a:latin typeface="Aptos"/>
              </a:defRPr>
            </a:pPr>
          </a:p>
        </c:txPr>
        <c:crossAx val="2118791784"/>
        <c:crosses val="autoZero"/>
      </c:valAx>
    </c:plotArea>
    <c:plotVisOnly val="1"/>
    <c:dispBlanksAs val="gap"/>
    <c:showDLblsOverMax val="0"/>
  </c:chart>
  <c:txPr>
    <a:bodyPr/>
    <a:lstStyle/>
    <a:p>
      <a:pPr>
        <a:defRPr sz="1100">
          <a:latin typeface="Aptos"/>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Penalty-X</c:v>
                </c:pt>
              </c:strCache>
            </c:strRef>
          </c:tx>
          <c:spPr>
            <a:ln w="27940">
              <a:solidFill>
                <a:srgbClr val="20639B"/>
              </a:solidFill>
            </a:ln>
          </c:spPr>
          <c:marker>
            <c:symbol val="none"/>
          </c:marker>
          <c:cat>
            <c:numRef>
              <c:f>Sheet1!$A$2:$A$22</c:f>
              <c:numCache>
                <c:formatCode>General</c:formatCode>
                <c:ptCount val="21"/>
                <c:pt idx="0">
                  <c:v>90</c:v>
                </c:pt>
                <c:pt idx="1">
                  <c:v>91</c:v>
                </c:pt>
                <c:pt idx="2">
                  <c:v>92</c:v>
                </c:pt>
                <c:pt idx="3">
                  <c:v>93</c:v>
                </c:pt>
                <c:pt idx="4">
                  <c:v>94</c:v>
                </c:pt>
                <c:pt idx="5">
                  <c:v>95</c:v>
                </c:pt>
                <c:pt idx="6">
                  <c:v>96</c:v>
                </c:pt>
                <c:pt idx="7">
                  <c:v>97</c:v>
                </c:pt>
                <c:pt idx="8">
                  <c:v>98</c:v>
                </c:pt>
                <c:pt idx="9">
                  <c:v>99</c:v>
                </c:pt>
                <c:pt idx="10">
                  <c:v>100</c:v>
                </c:pt>
                <c:pt idx="11">
                  <c:v>101</c:v>
                </c:pt>
                <c:pt idx="12">
                  <c:v>102</c:v>
                </c:pt>
                <c:pt idx="13">
                  <c:v>103</c:v>
                </c:pt>
                <c:pt idx="14">
                  <c:v>104</c:v>
                </c:pt>
                <c:pt idx="15">
                  <c:v>105</c:v>
                </c:pt>
                <c:pt idx="16">
                  <c:v>106</c:v>
                </c:pt>
                <c:pt idx="17">
                  <c:v>107</c:v>
                </c:pt>
                <c:pt idx="18">
                  <c:v>108</c:v>
                </c:pt>
                <c:pt idx="19">
                  <c:v>109</c:v>
                </c:pt>
                <c:pt idx="20">
                  <c:v>110</c:v>
                </c:pt>
              </c:numCache>
            </c:numRef>
          </c:cat>
          <c:val>
            <c:numRef>
              <c:f>Sheet1!$B$2:$B$22</c:f>
              <c:numCache>
                <c:formatCode>General</c:formatCode>
                <c:ptCount val="21"/>
                <c:pt idx="0">
                  <c:v>0.00015926354579888442</c:v>
                </c:pt>
                <c:pt idx="1">
                  <c:v>0.0002444212330167808</c:v>
                </c:pt>
                <c:pt idx="2">
                  <c:v>0.0002902505456148687</c:v>
                </c:pt>
                <c:pt idx="3">
                  <c:v>0.00027622019358441226</c:v>
                </c:pt>
                <c:pt idx="4">
                  <c:v>0.000275744082879135</c:v>
                </c:pt>
                <c:pt idx="5">
                  <c:v>0.0002823937815409814</c:v>
                </c:pt>
                <c:pt idx="6">
                  <c:v>0.00027170435591430383</c:v>
                </c:pt>
                <c:pt idx="7">
                  <c:v>0.00027031880350798966</c:v>
                </c:pt>
                <c:pt idx="8">
                  <c:v>0.00023575346828397164</c:v>
                </c:pt>
                <c:pt idx="9">
                  <c:v>0.00023301112875876752</c:v>
                </c:pt>
                <c:pt idx="10">
                  <c:v>0.0001348414792719059</c:v>
                </c:pt>
                <c:pt idx="11">
                  <c:v>0.0001438791568135757</c:v>
                </c:pt>
                <c:pt idx="12">
                  <c:v>0.00017391277324292292</c:v>
                </c:pt>
                <c:pt idx="13">
                  <c:v>0.00019327970135714617</c:v>
                </c:pt>
                <c:pt idx="14">
                  <c:v>0.00033209913749498933</c:v>
                </c:pt>
                <c:pt idx="15">
                  <c:v>0.0004026084385192199</c:v>
                </c:pt>
                <c:pt idx="16">
                  <c:v>0.00034904431745775286</c:v>
                </c:pt>
                <c:pt idx="17">
                  <c:v>0.00033138360369007393</c:v>
                </c:pt>
                <c:pt idx="18">
                  <c:v>0.0003068212206879945</c:v>
                </c:pt>
                <c:pt idx="19">
                  <c:v>0.00031316327596353104</c:v>
                </c:pt>
                <c:pt idx="20">
                  <c:v>0.0003578671392297369</c:v>
                </c:pt>
              </c:numCache>
            </c:numRef>
          </c:val>
          <c:smooth val="0"/>
        </c:ser>
        <c:ser>
          <c:idx val="1"/>
          <c:order val="1"/>
          <c:tx>
            <c:strRef>
              <c:f>Sheet1!$C$1</c:f>
              <c:strCache>
                <c:ptCount val="1"/>
                <c:pt idx="0">
                  <c:v>Global-Grover</c:v>
                </c:pt>
              </c:strCache>
            </c:strRef>
          </c:tx>
          <c:spPr>
            <a:ln w="27940">
              <a:solidFill>
                <a:srgbClr val="D14D5A"/>
              </a:solidFill>
            </a:ln>
          </c:spPr>
          <c:marker>
            <c:symbol val="none"/>
          </c:marker>
          <c:cat>
            <c:numRef>
              <c:f>Sheet1!$A$2:$A$22</c:f>
              <c:numCache>
                <c:formatCode>General</c:formatCode>
                <c:ptCount val="21"/>
                <c:pt idx="0">
                  <c:v>90</c:v>
                </c:pt>
                <c:pt idx="1">
                  <c:v>91</c:v>
                </c:pt>
                <c:pt idx="2">
                  <c:v>92</c:v>
                </c:pt>
                <c:pt idx="3">
                  <c:v>93</c:v>
                </c:pt>
                <c:pt idx="4">
                  <c:v>94</c:v>
                </c:pt>
                <c:pt idx="5">
                  <c:v>95</c:v>
                </c:pt>
                <c:pt idx="6">
                  <c:v>96</c:v>
                </c:pt>
                <c:pt idx="7">
                  <c:v>97</c:v>
                </c:pt>
                <c:pt idx="8">
                  <c:v>98</c:v>
                </c:pt>
                <c:pt idx="9">
                  <c:v>99</c:v>
                </c:pt>
                <c:pt idx="10">
                  <c:v>100</c:v>
                </c:pt>
                <c:pt idx="11">
                  <c:v>101</c:v>
                </c:pt>
                <c:pt idx="12">
                  <c:v>102</c:v>
                </c:pt>
                <c:pt idx="13">
                  <c:v>103</c:v>
                </c:pt>
                <c:pt idx="14">
                  <c:v>104</c:v>
                </c:pt>
                <c:pt idx="15">
                  <c:v>105</c:v>
                </c:pt>
                <c:pt idx="16">
                  <c:v>106</c:v>
                </c:pt>
                <c:pt idx="17">
                  <c:v>107</c:v>
                </c:pt>
                <c:pt idx="18">
                  <c:v>108</c:v>
                </c:pt>
                <c:pt idx="19">
                  <c:v>109</c:v>
                </c:pt>
                <c:pt idx="20">
                  <c:v>110</c:v>
                </c:pt>
              </c:numCache>
            </c:numRef>
          </c:cat>
          <c:val>
            <c:numRef>
              <c:f>Sheet1!$C$2:$C$22</c:f>
              <c:numCache>
                <c:formatCode>General</c:formatCode>
                <c:ptCount val="21"/>
                <c:pt idx="0">
                  <c:v>0.0007387539558478011</c:v>
                </c:pt>
                <c:pt idx="1">
                  <c:v>0.0007378140546015221</c:v>
                </c:pt>
                <c:pt idx="2">
                  <c:v>0.0007377819267719927</c:v>
                </c:pt>
                <c:pt idx="3">
                  <c:v>0.0007378325904611716</c:v>
                </c:pt>
                <c:pt idx="4">
                  <c:v>0.0007379962970180402</c:v>
                </c:pt>
                <c:pt idx="5">
                  <c:v>0.0007379136139879748</c:v>
                </c:pt>
                <c:pt idx="6">
                  <c:v>0.0007421178838273204</c:v>
                </c:pt>
                <c:pt idx="7">
                  <c:v>0.0007070147331342638</c:v>
                </c:pt>
                <c:pt idx="8">
                  <c:v>0.0008161189254992881</c:v>
                </c:pt>
                <c:pt idx="9">
                  <c:v>0.0008183055704733459</c:v>
                </c:pt>
                <c:pt idx="10">
                  <c:v>0.0008439592737625252</c:v>
                </c:pt>
                <c:pt idx="11">
                  <c:v>0.0008719418955819544</c:v>
                </c:pt>
                <c:pt idx="12">
                  <c:v>0.000883067841156081</c:v>
                </c:pt>
                <c:pt idx="13">
                  <c:v>0.0009293825089780482</c:v>
                </c:pt>
                <c:pt idx="14">
                  <c:v>0.0009292260230666774</c:v>
                </c:pt>
                <c:pt idx="15">
                  <c:v>0.0009333058542295409</c:v>
                </c:pt>
                <c:pt idx="16">
                  <c:v>0.0009881227373030649</c:v>
                </c:pt>
                <c:pt idx="17">
                  <c:v>0.0009613699338535616</c:v>
                </c:pt>
                <c:pt idx="18">
                  <c:v>0.0009694609450103274</c:v>
                </c:pt>
                <c:pt idx="19">
                  <c:v>0.001026519660382785</c:v>
                </c:pt>
                <c:pt idx="20">
                  <c:v>0.001029783422714649</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txPr>
          <a:bodyPr/>
          <a:lstStyle/>
          <a:p>
            <a:pPr>
              <a:defRPr sz="1000">
                <a:latin typeface="Aptos"/>
              </a:defRPr>
            </a:pPr>
          </a:p>
        </c:txPr>
        <c:crossAx val="2140495176"/>
        <c:crosses val="autoZero"/>
        <c:auto val="1"/>
        <c:lblAlgn val="ctr"/>
        <c:lblOffset val="100"/>
        <c:noMultiLvlLbl val="0"/>
      </c:catAx>
      <c:valAx>
        <c:axId val="2140495176"/>
        <c:scaling>
          <c:max val="0.00115"/>
          <c:min val="0.0"/>
        </c:scaling>
        <c:delete val="0"/>
        <c:axPos val="l"/>
        <c:majorGridlines>
          <c:spPr>
            <a:ln>
              <a:solidFill>
                <a:srgbClr val="E7ECF3"/>
              </a:solidFill>
            </a:ln>
          </c:spPr>
        </c:majorGridlines>
        <c:majorTickMark val="out"/>
        <c:minorTickMark val="none"/>
        <c:tickLblPos val="nextTo"/>
        <c:txPr>
          <a:bodyPr/>
          <a:lstStyle/>
          <a:p>
            <a:pPr>
              <a:defRPr sz="1000">
                <a:latin typeface="Aptos"/>
              </a:defRPr>
            </a:pPr>
          </a:p>
        </c:txPr>
        <c:crossAx val="2118791784"/>
        <c:crosses val="autoZero"/>
      </c:valAx>
    </c:plotArea>
    <c:legend>
      <c:legendPos val="b"/>
      <c:layout/>
      <c:overlay val="0"/>
      <c:txPr>
        <a:bodyPr/>
        <a:lstStyle/>
        <a:p>
          <a:pPr>
            <a:defRPr sz="1100">
              <a:latin typeface="Aptos"/>
            </a:defRPr>
          </a:pPr>
        </a:p>
      </c:txPr>
    </c:legend>
    <c:plotVisOnly val="1"/>
    <c:dispBlanksAs val="gap"/>
    <c:showDLblsOverMax val="0"/>
  </c:chart>
  <c:txPr>
    <a:bodyPr/>
    <a:lstStyle/>
    <a:p>
      <a:pPr>
        <a:defRPr sz="1100">
          <a:latin typeface="Aptos"/>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Expectation</c:v>
                </c:pt>
              </c:strCache>
            </c:strRef>
          </c:tx>
          <c:spPr>
            <a:solidFill>
              <a:srgbClr val="20639B"/>
            </a:solidFill>
            <a:ln>
              <a:solidFill>
                <a:srgbClr val="20639B"/>
              </a:solidFill>
            </a:ln>
          </c:spPr>
          <c:cat>
            <c:strRef>
              <c:f>Sheet1!$A$2:$A$3</c:f>
              <c:strCache>
                <c:ptCount val="2"/>
                <c:pt idx="0">
                  <c:v>Penalty-X</c:v>
                </c:pt>
                <c:pt idx="1">
                  <c:v>Global-Grover</c:v>
                </c:pt>
              </c:strCache>
            </c:strRef>
          </c:cat>
          <c:val>
            <c:numRef>
              <c:f>Sheet1!$B$2:$B$3</c:f>
              <c:numCache>
                <c:formatCode>General</c:formatCode>
                <c:ptCount val="2"/>
                <c:pt idx="0">
                  <c:v>5.5089965349349666e-05</c:v>
                </c:pt>
                <c:pt idx="1">
                  <c:v>0.0005464230654687013</c:v>
                </c:pt>
              </c:numCache>
            </c:numRef>
          </c:val>
        </c:ser>
        <c:ser>
          <c:idx val="1"/>
          <c:order val="1"/>
          <c:tx>
            <c:strRef>
              <c:f>Sheet1!$C$1</c:f>
              <c:strCache>
                <c:ptCount val="1"/>
                <c:pt idx="0">
                  <c:v>CVaR 0.10</c:v>
                </c:pt>
              </c:strCache>
            </c:strRef>
          </c:tx>
          <c:spPr>
            <a:solidFill>
              <a:srgbClr val="D14D5A"/>
            </a:solidFill>
            <a:ln>
              <a:solidFill>
                <a:srgbClr val="D14D5A"/>
              </a:solidFill>
            </a:ln>
          </c:spPr>
          <c:cat>
            <c:strRef>
              <c:f>Sheet1!$A$2:$A$3</c:f>
              <c:strCache>
                <c:ptCount val="2"/>
                <c:pt idx="0">
                  <c:v>Penalty-X</c:v>
                </c:pt>
                <c:pt idx="1">
                  <c:v>Global-Grover</c:v>
                </c:pt>
              </c:strCache>
            </c:strRef>
          </c:cat>
          <c:val>
            <c:numRef>
              <c:f>Sheet1!$C$2:$C$3</c:f>
              <c:numCache>
                <c:formatCode>General</c:formatCode>
                <c:ptCount val="2"/>
                <c:pt idx="0">
                  <c:v>0.00027266549929379604</c:v>
                </c:pt>
                <c:pt idx="1">
                  <c:v>0.0022637207804591837</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max val="0.00285"/>
          <c:min val="0.0"/>
        </c:scaling>
        <c:delete val="0"/>
        <c:axPos val="l"/>
        <c:majorGridlines>
          <c:spPr>
            <a:ln>
              <a:solidFill>
                <a:srgbClr val="E7ECF3"/>
              </a:solidFill>
            </a:ln>
          </c:spPr>
        </c:majorGridlines>
        <c:majorTickMark val="out"/>
        <c:minorTickMark val="none"/>
        <c:tickLblPos val="nextTo"/>
        <c:crossAx val="-2068027336"/>
        <c:crosses val="autoZero"/>
      </c:valAx>
    </c:plotArea>
    <c:legend>
      <c:legendPos val="b"/>
      <c:overlay val="0"/>
    </c:legend>
    <c:dispBlanksAs val="gap"/>
  </c:chart>
  <c:txPr>
    <a:bodyPr/>
    <a:lstStyle/>
    <a:p>
      <a:pPr>
        <a:defRPr sz="1100">
          <a:latin typeface="Aptos"/>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[~0:50] We use a small routing problem as a transparent test case for understanding how a constrained optimization problem is encoded and explored by QAOA. The goal is not to compete with classical shortest-path algorithms and we make no quantum-advantage claim. The question is narrower: when the cost problem is fixed, how do the mixer and the circuit depth change feasibility and optimality?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[~1:10] This is the exact directed graph stored in data/graph.json: seven nodes and fourteen positive-weight edges. Node 0 is the source and node 6 is the target. Exhaustive route enumeration and NetworkX agree on one optimal path, 0–1–2–4–5–6, with cost 10. The graph is intentionally small, but fourteen edge bits already give 16,384 states. Only twenty decode as valid routes, so most of the binary space is invalid. That leads directly to the constraint encoding.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[~1:20] Each directed edge gets a binary variable. The ordinary route cost is just the weighted sum of the selected edges. Validity is expressed with one flow-balance equation per node: the source creates one unit, intermediate nodes conserve it, and the target absorbs it. We move everything to the left, subtract b_v, and square the residual. The final QUBO is route cost plus A times the flow penalty; this instance fixes A at 6. The useful mental model is that the objective says what is cheap, while the penalty says what is valid. Next we translate that classical polynomial into quantum operators.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[~1:15] Expanding the squared constraints gives a constant, linear terms, and pairwise binary terms. A QUBO matrix and this polynomial are two equivalent representations after collecting coefficients. We then substitute x_i equals one minus Z_i over two. That produces an Ising Hamiltonian with identity, Z, and ZZ terms. The repository checks the QUBO and Ising energies exactly on every basis state. The cost unitary encodes energy into phase; it does not directly change probabilities. The mixer is what converts those phase differences into interference. The cost Hamiltonian is shared by both experiments, so the next slide isolates the mixer choice.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[~1:25] Both methods start uniformly over the same 16,384 bitstrings and use the same penalized cost Hamiltonian. Penalty-X applies independent X rotations. Its geometry is local: it connects Hamming-neighbor bitstrings through single-bit flips. Global-Grover instead uses the rank-one projector onto the uniform full-space state. The exact implementation is I plus e to the minus i beta minus one times |s&gt;&lt;s|, so it redistributes amplitude globally without building a dense matrix. It is not feasibility-preserving. It is also not standard Grover Search: no oracle directly identifies the optimal route. The cost Hamiltonian still defines quality, and this Grover-style operation is only the QAOA mixer.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[~1:15] QAOA is hybrid. For each proposed angle vector, the simulator returns an objective value and COBYLA proposes another vector. COBYLA is derivative-free and it optimizes the gamma and beta angles, not a route directly. At depth p there are 2p parameters, so p=110 means 220 angles. The frozen depth sweep gives both mixers the same depth-specific budget, max of 120 and 4p plus 64, which is 504 evaluations at p=110. The main sweep optimizes expectation. CVaR is a separate study: it averages only the lowest-energy alpha fraction of probability mass. It changes the classical objective, not the mixer. In the repository's fresh-seed p=110 study, the Penalty-X result was mixed at 7 of 10 wins, while Global-Grover showed 10 of 10 paired wins; absolute probabilities remained small.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[~1:10] We need three probabilities. p_feas is all mass on valid decoded routes. p_opt is mass on the unique optimal route. Their ratio is the probability of the optimum conditioned on having sampled something feasible. The identity in the center is the key to the result: total success is feasible-region entry times selection quality inside that region. The frozen experiment compares two full-space mixers at every depth from 1 to 110. Each method-depth has its own COBYLA run, but the initialization follows one deterministic layerwise-continuation trajectory per mixer, so these are not independent random replicates. At each depth the cost, decoder, representation, and evaluation budget are matched, giving 220 method-depth rows. With the metrics defined, we can now ask where the probability goes.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[~1:35] The large plot is total optimal-route probability. Penalty-X rises quickly and reaches the largest value in the entire sweep at p=21: about 0.2833 percent. It then drops sharply and oscillates. Global-Grover stays near the uniform baseline at shallow depth, then improves in steps. Its first total-probability crossover is at p=22, and in this frozen continuation trajectory Penalty-X never overtakes it again at later depths. Global-Grover reaches its own maximum at p=110, about 0.1030 percent, still below the earlier Penalty-X peak. The smaller plots explain why: Penalty-X has more feasible mass at all 110 depths, while Global-Grover has the higher conditional optimal fraction at 89 of 110 depths.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[~1:25] At p=110, Penalty-X puts almost 14.7 percent of the state on feasible routes, but only 0.2435 percent of that feasible mass is the optimum. Global-Grover reaches only 2.19 percent feasible mass, yet 4.69 percent of its feasible mass is optimal. That conditional concentration is 19.3 times larger, but it comes with 6.7 times less feasible mass. Multiplying the two factors, Global-Grover has 2.88 times higher total success at the same depth. So it is better at selecting the optimum once probability reaches the feasible region, but worse at getting there. Across the whole sweep, however, Penalty-X's earlier p=21 peak remains 2.75 times larger than Global-Grover's best observed value.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[~1:15] The natural depth question is whether something dramatic happens near p around one hundred. In the frozen data, it does not. The p=90 to 110 window remains oscillatory, with six direction changes for Penalty-X and nine for Global-Grover. Neither method reaches even ten percent total optimal probability. More importantly, the classical problem grows with depth: p=110 has 220 variables and only 504 objective evaluations. Every one of the 220 sweep cells exhausted its declared budget. We therefore cannot attribute poor high-depth performance only to the quantum ansatz or mixer; the classical optimization also becomes harder. The cautious conclusion is limited to this instance and protocol and does not disprove Grover scaling.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[~0:55] The scientific-computing workflow is explicit and reproducible: build the model, simulate, optimize, save immutable artifacts, validate, and plot. The graph reference uses NetworkX, while NumPy performs exact statevector evolution and SciPy provides COBYLA. The current working tree passes 167 tests, including 23 visualization tests. The depth sweep and CVaR studies each retain 43 passing artifact-level validation checks. QUBO and Ising energies agree exactly across all 16,384 states, and the core smoke command still reproduces the unique cost-10 route. The important point is not software complexity; it is that every plotted number has a checkable route back to a saved artifact.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[~0:45] The complete pipeline works end to end. The mixer choice matters because it changes how probability is transported through the same cost landscape. Penalty-X is much better at entering the feasible region; Global-Grover more often concentrates feasible mass toward the optimum. The product identity explains why improving one factor may not improve total success. These conclusions are deliberately narrow: one small graph, ideal simulation, finite exhausted optimization budgets, and no hardware or quantum-advantage claim. The final message is that feasibility, conditional quality, and classical optimization difficulty must be analyzed separately.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explanation of the flow residual and one valid/invalid example.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derivation of the matrix/polynomial equivalence and x-to-Z mapping.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explanation of COBYLA, the 2p parameter count, and the frozen evaluation rule.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comparison separating the repository's Grover-style mixer from standard oracle-based Grover Search.</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summary of the separate fresh-seed CVaR robustness study and its claim boundary.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chart" Target="../charts/chart2.xml"/><Relationship Id="rId4" Type="http://schemas.openxmlformats.org/officeDocument/2006/relationships/chart" Target="../charts/char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image" Target="../media/image22.png"/><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5.xml"/><Relationship Id="rId3"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66928"/>
            <a:ext cx="109728" cy="5449824"/>
          </a:xfrm>
          <a:prstGeom prst="rect">
            <a:avLst/>
          </a:prstGeom>
          <a:solidFill>
            <a:srgbClr val="2063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96112" y="603504"/>
            <a:ext cx="10607040" cy="1417320"/>
          </a:xfrm>
          <a:prstGeom prst="rect">
            <a:avLst/>
          </a:prstGeom>
          <a:noFill/>
        </p:spPr>
        <p:txBody>
          <a:bodyPr wrap="square" lIns="0" rIns="0" tIns="0" bIns="0" anchor="t">
            <a:spAutoFit/>
          </a:bodyPr>
          <a:lstStyle/>
          <a:p>
            <a:pPr algn="l">
              <a:lnSpc>
                <a:spcPct val="100000"/>
              </a:lnSpc>
              <a:spcBef>
                <a:spcPts val="0"/>
              </a:spcBef>
              <a:spcAft>
                <a:spcPts val="0"/>
              </a:spcAft>
            </a:pPr>
            <a:r>
              <a:rPr sz="3000" b="1" i="0">
                <a:solidFill>
                  <a:srgbClr val="14213D"/>
                </a:solidFill>
                <a:latin typeface="Aptos"/>
              </a:rPr>
              <a:t>From Routing to QAOA:
How Mixer Design and Circuit Depth
Shape Feasibility and Optimality</a:t>
            </a:r>
          </a:p>
        </p:txBody>
      </p:sp>
      <p:sp>
        <p:nvSpPr>
          <p:cNvPr id="5" name="TextBox 4"/>
          <p:cNvSpPr txBox="1"/>
          <p:nvPr/>
        </p:nvSpPr>
        <p:spPr>
          <a:xfrm>
            <a:off x="914400" y="2267712"/>
            <a:ext cx="9875520" cy="420624"/>
          </a:xfrm>
          <a:prstGeom prst="rect">
            <a:avLst/>
          </a:prstGeom>
          <a:noFill/>
        </p:spPr>
        <p:txBody>
          <a:bodyPr wrap="square" lIns="0" rIns="0" tIns="0" bIns="0" anchor="t">
            <a:spAutoFit/>
          </a:bodyPr>
          <a:lstStyle/>
          <a:p>
            <a:pPr algn="l">
              <a:lnSpc>
                <a:spcPct val="100000"/>
              </a:lnSpc>
              <a:spcBef>
                <a:spcPts val="0"/>
              </a:spcBef>
              <a:spcAft>
                <a:spcPts val="0"/>
              </a:spcAft>
            </a:pPr>
            <a:r>
              <a:rPr sz="1900" b="1" i="0">
                <a:solidFill>
                  <a:srgbClr val="D14D5A"/>
                </a:solidFill>
                <a:latin typeface="Aptos"/>
              </a:rPr>
              <a:t>Penalty-X vs Global-Grover QAOA on a weighted routing problem</a:t>
            </a:r>
          </a:p>
        </p:txBody>
      </p:sp>
      <p:sp>
        <p:nvSpPr>
          <p:cNvPr id="6" name="Rounded Rectangle 5"/>
          <p:cNvSpPr/>
          <p:nvPr/>
        </p:nvSpPr>
        <p:spPr>
          <a:xfrm>
            <a:off x="914400" y="2980944"/>
            <a:ext cx="10561320" cy="1051560"/>
          </a:xfrm>
          <a:prstGeom prst="roundRect">
            <a:avLst/>
          </a:prstGeom>
          <a:solidFill>
            <a:srgbClr val="FFFFFF"/>
          </a:solidFill>
          <a:ln w="10160">
            <a:solidFill>
              <a:srgbClr val="E7E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88720" y="3218688"/>
            <a:ext cx="1965960" cy="256032"/>
          </a:xfrm>
          <a:prstGeom prst="rect">
            <a:avLst/>
          </a:prstGeom>
          <a:noFill/>
        </p:spPr>
        <p:txBody>
          <a:bodyPr wrap="square" lIns="0" rIns="0" tIns="0" bIns="0" anchor="t">
            <a:spAutoFit/>
          </a:bodyPr>
          <a:lstStyle/>
          <a:p>
            <a:pPr algn="l">
              <a:lnSpc>
                <a:spcPct val="100000"/>
              </a:lnSpc>
              <a:spcBef>
                <a:spcPts val="0"/>
              </a:spcBef>
              <a:spcAft>
                <a:spcPts val="0"/>
              </a:spcAft>
            </a:pPr>
            <a:r>
              <a:rPr sz="1200" b="1" i="0">
                <a:solidFill>
                  <a:srgbClr val="20639B"/>
                </a:solidFill>
                <a:latin typeface="Aptos"/>
              </a:rPr>
              <a:t>RESEARCH QUESTION</a:t>
            </a:r>
          </a:p>
        </p:txBody>
      </p:sp>
      <p:sp>
        <p:nvSpPr>
          <p:cNvPr id="8" name="TextBox 7"/>
          <p:cNvSpPr txBox="1"/>
          <p:nvPr/>
        </p:nvSpPr>
        <p:spPr>
          <a:xfrm>
            <a:off x="2926080" y="3072384"/>
            <a:ext cx="8183879" cy="694944"/>
          </a:xfrm>
          <a:prstGeom prst="rect">
            <a:avLst/>
          </a:prstGeom>
          <a:noFill/>
        </p:spPr>
        <p:txBody>
          <a:bodyPr wrap="square" lIns="0" rIns="0" tIns="0" bIns="0" anchor="t">
            <a:spAutoFit/>
          </a:bodyPr>
          <a:lstStyle/>
          <a:p>
            <a:pPr algn="l">
              <a:lnSpc>
                <a:spcPct val="100000"/>
              </a:lnSpc>
              <a:spcBef>
                <a:spcPts val="0"/>
              </a:spcBef>
              <a:spcAft>
                <a:spcPts val="0"/>
              </a:spcAft>
            </a:pPr>
            <a:r>
              <a:rPr sz="2100" b="1" i="0">
                <a:solidFill>
                  <a:srgbClr val="14213D"/>
                </a:solidFill>
                <a:latin typeface="Aptos"/>
              </a:rPr>
              <a:t>How do mixer design and QAOA depth affect the probability of finding feasible and optimal routes?</a:t>
            </a:r>
          </a:p>
        </p:txBody>
      </p:sp>
      <p:sp>
        <p:nvSpPr>
          <p:cNvPr id="9" name="Rounded Rectangle 8"/>
          <p:cNvSpPr/>
          <p:nvPr/>
        </p:nvSpPr>
        <p:spPr>
          <a:xfrm>
            <a:off x="914400" y="4617720"/>
            <a:ext cx="1623060" cy="493776"/>
          </a:xfrm>
          <a:prstGeom prst="roundRect">
            <a:avLst/>
          </a:prstGeom>
          <a:solidFill>
            <a:srgbClr val="E7F2FA"/>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4709159"/>
            <a:ext cx="1531620" cy="292608"/>
          </a:xfrm>
          <a:prstGeom prst="rect">
            <a:avLst/>
          </a:prstGeom>
          <a:noFill/>
        </p:spPr>
        <p:txBody>
          <a:bodyPr wrap="square" lIns="0" rIns="0" tIns="0" bIns="0" anchor="ctr">
            <a:spAutoFit/>
          </a:bodyPr>
          <a:lstStyle/>
          <a:p>
            <a:pPr algn="ctr">
              <a:lnSpc>
                <a:spcPct val="100000"/>
              </a:lnSpc>
              <a:spcBef>
                <a:spcPts val="0"/>
              </a:spcBef>
              <a:spcAft>
                <a:spcPts val="0"/>
              </a:spcAft>
            </a:pPr>
            <a:r>
              <a:rPr sz="1400" b="1" i="0">
                <a:solidFill>
                  <a:srgbClr val="20639B"/>
                </a:solidFill>
                <a:latin typeface="Aptos"/>
              </a:rPr>
              <a:t>Graph</a:t>
            </a:r>
          </a:p>
        </p:txBody>
      </p:sp>
      <p:sp>
        <p:nvSpPr>
          <p:cNvPr id="11" name="Chevron 10"/>
          <p:cNvSpPr/>
          <p:nvPr/>
        </p:nvSpPr>
        <p:spPr>
          <a:xfrm>
            <a:off x="2519172" y="4773168"/>
            <a:ext cx="201168" cy="182880"/>
          </a:xfrm>
          <a:prstGeom prst="chevron">
            <a:avLst/>
          </a:prstGeom>
          <a:solidFill>
            <a:srgbClr val="E7EC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702052" y="4617720"/>
            <a:ext cx="1623060" cy="493776"/>
          </a:xfrm>
          <a:prstGeom prst="roundRect">
            <a:avLst/>
          </a:prstGeom>
          <a:solidFill>
            <a:srgbClr val="E7F2FA"/>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7772" y="4709159"/>
            <a:ext cx="1531620" cy="292608"/>
          </a:xfrm>
          <a:prstGeom prst="rect">
            <a:avLst/>
          </a:prstGeom>
          <a:noFill/>
        </p:spPr>
        <p:txBody>
          <a:bodyPr wrap="square" lIns="0" rIns="0" tIns="0" bIns="0" anchor="ctr">
            <a:spAutoFit/>
          </a:bodyPr>
          <a:lstStyle/>
          <a:p>
            <a:pPr algn="ctr">
              <a:lnSpc>
                <a:spcPct val="100000"/>
              </a:lnSpc>
              <a:spcBef>
                <a:spcPts val="0"/>
              </a:spcBef>
              <a:spcAft>
                <a:spcPts val="0"/>
              </a:spcAft>
            </a:pPr>
            <a:r>
              <a:rPr sz="1400" b="1" i="0">
                <a:solidFill>
                  <a:srgbClr val="20639B"/>
                </a:solidFill>
                <a:latin typeface="Aptos"/>
              </a:rPr>
              <a:t>Bits</a:t>
            </a:r>
          </a:p>
        </p:txBody>
      </p:sp>
      <p:sp>
        <p:nvSpPr>
          <p:cNvPr id="14" name="Chevron 13"/>
          <p:cNvSpPr/>
          <p:nvPr/>
        </p:nvSpPr>
        <p:spPr>
          <a:xfrm>
            <a:off x="4306824" y="4773168"/>
            <a:ext cx="201168" cy="182880"/>
          </a:xfrm>
          <a:prstGeom prst="chevron">
            <a:avLst/>
          </a:prstGeom>
          <a:solidFill>
            <a:srgbClr val="E7EC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489704" y="4617720"/>
            <a:ext cx="1623060" cy="493776"/>
          </a:xfrm>
          <a:prstGeom prst="roundRect">
            <a:avLst/>
          </a:prstGeom>
          <a:solidFill>
            <a:srgbClr val="E7F2FA"/>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35424" y="4709159"/>
            <a:ext cx="1531620" cy="292608"/>
          </a:xfrm>
          <a:prstGeom prst="rect">
            <a:avLst/>
          </a:prstGeom>
          <a:noFill/>
        </p:spPr>
        <p:txBody>
          <a:bodyPr wrap="square" lIns="0" rIns="0" tIns="0" bIns="0" anchor="ctr">
            <a:spAutoFit/>
          </a:bodyPr>
          <a:lstStyle/>
          <a:p>
            <a:pPr algn="ctr">
              <a:lnSpc>
                <a:spcPct val="100000"/>
              </a:lnSpc>
              <a:spcBef>
                <a:spcPts val="0"/>
              </a:spcBef>
              <a:spcAft>
                <a:spcPts val="0"/>
              </a:spcAft>
            </a:pPr>
            <a:r>
              <a:rPr sz="1400" b="1" i="0">
                <a:solidFill>
                  <a:srgbClr val="20639B"/>
                </a:solidFill>
                <a:latin typeface="Aptos"/>
              </a:rPr>
              <a:t>QUBO</a:t>
            </a:r>
          </a:p>
        </p:txBody>
      </p:sp>
      <p:sp>
        <p:nvSpPr>
          <p:cNvPr id="17" name="Chevron 16"/>
          <p:cNvSpPr/>
          <p:nvPr/>
        </p:nvSpPr>
        <p:spPr>
          <a:xfrm>
            <a:off x="6094476" y="4773168"/>
            <a:ext cx="201168" cy="182880"/>
          </a:xfrm>
          <a:prstGeom prst="chevron">
            <a:avLst/>
          </a:prstGeom>
          <a:solidFill>
            <a:srgbClr val="E7EC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277356" y="4617720"/>
            <a:ext cx="1623060" cy="493776"/>
          </a:xfrm>
          <a:prstGeom prst="roundRect">
            <a:avLst/>
          </a:prstGeom>
          <a:solidFill>
            <a:srgbClr val="E4F5F2"/>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23076" y="4709159"/>
            <a:ext cx="1531620" cy="292608"/>
          </a:xfrm>
          <a:prstGeom prst="rect">
            <a:avLst/>
          </a:prstGeom>
          <a:noFill/>
        </p:spPr>
        <p:txBody>
          <a:bodyPr wrap="square" lIns="0" rIns="0" tIns="0" bIns="0" anchor="ctr">
            <a:spAutoFit/>
          </a:bodyPr>
          <a:lstStyle/>
          <a:p>
            <a:pPr algn="ctr">
              <a:lnSpc>
                <a:spcPct val="100000"/>
              </a:lnSpc>
              <a:spcBef>
                <a:spcPts val="0"/>
              </a:spcBef>
              <a:spcAft>
                <a:spcPts val="0"/>
              </a:spcAft>
            </a:pPr>
            <a:r>
              <a:rPr sz="1400" b="1" i="0">
                <a:solidFill>
                  <a:srgbClr val="2A9D8F"/>
                </a:solidFill>
                <a:latin typeface="Aptos"/>
              </a:rPr>
              <a:t>Ising</a:t>
            </a:r>
          </a:p>
        </p:txBody>
      </p:sp>
      <p:sp>
        <p:nvSpPr>
          <p:cNvPr id="20" name="Chevron 19"/>
          <p:cNvSpPr/>
          <p:nvPr/>
        </p:nvSpPr>
        <p:spPr>
          <a:xfrm>
            <a:off x="7882128" y="4773168"/>
            <a:ext cx="201168" cy="182880"/>
          </a:xfrm>
          <a:prstGeom prst="chevron">
            <a:avLst/>
          </a:prstGeom>
          <a:solidFill>
            <a:srgbClr val="E7EC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065008" y="4617720"/>
            <a:ext cx="1623060" cy="493776"/>
          </a:xfrm>
          <a:prstGeom prst="roundRect">
            <a:avLst/>
          </a:prstGeom>
          <a:solidFill>
            <a:srgbClr val="E4F5F2"/>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10728" y="4709159"/>
            <a:ext cx="1531620" cy="292608"/>
          </a:xfrm>
          <a:prstGeom prst="rect">
            <a:avLst/>
          </a:prstGeom>
          <a:noFill/>
        </p:spPr>
        <p:txBody>
          <a:bodyPr wrap="square" lIns="0" rIns="0" tIns="0" bIns="0" anchor="ctr">
            <a:spAutoFit/>
          </a:bodyPr>
          <a:lstStyle/>
          <a:p>
            <a:pPr algn="ctr">
              <a:lnSpc>
                <a:spcPct val="100000"/>
              </a:lnSpc>
              <a:spcBef>
                <a:spcPts val="0"/>
              </a:spcBef>
              <a:spcAft>
                <a:spcPts val="0"/>
              </a:spcAft>
            </a:pPr>
            <a:r>
              <a:rPr sz="1400" b="1" i="0">
                <a:solidFill>
                  <a:srgbClr val="2A9D8F"/>
                </a:solidFill>
                <a:latin typeface="Aptos"/>
              </a:rPr>
              <a:t>QAOA</a:t>
            </a:r>
          </a:p>
        </p:txBody>
      </p:sp>
      <p:sp>
        <p:nvSpPr>
          <p:cNvPr id="23" name="Chevron 22"/>
          <p:cNvSpPr/>
          <p:nvPr/>
        </p:nvSpPr>
        <p:spPr>
          <a:xfrm>
            <a:off x="9669780" y="4773168"/>
            <a:ext cx="201168" cy="182880"/>
          </a:xfrm>
          <a:prstGeom prst="chevron">
            <a:avLst/>
          </a:prstGeom>
          <a:solidFill>
            <a:srgbClr val="E7EC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852660" y="4617720"/>
            <a:ext cx="1623060" cy="493776"/>
          </a:xfrm>
          <a:prstGeom prst="roundRect">
            <a:avLst/>
          </a:prstGeom>
          <a:solidFill>
            <a:srgbClr val="FFF5D6"/>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898380" y="4709159"/>
            <a:ext cx="1531620" cy="292608"/>
          </a:xfrm>
          <a:prstGeom prst="rect">
            <a:avLst/>
          </a:prstGeom>
          <a:noFill/>
        </p:spPr>
        <p:txBody>
          <a:bodyPr wrap="square" lIns="0" rIns="0" tIns="0" bIns="0" anchor="ctr">
            <a:spAutoFit/>
          </a:bodyPr>
          <a:lstStyle/>
          <a:p>
            <a:pPr algn="ctr">
              <a:lnSpc>
                <a:spcPct val="100000"/>
              </a:lnSpc>
              <a:spcBef>
                <a:spcPts val="0"/>
              </a:spcBef>
              <a:spcAft>
                <a:spcPts val="0"/>
              </a:spcAft>
            </a:pPr>
            <a:r>
              <a:rPr sz="1400" b="1" i="0">
                <a:solidFill>
                  <a:srgbClr val="14213D"/>
                </a:solidFill>
                <a:latin typeface="Aptos"/>
              </a:rPr>
              <a:t>Routes</a:t>
            </a:r>
          </a:p>
        </p:txBody>
      </p:sp>
      <p:sp>
        <p:nvSpPr>
          <p:cNvPr id="26" name="TextBox 25"/>
          <p:cNvSpPr txBox="1"/>
          <p:nvPr/>
        </p:nvSpPr>
        <p:spPr>
          <a:xfrm>
            <a:off x="914400" y="5696712"/>
            <a:ext cx="6400800" cy="347472"/>
          </a:xfrm>
          <a:prstGeom prst="rect">
            <a:avLst/>
          </a:prstGeom>
          <a:noFill/>
        </p:spPr>
        <p:txBody>
          <a:bodyPr wrap="square" lIns="0" rIns="0" tIns="0" bIns="0" anchor="t">
            <a:spAutoFit/>
          </a:bodyPr>
          <a:lstStyle/>
          <a:p>
            <a:pPr algn="l">
              <a:lnSpc>
                <a:spcPct val="100000"/>
              </a:lnSpc>
              <a:spcBef>
                <a:spcPts val="0"/>
              </a:spcBef>
              <a:spcAft>
                <a:spcPts val="0"/>
              </a:spcAft>
            </a:pPr>
            <a:r>
              <a:rPr sz="1500" b="1" i="0">
                <a:solidFill>
                  <a:srgbClr val="24324A"/>
                </a:solidFill>
                <a:latin typeface="Aptos"/>
              </a:rPr>
              <a:t>DTU 10387 · Scientific Computing in Quantum Information Science</a:t>
            </a:r>
          </a:p>
        </p:txBody>
      </p:sp>
      <p:sp>
        <p:nvSpPr>
          <p:cNvPr id="27" name="TextBox 26"/>
          <p:cNvSpPr txBox="1"/>
          <p:nvPr/>
        </p:nvSpPr>
        <p:spPr>
          <a:xfrm>
            <a:off x="914400" y="6080760"/>
            <a:ext cx="3657600" cy="256032"/>
          </a:xfrm>
          <a:prstGeom prst="rect">
            <a:avLst/>
          </a:prstGeom>
          <a:noFill/>
        </p:spPr>
        <p:txBody>
          <a:bodyPr wrap="square" lIns="0" rIns="0" tIns="0" bIns="0" anchor="t">
            <a:spAutoFit/>
          </a:bodyPr>
          <a:lstStyle/>
          <a:p>
            <a:pPr algn="l">
              <a:lnSpc>
                <a:spcPct val="100000"/>
              </a:lnSpc>
              <a:spcBef>
                <a:spcPts val="0"/>
              </a:spcBef>
              <a:spcAft>
                <a:spcPts val="0"/>
              </a:spcAft>
            </a:pPr>
            <a:r>
              <a:rPr sz="1400" b="0" i="0">
                <a:solidFill>
                  <a:srgbClr val="617087"/>
                </a:solidFill>
                <a:latin typeface="Aptos"/>
              </a:rPr>
              <a:t>ZhilinChen02</a:t>
            </a:r>
          </a:p>
        </p:txBody>
      </p:sp>
      <p:sp>
        <p:nvSpPr>
          <p:cNvPr id="28" name="TextBox 27"/>
          <p:cNvSpPr txBox="1"/>
          <p:nvPr/>
        </p:nvSpPr>
        <p:spPr>
          <a:xfrm>
            <a:off x="6446520" y="6080760"/>
            <a:ext cx="5029200" cy="256032"/>
          </a:xfrm>
          <a:prstGeom prst="rect">
            <a:avLst/>
          </a:prstGeom>
          <a:noFill/>
        </p:spPr>
        <p:txBody>
          <a:bodyPr wrap="square" lIns="0" rIns="0" tIns="0" bIns="0" anchor="t">
            <a:spAutoFit/>
          </a:bodyPr>
          <a:lstStyle/>
          <a:p>
            <a:pPr algn="r">
              <a:lnSpc>
                <a:spcPct val="100000"/>
              </a:lnSpc>
              <a:spcBef>
                <a:spcPts val="0"/>
              </a:spcBef>
              <a:spcAft>
                <a:spcPts val="0"/>
              </a:spcAft>
            </a:pPr>
            <a:r>
              <a:rPr sz="1200" b="0" i="0">
                <a:solidFill>
                  <a:srgbClr val="617087"/>
                </a:solidFill>
                <a:latin typeface="Aptos"/>
              </a:rPr>
              <a:t>github.com/ZhilinChen02/sciqis-qaoa-routing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548640" y="292608"/>
            <a:ext cx="11064240" cy="530352"/>
          </a:xfrm>
          <a:prstGeom prst="rect">
            <a:avLst/>
          </a:prstGeom>
          <a:noFill/>
        </p:spPr>
        <p:txBody>
          <a:bodyPr wrap="square" lIns="0" rIns="0" tIns="0" bIns="0" anchor="t">
            <a:spAutoFit/>
          </a:bodyPr>
          <a:lstStyle/>
          <a:p>
            <a:pPr algn="l">
              <a:lnSpc>
                <a:spcPct val="100000"/>
              </a:lnSpc>
              <a:spcBef>
                <a:spcPts val="0"/>
              </a:spcBef>
              <a:spcAft>
                <a:spcPts val="0"/>
              </a:spcAft>
            </a:pPr>
            <a:r>
              <a:rPr sz="2900" b="1" i="0">
                <a:solidFill>
                  <a:srgbClr val="14213D"/>
                </a:solidFill>
                <a:latin typeface="Aptos"/>
              </a:rPr>
              <a:t>A small graph, a large binary space</a:t>
            </a:r>
          </a:p>
        </p:txBody>
      </p:sp>
      <p:sp>
        <p:nvSpPr>
          <p:cNvPr id="3" name="Rectangle 2"/>
          <p:cNvSpPr/>
          <p:nvPr/>
        </p:nvSpPr>
        <p:spPr>
          <a:xfrm>
            <a:off x="548640" y="896112"/>
            <a:ext cx="658368" cy="41148"/>
          </a:xfrm>
          <a:prstGeom prst="rect">
            <a:avLst/>
          </a:prstGeom>
          <a:solidFill>
            <a:srgbClr val="2063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a:off x="502920" y="6528816"/>
            <a:ext cx="11183112" cy="0"/>
          </a:xfrm>
          <a:prstGeom prst="line">
            <a:avLst/>
          </a:prstGeom>
          <a:ln w="8890">
            <a:solidFill>
              <a:srgbClr val="E7ECF3"/>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30352" y="6574536"/>
            <a:ext cx="2194560" cy="164592"/>
          </a:xfrm>
          <a:prstGeom prst="rect">
            <a:avLst/>
          </a:prstGeom>
          <a:noFill/>
        </p:spPr>
        <p:txBody>
          <a:bodyPr wrap="square" lIns="0" rIns="0" tIns="0" bIns="0" anchor="t">
            <a:spAutoFit/>
          </a:bodyPr>
          <a:lstStyle/>
          <a:p>
            <a:pPr algn="l">
              <a:lnSpc>
                <a:spcPct val="100000"/>
              </a:lnSpc>
              <a:spcBef>
                <a:spcPts val="0"/>
              </a:spcBef>
              <a:spcAft>
                <a:spcPts val="0"/>
              </a:spcAft>
            </a:pPr>
            <a:r>
              <a:rPr sz="950" b="1" i="0">
                <a:solidFill>
                  <a:srgbClr val="617087"/>
                </a:solidFill>
                <a:latin typeface="Aptos"/>
              </a:rPr>
              <a:t>PROBLEM</a:t>
            </a:r>
          </a:p>
        </p:txBody>
      </p:sp>
      <p:sp>
        <p:nvSpPr>
          <p:cNvPr id="6" name="TextBox 5"/>
          <p:cNvSpPr txBox="1"/>
          <p:nvPr/>
        </p:nvSpPr>
        <p:spPr>
          <a:xfrm>
            <a:off x="11173968" y="6556248"/>
            <a:ext cx="457200" cy="182880"/>
          </a:xfrm>
          <a:prstGeom prst="rect">
            <a:avLst/>
          </a:prstGeom>
          <a:noFill/>
        </p:spPr>
        <p:txBody>
          <a:bodyPr wrap="square" lIns="0" rIns="0" tIns="0" bIns="0" anchor="t">
            <a:spAutoFit/>
          </a:bodyPr>
          <a:lstStyle/>
          <a:p>
            <a:pPr algn="r">
              <a:lnSpc>
                <a:spcPct val="100000"/>
              </a:lnSpc>
              <a:spcBef>
                <a:spcPts val="0"/>
              </a:spcBef>
              <a:spcAft>
                <a:spcPts val="0"/>
              </a:spcAft>
            </a:pPr>
            <a:r>
              <a:rPr sz="1000" b="1" i="0">
                <a:solidFill>
                  <a:srgbClr val="617087"/>
                </a:solidFill>
                <a:latin typeface="Aptos"/>
              </a:rPr>
              <a:t>2</a:t>
            </a:r>
          </a:p>
        </p:txBody>
      </p:sp>
      <p:cxnSp>
        <p:nvCxnSpPr>
          <p:cNvPr id="7" name="Connector 6"/>
          <p:cNvCxnSpPr/>
          <p:nvPr/>
        </p:nvCxnSpPr>
        <p:spPr>
          <a:xfrm flipV="1">
            <a:off x="1111441" y="1605682"/>
            <a:ext cx="2516909" cy="1847096"/>
          </a:xfrm>
          <a:prstGeom prst="line">
            <a:avLst/>
          </a:prstGeom>
          <a:ln w="22860">
            <a:solidFill>
              <a:srgbClr val="98A2B3"/>
            </a:solidFill>
            <a:headEnd type="triangle" w="sm" len="sm"/>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2094661" y="2507284"/>
            <a:ext cx="256032" cy="21945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094661" y="2525572"/>
            <a:ext cx="256032" cy="164592"/>
          </a:xfrm>
          <a:prstGeom prst="rect">
            <a:avLst/>
          </a:prstGeom>
          <a:noFill/>
        </p:spPr>
        <p:txBody>
          <a:bodyPr wrap="square" lIns="0" rIns="0" tIns="0" bIns="0" anchor="t">
            <a:spAutoFit/>
          </a:bodyPr>
          <a:lstStyle/>
          <a:p>
            <a:pPr algn="ctr">
              <a:lnSpc>
                <a:spcPct val="100000"/>
              </a:lnSpc>
              <a:spcBef>
                <a:spcPts val="0"/>
              </a:spcBef>
              <a:spcAft>
                <a:spcPts val="0"/>
              </a:spcAft>
            </a:pPr>
            <a:r>
              <a:rPr sz="1150" b="0" i="0">
                <a:solidFill>
                  <a:srgbClr val="14213D"/>
                </a:solidFill>
                <a:latin typeface="Aptos"/>
              </a:rPr>
              <a:t>4</a:t>
            </a:r>
          </a:p>
        </p:txBody>
      </p:sp>
      <p:cxnSp>
        <p:nvCxnSpPr>
          <p:cNvPr id="10" name="Connector 9"/>
          <p:cNvCxnSpPr/>
          <p:nvPr/>
        </p:nvCxnSpPr>
        <p:spPr>
          <a:xfrm>
            <a:off x="1140395" y="3658613"/>
            <a:ext cx="2679829" cy="989183"/>
          </a:xfrm>
          <a:prstGeom prst="line">
            <a:avLst/>
          </a:prstGeom>
          <a:ln w="22860">
            <a:solidFill>
              <a:srgbClr val="98A2B3"/>
            </a:solidFill>
            <a:headEnd type="triangle" w="sm" len="sm"/>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2352294" y="4175150"/>
            <a:ext cx="256032" cy="21945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52294" y="4193438"/>
            <a:ext cx="256032" cy="164592"/>
          </a:xfrm>
          <a:prstGeom prst="rect">
            <a:avLst/>
          </a:prstGeom>
          <a:noFill/>
        </p:spPr>
        <p:txBody>
          <a:bodyPr wrap="square" lIns="0" rIns="0" tIns="0" bIns="0" anchor="t">
            <a:spAutoFit/>
          </a:bodyPr>
          <a:lstStyle/>
          <a:p>
            <a:pPr algn="ctr">
              <a:lnSpc>
                <a:spcPct val="100000"/>
              </a:lnSpc>
              <a:spcBef>
                <a:spcPts val="0"/>
              </a:spcBef>
              <a:spcAft>
                <a:spcPts val="0"/>
              </a:spcAft>
            </a:pPr>
            <a:r>
              <a:rPr sz="1150" b="0" i="0">
                <a:solidFill>
                  <a:srgbClr val="14213D"/>
                </a:solidFill>
                <a:latin typeface="Aptos"/>
              </a:rPr>
              <a:t>7</a:t>
            </a:r>
          </a:p>
        </p:txBody>
      </p:sp>
      <p:cxnSp>
        <p:nvCxnSpPr>
          <p:cNvPr id="13" name="Connector 12"/>
          <p:cNvCxnSpPr/>
          <p:nvPr/>
        </p:nvCxnSpPr>
        <p:spPr>
          <a:xfrm>
            <a:off x="2454619" y="2360835"/>
            <a:ext cx="1449956" cy="2180220"/>
          </a:xfrm>
          <a:prstGeom prst="line">
            <a:avLst/>
          </a:prstGeom>
          <a:ln w="22860">
            <a:solidFill>
              <a:srgbClr val="98A2B3"/>
            </a:solidFill>
            <a:headEnd type="triangle" w="sm" len="sm"/>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3051581" y="3472891"/>
            <a:ext cx="256032" cy="21945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051581" y="3491179"/>
            <a:ext cx="256032" cy="164592"/>
          </a:xfrm>
          <a:prstGeom prst="rect">
            <a:avLst/>
          </a:prstGeom>
          <a:noFill/>
        </p:spPr>
        <p:txBody>
          <a:bodyPr wrap="square" lIns="0" rIns="0" tIns="0" bIns="0" anchor="t">
            <a:spAutoFit/>
          </a:bodyPr>
          <a:lstStyle/>
          <a:p>
            <a:pPr algn="ctr">
              <a:lnSpc>
                <a:spcPct val="100000"/>
              </a:lnSpc>
              <a:spcBef>
                <a:spcPts val="0"/>
              </a:spcBef>
              <a:spcAft>
                <a:spcPts val="0"/>
              </a:spcAft>
            </a:pPr>
            <a:r>
              <a:rPr sz="1150" b="0" i="0">
                <a:solidFill>
                  <a:srgbClr val="14213D"/>
                </a:solidFill>
                <a:latin typeface="Aptos"/>
              </a:rPr>
              <a:t>4</a:t>
            </a:r>
          </a:p>
        </p:txBody>
      </p:sp>
      <p:cxnSp>
        <p:nvCxnSpPr>
          <p:cNvPr id="16" name="Connector 15"/>
          <p:cNvCxnSpPr/>
          <p:nvPr/>
        </p:nvCxnSpPr>
        <p:spPr>
          <a:xfrm flipV="1">
            <a:off x="2552467" y="2096264"/>
            <a:ext cx="2800053" cy="75890"/>
          </a:xfrm>
          <a:prstGeom prst="line">
            <a:avLst/>
          </a:prstGeom>
          <a:ln w="22860">
            <a:solidFill>
              <a:srgbClr val="98A2B3"/>
            </a:solidFill>
            <a:headEnd type="triangle" w="sm" len="sm"/>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3824478" y="1914753"/>
            <a:ext cx="256032" cy="21945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824478" y="1933041"/>
            <a:ext cx="256032" cy="164592"/>
          </a:xfrm>
          <a:prstGeom prst="rect">
            <a:avLst/>
          </a:prstGeom>
          <a:noFill/>
        </p:spPr>
        <p:txBody>
          <a:bodyPr wrap="square" lIns="0" rIns="0" tIns="0" bIns="0" anchor="t">
            <a:spAutoFit/>
          </a:bodyPr>
          <a:lstStyle/>
          <a:p>
            <a:pPr algn="ctr">
              <a:lnSpc>
                <a:spcPct val="100000"/>
              </a:lnSpc>
              <a:spcBef>
                <a:spcPts val="0"/>
              </a:spcBef>
              <a:spcAft>
                <a:spcPts val="0"/>
              </a:spcAft>
            </a:pPr>
            <a:r>
              <a:rPr sz="1150" b="0" i="0">
                <a:solidFill>
                  <a:srgbClr val="14213D"/>
                </a:solidFill>
                <a:latin typeface="Aptos"/>
              </a:rPr>
              <a:t>7</a:t>
            </a:r>
          </a:p>
        </p:txBody>
      </p:sp>
      <p:cxnSp>
        <p:nvCxnSpPr>
          <p:cNvPr id="19" name="Connector 18"/>
          <p:cNvCxnSpPr/>
          <p:nvPr/>
        </p:nvCxnSpPr>
        <p:spPr>
          <a:xfrm>
            <a:off x="3820162" y="1694792"/>
            <a:ext cx="191054" cy="2810047"/>
          </a:xfrm>
          <a:prstGeom prst="line">
            <a:avLst/>
          </a:prstGeom>
          <a:ln w="22860">
            <a:solidFill>
              <a:srgbClr val="98A2B3"/>
            </a:solidFill>
            <a:headEnd type="triangle" w="sm" len="sm"/>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3934891" y="2990087"/>
            <a:ext cx="256032" cy="21945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934891" y="3008375"/>
            <a:ext cx="256032" cy="164592"/>
          </a:xfrm>
          <a:prstGeom prst="rect">
            <a:avLst/>
          </a:prstGeom>
          <a:noFill/>
        </p:spPr>
        <p:txBody>
          <a:bodyPr wrap="square" lIns="0" rIns="0" tIns="0" bIns="0" anchor="t">
            <a:spAutoFit/>
          </a:bodyPr>
          <a:lstStyle/>
          <a:p>
            <a:pPr algn="ctr">
              <a:lnSpc>
                <a:spcPct val="100000"/>
              </a:lnSpc>
              <a:spcBef>
                <a:spcPts val="0"/>
              </a:spcBef>
              <a:spcAft>
                <a:spcPts val="0"/>
              </a:spcAft>
            </a:pPr>
            <a:r>
              <a:rPr sz="1150" b="0" i="0">
                <a:solidFill>
                  <a:srgbClr val="14213D"/>
                </a:solidFill>
                <a:latin typeface="Aptos"/>
              </a:rPr>
              <a:t>2</a:t>
            </a:r>
          </a:p>
        </p:txBody>
      </p:sp>
      <p:cxnSp>
        <p:nvCxnSpPr>
          <p:cNvPr id="22" name="Connector 21"/>
          <p:cNvCxnSpPr/>
          <p:nvPr/>
        </p:nvCxnSpPr>
        <p:spPr>
          <a:xfrm>
            <a:off x="3964060" y="1627328"/>
            <a:ext cx="2626798" cy="2506063"/>
          </a:xfrm>
          <a:prstGeom prst="line">
            <a:avLst/>
          </a:prstGeom>
          <a:ln w="22860">
            <a:solidFill>
              <a:srgbClr val="98A2B3"/>
            </a:solidFill>
            <a:headEnd type="triangle" w="sm" len="sm"/>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5259857" y="2682849"/>
            <a:ext cx="256032" cy="21945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259857" y="2701137"/>
            <a:ext cx="256032" cy="164592"/>
          </a:xfrm>
          <a:prstGeom prst="rect">
            <a:avLst/>
          </a:prstGeom>
          <a:noFill/>
        </p:spPr>
        <p:txBody>
          <a:bodyPr wrap="square" lIns="0" rIns="0" tIns="0" bIns="0" anchor="t">
            <a:spAutoFit/>
          </a:bodyPr>
          <a:lstStyle/>
          <a:p>
            <a:pPr algn="ctr">
              <a:lnSpc>
                <a:spcPct val="100000"/>
              </a:lnSpc>
              <a:spcBef>
                <a:spcPts val="0"/>
              </a:spcBef>
              <a:spcAft>
                <a:spcPts val="0"/>
              </a:spcAft>
            </a:pPr>
            <a:r>
              <a:rPr sz="1150" b="0" i="0">
                <a:solidFill>
                  <a:srgbClr val="14213D"/>
                </a:solidFill>
                <a:latin typeface="Aptos"/>
              </a:rPr>
              <a:t>7</a:t>
            </a:r>
          </a:p>
        </p:txBody>
      </p:sp>
      <p:cxnSp>
        <p:nvCxnSpPr>
          <p:cNvPr id="25" name="Connector 24"/>
          <p:cNvCxnSpPr/>
          <p:nvPr/>
        </p:nvCxnSpPr>
        <p:spPr>
          <a:xfrm flipV="1">
            <a:off x="4137195" y="2279578"/>
            <a:ext cx="1323609" cy="2254951"/>
          </a:xfrm>
          <a:prstGeom prst="line">
            <a:avLst/>
          </a:prstGeom>
          <a:ln w="22860">
            <a:solidFill>
              <a:srgbClr val="98A2B3"/>
            </a:solidFill>
            <a:headEnd type="triangle" w="sm" len="sm"/>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4670983" y="3385108"/>
            <a:ext cx="256032" cy="21945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670983" y="3403396"/>
            <a:ext cx="256032" cy="164592"/>
          </a:xfrm>
          <a:prstGeom prst="rect">
            <a:avLst/>
          </a:prstGeom>
          <a:noFill/>
        </p:spPr>
        <p:txBody>
          <a:bodyPr wrap="square" lIns="0" rIns="0" tIns="0" bIns="0" anchor="t">
            <a:spAutoFit/>
          </a:bodyPr>
          <a:lstStyle/>
          <a:p>
            <a:pPr algn="ctr">
              <a:lnSpc>
                <a:spcPct val="100000"/>
              </a:lnSpc>
              <a:spcBef>
                <a:spcPts val="0"/>
              </a:spcBef>
              <a:spcAft>
                <a:spcPts val="0"/>
              </a:spcAft>
            </a:pPr>
            <a:r>
              <a:rPr sz="1150" b="0" i="0">
                <a:solidFill>
                  <a:srgbClr val="14213D"/>
                </a:solidFill>
                <a:latin typeface="Aptos"/>
              </a:rPr>
              <a:t>2</a:t>
            </a:r>
          </a:p>
        </p:txBody>
      </p:sp>
      <p:cxnSp>
        <p:nvCxnSpPr>
          <p:cNvPr id="28" name="Connector 27"/>
          <p:cNvCxnSpPr/>
          <p:nvPr/>
        </p:nvCxnSpPr>
        <p:spPr>
          <a:xfrm flipV="1">
            <a:off x="4242763" y="4319794"/>
            <a:ext cx="2290220" cy="369080"/>
          </a:xfrm>
          <a:prstGeom prst="line">
            <a:avLst/>
          </a:prstGeom>
          <a:ln w="22860">
            <a:solidFill>
              <a:srgbClr val="98A2B3"/>
            </a:solidFill>
            <a:headEnd type="triangle" w="sm" len="sm"/>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5259857" y="4504334"/>
            <a:ext cx="256032" cy="21945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259857" y="4522622"/>
            <a:ext cx="256032" cy="164592"/>
          </a:xfrm>
          <a:prstGeom prst="rect">
            <a:avLst/>
          </a:prstGeom>
          <a:noFill/>
        </p:spPr>
        <p:txBody>
          <a:bodyPr wrap="square" lIns="0" rIns="0" tIns="0" bIns="0" anchor="t">
            <a:spAutoFit/>
          </a:bodyPr>
          <a:lstStyle/>
          <a:p>
            <a:pPr algn="ctr">
              <a:lnSpc>
                <a:spcPct val="100000"/>
              </a:lnSpc>
              <a:spcBef>
                <a:spcPts val="0"/>
              </a:spcBef>
              <a:spcAft>
                <a:spcPts val="0"/>
              </a:spcAft>
            </a:pPr>
            <a:r>
              <a:rPr sz="1150" b="0" i="0">
                <a:solidFill>
                  <a:srgbClr val="14213D"/>
                </a:solidFill>
                <a:latin typeface="Aptos"/>
              </a:rPr>
              <a:t>4</a:t>
            </a:r>
          </a:p>
        </p:txBody>
      </p:sp>
      <p:cxnSp>
        <p:nvCxnSpPr>
          <p:cNvPr id="31" name="Connector 30"/>
          <p:cNvCxnSpPr/>
          <p:nvPr/>
        </p:nvCxnSpPr>
        <p:spPr>
          <a:xfrm>
            <a:off x="5766858" y="2191069"/>
            <a:ext cx="1818352" cy="939669"/>
          </a:xfrm>
          <a:prstGeom prst="line">
            <a:avLst/>
          </a:prstGeom>
          <a:ln w="22860">
            <a:solidFill>
              <a:srgbClr val="98A2B3"/>
            </a:solidFill>
            <a:headEnd type="triangle" w="sm" len="sm"/>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6548018" y="2441448"/>
            <a:ext cx="256032" cy="21945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548018" y="2459736"/>
            <a:ext cx="256032" cy="164592"/>
          </a:xfrm>
          <a:prstGeom prst="rect">
            <a:avLst/>
          </a:prstGeom>
          <a:noFill/>
        </p:spPr>
        <p:txBody>
          <a:bodyPr wrap="square" lIns="0" rIns="0" tIns="0" bIns="0" anchor="t">
            <a:spAutoFit/>
          </a:bodyPr>
          <a:lstStyle/>
          <a:p>
            <a:pPr algn="ctr">
              <a:lnSpc>
                <a:spcPct val="100000"/>
              </a:lnSpc>
              <a:spcBef>
                <a:spcPts val="0"/>
              </a:spcBef>
              <a:spcAft>
                <a:spcPts val="0"/>
              </a:spcAft>
            </a:pPr>
            <a:r>
              <a:rPr sz="1150" b="0" i="0">
                <a:solidFill>
                  <a:srgbClr val="14213D"/>
                </a:solidFill>
                <a:latin typeface="Aptos"/>
              </a:rPr>
              <a:t>5</a:t>
            </a:r>
          </a:p>
        </p:txBody>
      </p:sp>
      <p:cxnSp>
        <p:nvCxnSpPr>
          <p:cNvPr id="34" name="Connector 33"/>
          <p:cNvCxnSpPr/>
          <p:nvPr/>
        </p:nvCxnSpPr>
        <p:spPr>
          <a:xfrm flipV="1">
            <a:off x="1089366" y="2333608"/>
            <a:ext cx="1088876" cy="1093503"/>
          </a:xfrm>
          <a:prstGeom prst="line">
            <a:avLst/>
          </a:prstGeom>
          <a:ln w="48260">
            <a:solidFill>
              <a:srgbClr val="D14D5A"/>
            </a:solidFill>
            <a:headEnd type="triangle" w="sm" len="sm"/>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1358569" y="2726740"/>
            <a:ext cx="256032" cy="21945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358569" y="2745028"/>
            <a:ext cx="256032" cy="164592"/>
          </a:xfrm>
          <a:prstGeom prst="rect">
            <a:avLst/>
          </a:prstGeom>
          <a:noFill/>
        </p:spPr>
        <p:txBody>
          <a:bodyPr wrap="square" lIns="0" rIns="0" tIns="0" bIns="0" anchor="t">
            <a:spAutoFit/>
          </a:bodyPr>
          <a:lstStyle/>
          <a:p>
            <a:pPr algn="ctr">
              <a:lnSpc>
                <a:spcPct val="100000"/>
              </a:lnSpc>
              <a:spcBef>
                <a:spcPts val="0"/>
              </a:spcBef>
              <a:spcAft>
                <a:spcPts val="0"/>
              </a:spcAft>
            </a:pPr>
            <a:r>
              <a:rPr sz="1150" b="1" i="0">
                <a:solidFill>
                  <a:srgbClr val="14213D"/>
                </a:solidFill>
                <a:latin typeface="Aptos"/>
              </a:rPr>
              <a:t>2</a:t>
            </a:r>
          </a:p>
        </p:txBody>
      </p:sp>
      <p:cxnSp>
        <p:nvCxnSpPr>
          <p:cNvPr id="37" name="Connector 36"/>
          <p:cNvCxnSpPr/>
          <p:nvPr/>
        </p:nvCxnSpPr>
        <p:spPr>
          <a:xfrm flipV="1">
            <a:off x="2531166" y="1570326"/>
            <a:ext cx="1076035" cy="513289"/>
          </a:xfrm>
          <a:prstGeom prst="line">
            <a:avLst/>
          </a:prstGeom>
          <a:ln w="48260">
            <a:solidFill>
              <a:srgbClr val="D14D5A"/>
            </a:solidFill>
            <a:headEnd type="triangle" w="sm" len="sm"/>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2830753" y="1629460"/>
            <a:ext cx="256032" cy="21945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830753" y="1647748"/>
            <a:ext cx="256032" cy="164592"/>
          </a:xfrm>
          <a:prstGeom prst="rect">
            <a:avLst/>
          </a:prstGeom>
          <a:noFill/>
        </p:spPr>
        <p:txBody>
          <a:bodyPr wrap="square" lIns="0" rIns="0" tIns="0" bIns="0" anchor="t">
            <a:spAutoFit/>
          </a:bodyPr>
          <a:lstStyle/>
          <a:p>
            <a:pPr algn="ctr">
              <a:lnSpc>
                <a:spcPct val="100000"/>
              </a:lnSpc>
              <a:spcBef>
                <a:spcPts val="0"/>
              </a:spcBef>
              <a:spcAft>
                <a:spcPts val="0"/>
              </a:spcAft>
            </a:pPr>
            <a:r>
              <a:rPr sz="1150" b="1" i="0">
                <a:solidFill>
                  <a:srgbClr val="14213D"/>
                </a:solidFill>
                <a:latin typeface="Aptos"/>
              </a:rPr>
              <a:t>1</a:t>
            </a:r>
          </a:p>
        </p:txBody>
      </p:sp>
      <p:cxnSp>
        <p:nvCxnSpPr>
          <p:cNvPr id="40" name="Connector 39"/>
          <p:cNvCxnSpPr/>
          <p:nvPr/>
        </p:nvCxnSpPr>
        <p:spPr>
          <a:xfrm>
            <a:off x="4012551" y="1547937"/>
            <a:ext cx="1352069" cy="470285"/>
          </a:xfrm>
          <a:prstGeom prst="line">
            <a:avLst/>
          </a:prstGeom>
          <a:ln w="48260">
            <a:solidFill>
              <a:srgbClr val="D14D5A"/>
            </a:solidFill>
            <a:headEnd type="triangle" w="sm" len="sm"/>
          </a:ln>
        </p:spPr>
        <p:style>
          <a:lnRef idx="2">
            <a:schemeClr val="accent1"/>
          </a:lnRef>
          <a:fillRef idx="0">
            <a:schemeClr val="accent1"/>
          </a:fillRef>
          <a:effectRef idx="1">
            <a:schemeClr val="accent1"/>
          </a:effectRef>
          <a:fontRef idx="minor">
            <a:schemeClr val="tx1"/>
          </a:fontRef>
        </p:style>
      </p:cxnSp>
      <p:sp>
        <p:nvSpPr>
          <p:cNvPr id="41" name="Rounded Rectangle 40"/>
          <p:cNvSpPr/>
          <p:nvPr/>
        </p:nvSpPr>
        <p:spPr>
          <a:xfrm>
            <a:off x="4560570" y="1563624"/>
            <a:ext cx="256032" cy="21945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560570" y="1581912"/>
            <a:ext cx="256032" cy="164592"/>
          </a:xfrm>
          <a:prstGeom prst="rect">
            <a:avLst/>
          </a:prstGeom>
          <a:noFill/>
        </p:spPr>
        <p:txBody>
          <a:bodyPr wrap="square" lIns="0" rIns="0" tIns="0" bIns="0" anchor="t">
            <a:spAutoFit/>
          </a:bodyPr>
          <a:lstStyle/>
          <a:p>
            <a:pPr algn="ctr">
              <a:lnSpc>
                <a:spcPct val="100000"/>
              </a:lnSpc>
              <a:spcBef>
                <a:spcPts val="0"/>
              </a:spcBef>
              <a:spcAft>
                <a:spcPts val="0"/>
              </a:spcAft>
            </a:pPr>
            <a:r>
              <a:rPr sz="1150" b="1" i="0">
                <a:solidFill>
                  <a:srgbClr val="14213D"/>
                </a:solidFill>
                <a:latin typeface="Aptos"/>
              </a:rPr>
              <a:t>3</a:t>
            </a:r>
          </a:p>
        </p:txBody>
      </p:sp>
      <p:cxnSp>
        <p:nvCxnSpPr>
          <p:cNvPr id="43" name="Connector 42"/>
          <p:cNvCxnSpPr/>
          <p:nvPr/>
        </p:nvCxnSpPr>
        <p:spPr>
          <a:xfrm>
            <a:off x="5675671" y="2283687"/>
            <a:ext cx="970197" cy="1807822"/>
          </a:xfrm>
          <a:prstGeom prst="line">
            <a:avLst/>
          </a:prstGeom>
          <a:ln w="48260">
            <a:solidFill>
              <a:srgbClr val="D14D5A"/>
            </a:solidFill>
            <a:headEnd type="triangle" w="sm" len="sm"/>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6179972" y="3077870"/>
            <a:ext cx="256032" cy="21945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179972" y="3096158"/>
            <a:ext cx="256032" cy="164592"/>
          </a:xfrm>
          <a:prstGeom prst="rect">
            <a:avLst/>
          </a:prstGeom>
          <a:noFill/>
        </p:spPr>
        <p:txBody>
          <a:bodyPr wrap="square" lIns="0" rIns="0" tIns="0" bIns="0" anchor="t">
            <a:spAutoFit/>
          </a:bodyPr>
          <a:lstStyle/>
          <a:p>
            <a:pPr algn="ctr">
              <a:lnSpc>
                <a:spcPct val="100000"/>
              </a:lnSpc>
              <a:spcBef>
                <a:spcPts val="0"/>
              </a:spcBef>
              <a:spcAft>
                <a:spcPts val="0"/>
              </a:spcAft>
            </a:pPr>
            <a:r>
              <a:rPr sz="1150" b="1" i="0">
                <a:solidFill>
                  <a:srgbClr val="14213D"/>
                </a:solidFill>
                <a:latin typeface="Aptos"/>
              </a:rPr>
              <a:t>2</a:t>
            </a:r>
          </a:p>
        </p:txBody>
      </p:sp>
      <p:cxnSp>
        <p:nvCxnSpPr>
          <p:cNvPr id="46" name="Connector 45"/>
          <p:cNvCxnSpPr/>
          <p:nvPr/>
        </p:nvCxnSpPr>
        <p:spPr>
          <a:xfrm flipV="1">
            <a:off x="6903110" y="3388361"/>
            <a:ext cx="723595" cy="739645"/>
          </a:xfrm>
          <a:prstGeom prst="line">
            <a:avLst/>
          </a:prstGeom>
          <a:ln w="48260">
            <a:solidFill>
              <a:srgbClr val="D14D5A"/>
            </a:solidFill>
            <a:headEnd type="triangle" w="sm" len="sm"/>
          </a:ln>
        </p:spPr>
        <p:style>
          <a:lnRef idx="2">
            <a:schemeClr val="accent1"/>
          </a:lnRef>
          <a:fillRef idx="0">
            <a:schemeClr val="accent1"/>
          </a:fillRef>
          <a:effectRef idx="1">
            <a:schemeClr val="accent1"/>
          </a:effectRef>
          <a:fontRef idx="minor">
            <a:schemeClr val="tx1"/>
          </a:fontRef>
        </p:style>
      </p:cxnSp>
      <p:sp>
        <p:nvSpPr>
          <p:cNvPr id="47" name="Rounded Rectangle 46"/>
          <p:cNvSpPr/>
          <p:nvPr/>
        </p:nvSpPr>
        <p:spPr>
          <a:xfrm>
            <a:off x="7284110" y="3648455"/>
            <a:ext cx="256032" cy="21945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284110" y="3666744"/>
            <a:ext cx="256032" cy="164592"/>
          </a:xfrm>
          <a:prstGeom prst="rect">
            <a:avLst/>
          </a:prstGeom>
          <a:noFill/>
        </p:spPr>
        <p:txBody>
          <a:bodyPr wrap="square" lIns="0" rIns="0" tIns="0" bIns="0" anchor="t">
            <a:spAutoFit/>
          </a:bodyPr>
          <a:lstStyle/>
          <a:p>
            <a:pPr algn="ctr">
              <a:lnSpc>
                <a:spcPct val="100000"/>
              </a:lnSpc>
              <a:spcBef>
                <a:spcPts val="0"/>
              </a:spcBef>
              <a:spcAft>
                <a:spcPts val="0"/>
              </a:spcAft>
            </a:pPr>
            <a:r>
              <a:rPr sz="1150" b="1" i="0">
                <a:solidFill>
                  <a:srgbClr val="14213D"/>
                </a:solidFill>
                <a:latin typeface="Aptos"/>
              </a:rPr>
              <a:t>2</a:t>
            </a:r>
          </a:p>
        </p:txBody>
      </p:sp>
      <p:sp>
        <p:nvSpPr>
          <p:cNvPr id="49" name="Oval 48"/>
          <p:cNvSpPr/>
          <p:nvPr/>
        </p:nvSpPr>
        <p:spPr>
          <a:xfrm>
            <a:off x="705916" y="3354019"/>
            <a:ext cx="457200" cy="457200"/>
          </a:xfrm>
          <a:prstGeom prst="ellipse">
            <a:avLst/>
          </a:prstGeom>
          <a:solidFill>
            <a:srgbClr val="20639B"/>
          </a:solidFill>
          <a:ln w="17780">
            <a:solidFill>
              <a:srgbClr val="2063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51636" y="3427171"/>
            <a:ext cx="365760" cy="292608"/>
          </a:xfrm>
          <a:prstGeom prst="rect">
            <a:avLst/>
          </a:prstGeom>
          <a:noFill/>
        </p:spPr>
        <p:txBody>
          <a:bodyPr wrap="square" lIns="0" rIns="0" tIns="0" bIns="0" anchor="ctr">
            <a:spAutoFit/>
          </a:bodyPr>
          <a:lstStyle/>
          <a:p>
            <a:pPr algn="ctr">
              <a:lnSpc>
                <a:spcPct val="100000"/>
              </a:lnSpc>
              <a:spcBef>
                <a:spcPts val="0"/>
              </a:spcBef>
              <a:spcAft>
                <a:spcPts val="0"/>
              </a:spcAft>
            </a:pPr>
            <a:r>
              <a:rPr sz="1600" b="1" i="0">
                <a:solidFill>
                  <a:srgbClr val="FFFFFF"/>
                </a:solidFill>
                <a:latin typeface="Aptos"/>
              </a:rPr>
              <a:t>0</a:t>
            </a:r>
          </a:p>
        </p:txBody>
      </p:sp>
      <p:sp>
        <p:nvSpPr>
          <p:cNvPr id="51" name="Oval 50"/>
          <p:cNvSpPr/>
          <p:nvPr/>
        </p:nvSpPr>
        <p:spPr>
          <a:xfrm>
            <a:off x="2104491" y="1949500"/>
            <a:ext cx="457200" cy="457200"/>
          </a:xfrm>
          <a:prstGeom prst="ellipse">
            <a:avLst/>
          </a:prstGeom>
          <a:solidFill>
            <a:srgbClr val="FFFFFF"/>
          </a:solidFill>
          <a:ln w="17780">
            <a:solidFill>
              <a:srgbClr val="142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150211" y="2022652"/>
            <a:ext cx="365760" cy="292608"/>
          </a:xfrm>
          <a:prstGeom prst="rect">
            <a:avLst/>
          </a:prstGeom>
          <a:noFill/>
        </p:spPr>
        <p:txBody>
          <a:bodyPr wrap="square" lIns="0" rIns="0" tIns="0" bIns="0" anchor="ctr">
            <a:spAutoFit/>
          </a:bodyPr>
          <a:lstStyle/>
          <a:p>
            <a:pPr algn="ctr">
              <a:lnSpc>
                <a:spcPct val="100000"/>
              </a:lnSpc>
              <a:spcBef>
                <a:spcPts val="0"/>
              </a:spcBef>
              <a:spcAft>
                <a:spcPts val="0"/>
              </a:spcAft>
            </a:pPr>
            <a:r>
              <a:rPr sz="1600" b="1" i="0">
                <a:solidFill>
                  <a:srgbClr val="14213D"/>
                </a:solidFill>
                <a:latin typeface="Aptos"/>
              </a:rPr>
              <a:t>1</a:t>
            </a:r>
          </a:p>
        </p:txBody>
      </p:sp>
      <p:sp>
        <p:nvSpPr>
          <p:cNvPr id="53" name="Oval 52"/>
          <p:cNvSpPr/>
          <p:nvPr/>
        </p:nvSpPr>
        <p:spPr>
          <a:xfrm>
            <a:off x="3576675" y="1247241"/>
            <a:ext cx="457200" cy="457200"/>
          </a:xfrm>
          <a:prstGeom prst="ellipse">
            <a:avLst/>
          </a:prstGeom>
          <a:solidFill>
            <a:srgbClr val="FFFFFF"/>
          </a:solidFill>
          <a:ln w="17780">
            <a:solidFill>
              <a:srgbClr val="142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622395" y="1320393"/>
            <a:ext cx="365760" cy="292608"/>
          </a:xfrm>
          <a:prstGeom prst="rect">
            <a:avLst/>
          </a:prstGeom>
          <a:noFill/>
        </p:spPr>
        <p:txBody>
          <a:bodyPr wrap="square" lIns="0" rIns="0" tIns="0" bIns="0" anchor="ctr">
            <a:spAutoFit/>
          </a:bodyPr>
          <a:lstStyle/>
          <a:p>
            <a:pPr algn="ctr">
              <a:lnSpc>
                <a:spcPct val="100000"/>
              </a:lnSpc>
              <a:spcBef>
                <a:spcPts val="0"/>
              </a:spcBef>
              <a:spcAft>
                <a:spcPts val="0"/>
              </a:spcAft>
            </a:pPr>
            <a:r>
              <a:rPr sz="1600" b="1" i="0">
                <a:solidFill>
                  <a:srgbClr val="14213D"/>
                </a:solidFill>
                <a:latin typeface="Aptos"/>
              </a:rPr>
              <a:t>2</a:t>
            </a:r>
          </a:p>
        </p:txBody>
      </p:sp>
      <p:sp>
        <p:nvSpPr>
          <p:cNvPr id="55" name="Oval 54"/>
          <p:cNvSpPr/>
          <p:nvPr/>
        </p:nvSpPr>
        <p:spPr>
          <a:xfrm>
            <a:off x="3797503" y="4495190"/>
            <a:ext cx="457200" cy="457200"/>
          </a:xfrm>
          <a:prstGeom prst="ellipse">
            <a:avLst/>
          </a:prstGeom>
          <a:solidFill>
            <a:srgbClr val="FFFFFF"/>
          </a:solidFill>
          <a:ln w="17780">
            <a:solidFill>
              <a:srgbClr val="142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3843223" y="4568342"/>
            <a:ext cx="365760" cy="292608"/>
          </a:xfrm>
          <a:prstGeom prst="rect">
            <a:avLst/>
          </a:prstGeom>
          <a:noFill/>
        </p:spPr>
        <p:txBody>
          <a:bodyPr wrap="square" lIns="0" rIns="0" tIns="0" bIns="0" anchor="ctr">
            <a:spAutoFit/>
          </a:bodyPr>
          <a:lstStyle/>
          <a:p>
            <a:pPr algn="ctr">
              <a:lnSpc>
                <a:spcPct val="100000"/>
              </a:lnSpc>
              <a:spcBef>
                <a:spcPts val="0"/>
              </a:spcBef>
              <a:spcAft>
                <a:spcPts val="0"/>
              </a:spcAft>
            </a:pPr>
            <a:r>
              <a:rPr sz="1600" b="1" i="0">
                <a:solidFill>
                  <a:srgbClr val="14213D"/>
                </a:solidFill>
                <a:latin typeface="Aptos"/>
              </a:rPr>
              <a:t>3</a:t>
            </a:r>
          </a:p>
        </p:txBody>
      </p:sp>
      <p:sp>
        <p:nvSpPr>
          <p:cNvPr id="57" name="Oval 56"/>
          <p:cNvSpPr/>
          <p:nvPr/>
        </p:nvSpPr>
        <p:spPr>
          <a:xfrm>
            <a:off x="5343296" y="1861718"/>
            <a:ext cx="457200" cy="457200"/>
          </a:xfrm>
          <a:prstGeom prst="ellipse">
            <a:avLst/>
          </a:prstGeom>
          <a:solidFill>
            <a:srgbClr val="FFFFFF"/>
          </a:solidFill>
          <a:ln w="17780">
            <a:solidFill>
              <a:srgbClr val="142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389016" y="1934870"/>
            <a:ext cx="365760" cy="292608"/>
          </a:xfrm>
          <a:prstGeom prst="rect">
            <a:avLst/>
          </a:prstGeom>
          <a:noFill/>
        </p:spPr>
        <p:txBody>
          <a:bodyPr wrap="square" lIns="0" rIns="0" tIns="0" bIns="0" anchor="ctr">
            <a:spAutoFit/>
          </a:bodyPr>
          <a:lstStyle/>
          <a:p>
            <a:pPr algn="ctr">
              <a:lnSpc>
                <a:spcPct val="100000"/>
              </a:lnSpc>
              <a:spcBef>
                <a:spcPts val="0"/>
              </a:spcBef>
              <a:spcAft>
                <a:spcPts val="0"/>
              </a:spcAft>
            </a:pPr>
            <a:r>
              <a:rPr sz="1600" b="1" i="0">
                <a:solidFill>
                  <a:srgbClr val="14213D"/>
                </a:solidFill>
                <a:latin typeface="Aptos"/>
              </a:rPr>
              <a:t>4</a:t>
            </a:r>
          </a:p>
        </p:txBody>
      </p:sp>
      <p:sp>
        <p:nvSpPr>
          <p:cNvPr id="59" name="Oval 58"/>
          <p:cNvSpPr/>
          <p:nvPr/>
        </p:nvSpPr>
        <p:spPr>
          <a:xfrm>
            <a:off x="6521043" y="4056278"/>
            <a:ext cx="457200" cy="457200"/>
          </a:xfrm>
          <a:prstGeom prst="ellipse">
            <a:avLst/>
          </a:prstGeom>
          <a:solidFill>
            <a:srgbClr val="FFFFFF"/>
          </a:solidFill>
          <a:ln w="17780">
            <a:solidFill>
              <a:srgbClr val="142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566763" y="4129430"/>
            <a:ext cx="365760" cy="292608"/>
          </a:xfrm>
          <a:prstGeom prst="rect">
            <a:avLst/>
          </a:prstGeom>
          <a:noFill/>
        </p:spPr>
        <p:txBody>
          <a:bodyPr wrap="square" lIns="0" rIns="0" tIns="0" bIns="0" anchor="ctr">
            <a:spAutoFit/>
          </a:bodyPr>
          <a:lstStyle/>
          <a:p>
            <a:pPr algn="ctr">
              <a:lnSpc>
                <a:spcPct val="100000"/>
              </a:lnSpc>
              <a:spcBef>
                <a:spcPts val="0"/>
              </a:spcBef>
              <a:spcAft>
                <a:spcPts val="0"/>
              </a:spcAft>
            </a:pPr>
            <a:r>
              <a:rPr sz="1600" b="1" i="0">
                <a:solidFill>
                  <a:srgbClr val="14213D"/>
                </a:solidFill>
                <a:latin typeface="Aptos"/>
              </a:rPr>
              <a:t>5</a:t>
            </a:r>
          </a:p>
        </p:txBody>
      </p:sp>
      <p:sp>
        <p:nvSpPr>
          <p:cNvPr id="61" name="Oval 60"/>
          <p:cNvSpPr/>
          <p:nvPr/>
        </p:nvSpPr>
        <p:spPr>
          <a:xfrm>
            <a:off x="7551572" y="3002889"/>
            <a:ext cx="457200" cy="457200"/>
          </a:xfrm>
          <a:prstGeom prst="ellipse">
            <a:avLst/>
          </a:prstGeom>
          <a:solidFill>
            <a:srgbClr val="2A9D8F"/>
          </a:solidFill>
          <a:ln w="17780">
            <a:solidFill>
              <a:srgbClr val="2A9D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597292" y="3076041"/>
            <a:ext cx="365760" cy="292608"/>
          </a:xfrm>
          <a:prstGeom prst="rect">
            <a:avLst/>
          </a:prstGeom>
          <a:noFill/>
        </p:spPr>
        <p:txBody>
          <a:bodyPr wrap="square" lIns="0" rIns="0" tIns="0" bIns="0" anchor="ctr">
            <a:spAutoFit/>
          </a:bodyPr>
          <a:lstStyle/>
          <a:p>
            <a:pPr algn="ctr">
              <a:lnSpc>
                <a:spcPct val="100000"/>
              </a:lnSpc>
              <a:spcBef>
                <a:spcPts val="0"/>
              </a:spcBef>
              <a:spcAft>
                <a:spcPts val="0"/>
              </a:spcAft>
            </a:pPr>
            <a:r>
              <a:rPr sz="1600" b="1" i="0">
                <a:solidFill>
                  <a:srgbClr val="FFFFFF"/>
                </a:solidFill>
                <a:latin typeface="Aptos"/>
              </a:rPr>
              <a:t>6</a:t>
            </a:r>
          </a:p>
        </p:txBody>
      </p:sp>
      <p:sp>
        <p:nvSpPr>
          <p:cNvPr id="63" name="Rounded Rectangle 62"/>
          <p:cNvSpPr/>
          <p:nvPr/>
        </p:nvSpPr>
        <p:spPr>
          <a:xfrm>
            <a:off x="621792" y="4328769"/>
            <a:ext cx="822960" cy="310896"/>
          </a:xfrm>
          <a:prstGeom prst="roundRect">
            <a:avLst/>
          </a:prstGeom>
          <a:solidFill>
            <a:srgbClr val="E7F2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58368" y="4347057"/>
            <a:ext cx="749808" cy="256032"/>
          </a:xfrm>
          <a:prstGeom prst="rect">
            <a:avLst/>
          </a:prstGeom>
          <a:noFill/>
        </p:spPr>
        <p:txBody>
          <a:bodyPr wrap="square" lIns="0" rIns="0" tIns="0" bIns="0" anchor="ctr">
            <a:spAutoFit/>
          </a:bodyPr>
          <a:lstStyle/>
          <a:p>
            <a:pPr algn="ctr">
              <a:lnSpc>
                <a:spcPct val="100000"/>
              </a:lnSpc>
              <a:spcBef>
                <a:spcPts val="0"/>
              </a:spcBef>
              <a:spcAft>
                <a:spcPts val="0"/>
              </a:spcAft>
            </a:pPr>
            <a:r>
              <a:rPr sz="1100" b="1" i="0">
                <a:solidFill>
                  <a:srgbClr val="20639B"/>
                </a:solidFill>
                <a:latin typeface="Aptos"/>
              </a:rPr>
              <a:t>source 0</a:t>
            </a:r>
          </a:p>
        </p:txBody>
      </p:sp>
      <p:sp>
        <p:nvSpPr>
          <p:cNvPr id="65" name="Rounded Rectangle 64"/>
          <p:cNvSpPr/>
          <p:nvPr/>
        </p:nvSpPr>
        <p:spPr>
          <a:xfrm>
            <a:off x="6970471" y="3802075"/>
            <a:ext cx="877824" cy="310896"/>
          </a:xfrm>
          <a:prstGeom prst="roundRect">
            <a:avLst/>
          </a:prstGeom>
          <a:solidFill>
            <a:srgbClr val="E4F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7007047" y="3820363"/>
            <a:ext cx="804672" cy="256032"/>
          </a:xfrm>
          <a:prstGeom prst="rect">
            <a:avLst/>
          </a:prstGeom>
          <a:noFill/>
        </p:spPr>
        <p:txBody>
          <a:bodyPr wrap="square" lIns="0" rIns="0" tIns="0" bIns="0" anchor="ctr">
            <a:spAutoFit/>
          </a:bodyPr>
          <a:lstStyle/>
          <a:p>
            <a:pPr algn="ctr">
              <a:lnSpc>
                <a:spcPct val="100000"/>
              </a:lnSpc>
              <a:spcBef>
                <a:spcPts val="0"/>
              </a:spcBef>
              <a:spcAft>
                <a:spcPts val="0"/>
              </a:spcAft>
            </a:pPr>
            <a:r>
              <a:rPr sz="1100" b="1" i="0">
                <a:solidFill>
                  <a:srgbClr val="2A9D8F"/>
                </a:solidFill>
                <a:latin typeface="Aptos"/>
              </a:rPr>
              <a:t>target 6</a:t>
            </a:r>
          </a:p>
        </p:txBody>
      </p:sp>
      <p:sp>
        <p:nvSpPr>
          <p:cNvPr id="67" name="Rounded Rectangle 66"/>
          <p:cNvSpPr/>
          <p:nvPr/>
        </p:nvSpPr>
        <p:spPr>
          <a:xfrm>
            <a:off x="8394192" y="1188720"/>
            <a:ext cx="3154680" cy="941832"/>
          </a:xfrm>
          <a:prstGeom prst="roundRect">
            <a:avLst/>
          </a:prstGeom>
          <a:solidFill>
            <a:srgbClr val="FFFFFF"/>
          </a:solidFill>
          <a:ln w="10160">
            <a:solidFill>
              <a:srgbClr val="E7E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8394192" y="1188720"/>
            <a:ext cx="50292" cy="941832"/>
          </a:xfrm>
          <a:prstGeom prst="rect">
            <a:avLst/>
          </a:prstGeom>
          <a:solidFill>
            <a:srgbClr val="2063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8558784" y="1280160"/>
            <a:ext cx="2862072" cy="182880"/>
          </a:xfrm>
          <a:prstGeom prst="rect">
            <a:avLst/>
          </a:prstGeom>
          <a:noFill/>
        </p:spPr>
        <p:txBody>
          <a:bodyPr wrap="square" lIns="0" rIns="0" tIns="0" bIns="0" anchor="t">
            <a:spAutoFit/>
          </a:bodyPr>
          <a:lstStyle/>
          <a:p>
            <a:pPr algn="l">
              <a:lnSpc>
                <a:spcPct val="100000"/>
              </a:lnSpc>
              <a:spcBef>
                <a:spcPts val="0"/>
              </a:spcBef>
              <a:spcAft>
                <a:spcPts val="0"/>
              </a:spcAft>
            </a:pPr>
            <a:r>
              <a:rPr sz="950" b="1" i="0">
                <a:solidFill>
                  <a:srgbClr val="617087"/>
                </a:solidFill>
                <a:latin typeface="Aptos"/>
              </a:rPr>
              <a:t>DIRECTED GRAPH</a:t>
            </a:r>
          </a:p>
        </p:txBody>
      </p:sp>
      <p:sp>
        <p:nvSpPr>
          <p:cNvPr id="70" name="TextBox 69"/>
          <p:cNvSpPr txBox="1"/>
          <p:nvPr/>
        </p:nvSpPr>
        <p:spPr>
          <a:xfrm>
            <a:off x="8558784" y="1499616"/>
            <a:ext cx="2862072" cy="320040"/>
          </a:xfrm>
          <a:prstGeom prst="rect">
            <a:avLst/>
          </a:prstGeom>
          <a:noFill/>
        </p:spPr>
        <p:txBody>
          <a:bodyPr wrap="square" lIns="0" rIns="0" tIns="0" bIns="0" anchor="t">
            <a:spAutoFit/>
          </a:bodyPr>
          <a:lstStyle/>
          <a:p>
            <a:pPr algn="l">
              <a:lnSpc>
                <a:spcPct val="100000"/>
              </a:lnSpc>
              <a:spcBef>
                <a:spcPts val="0"/>
              </a:spcBef>
              <a:spcAft>
                <a:spcPts val="0"/>
              </a:spcAft>
            </a:pPr>
            <a:r>
              <a:rPr sz="1950" b="1" i="0">
                <a:solidFill>
                  <a:srgbClr val="14213D"/>
                </a:solidFill>
                <a:latin typeface="Aptos"/>
              </a:rPr>
              <a:t>7 nodes · 14 edges</a:t>
            </a:r>
          </a:p>
        </p:txBody>
      </p:sp>
      <p:sp>
        <p:nvSpPr>
          <p:cNvPr id="71" name="TextBox 70"/>
          <p:cNvSpPr txBox="1"/>
          <p:nvPr/>
        </p:nvSpPr>
        <p:spPr>
          <a:xfrm>
            <a:off x="8558784" y="1929384"/>
            <a:ext cx="2862072" cy="128016"/>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617087"/>
                </a:solidFill>
                <a:latin typeface="Aptos"/>
              </a:rPr>
              <a:t>source 0 → target 6</a:t>
            </a:r>
          </a:p>
        </p:txBody>
      </p:sp>
      <p:sp>
        <p:nvSpPr>
          <p:cNvPr id="72" name="Rounded Rectangle 71"/>
          <p:cNvSpPr/>
          <p:nvPr/>
        </p:nvSpPr>
        <p:spPr>
          <a:xfrm>
            <a:off x="8394192" y="2304288"/>
            <a:ext cx="3154680" cy="941832"/>
          </a:xfrm>
          <a:prstGeom prst="roundRect">
            <a:avLst/>
          </a:prstGeom>
          <a:solidFill>
            <a:srgbClr val="FFFFFF"/>
          </a:solidFill>
          <a:ln w="10160">
            <a:solidFill>
              <a:srgbClr val="E7E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8394192" y="2304288"/>
            <a:ext cx="50292" cy="941832"/>
          </a:xfrm>
          <a:prstGeom prst="rect">
            <a:avLst/>
          </a:prstGeom>
          <a:solidFill>
            <a:srgbClr val="D14D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8558784" y="2395728"/>
            <a:ext cx="2862072" cy="182880"/>
          </a:xfrm>
          <a:prstGeom prst="rect">
            <a:avLst/>
          </a:prstGeom>
          <a:noFill/>
        </p:spPr>
        <p:txBody>
          <a:bodyPr wrap="square" lIns="0" rIns="0" tIns="0" bIns="0" anchor="t">
            <a:spAutoFit/>
          </a:bodyPr>
          <a:lstStyle/>
          <a:p>
            <a:pPr algn="l">
              <a:lnSpc>
                <a:spcPct val="100000"/>
              </a:lnSpc>
              <a:spcBef>
                <a:spcPts val="0"/>
              </a:spcBef>
              <a:spcAft>
                <a:spcPts val="0"/>
              </a:spcAft>
            </a:pPr>
            <a:r>
              <a:rPr sz="950" b="1" i="0">
                <a:solidFill>
                  <a:srgbClr val="617087"/>
                </a:solidFill>
                <a:latin typeface="Aptos"/>
              </a:rPr>
              <a:t>BINARY SEARCH SPACE</a:t>
            </a:r>
          </a:p>
        </p:txBody>
      </p:sp>
      <p:sp>
        <p:nvSpPr>
          <p:cNvPr id="75" name="TextBox 74"/>
          <p:cNvSpPr txBox="1"/>
          <p:nvPr/>
        </p:nvSpPr>
        <p:spPr>
          <a:xfrm>
            <a:off x="8558784" y="2615184"/>
            <a:ext cx="2862072" cy="320040"/>
          </a:xfrm>
          <a:prstGeom prst="rect">
            <a:avLst/>
          </a:prstGeom>
          <a:noFill/>
        </p:spPr>
        <p:txBody>
          <a:bodyPr wrap="square" lIns="0" rIns="0" tIns="0" bIns="0" anchor="t">
            <a:spAutoFit/>
          </a:bodyPr>
          <a:lstStyle/>
          <a:p>
            <a:pPr algn="l">
              <a:lnSpc>
                <a:spcPct val="100000"/>
              </a:lnSpc>
              <a:spcBef>
                <a:spcPts val="0"/>
              </a:spcBef>
              <a:spcAft>
                <a:spcPts val="0"/>
              </a:spcAft>
            </a:pPr>
            <a:r>
              <a:rPr sz="1950" b="1" i="0">
                <a:solidFill>
                  <a:srgbClr val="14213D"/>
                </a:solidFill>
                <a:latin typeface="Aptos"/>
              </a:rPr>
              <a:t>2¹⁴ = 16,384</a:t>
            </a:r>
          </a:p>
        </p:txBody>
      </p:sp>
      <p:sp>
        <p:nvSpPr>
          <p:cNvPr id="76" name="TextBox 75"/>
          <p:cNvSpPr txBox="1"/>
          <p:nvPr/>
        </p:nvSpPr>
        <p:spPr>
          <a:xfrm>
            <a:off x="8558784" y="3044951"/>
            <a:ext cx="2862072" cy="128016"/>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617087"/>
                </a:solidFill>
                <a:latin typeface="Aptos"/>
              </a:rPr>
              <a:t>one bit per directed edge</a:t>
            </a:r>
          </a:p>
        </p:txBody>
      </p:sp>
      <p:sp>
        <p:nvSpPr>
          <p:cNvPr id="77" name="Rounded Rectangle 76"/>
          <p:cNvSpPr/>
          <p:nvPr/>
        </p:nvSpPr>
        <p:spPr>
          <a:xfrm>
            <a:off x="8394192" y="3419856"/>
            <a:ext cx="3154680" cy="941832"/>
          </a:xfrm>
          <a:prstGeom prst="roundRect">
            <a:avLst/>
          </a:prstGeom>
          <a:solidFill>
            <a:srgbClr val="FFFFFF"/>
          </a:solidFill>
          <a:ln w="10160">
            <a:solidFill>
              <a:srgbClr val="E7E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8394192" y="3419856"/>
            <a:ext cx="50292" cy="941832"/>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8558784" y="3511296"/>
            <a:ext cx="2862072" cy="182880"/>
          </a:xfrm>
          <a:prstGeom prst="rect">
            <a:avLst/>
          </a:prstGeom>
          <a:noFill/>
        </p:spPr>
        <p:txBody>
          <a:bodyPr wrap="square" lIns="0" rIns="0" tIns="0" bIns="0" anchor="t">
            <a:spAutoFit/>
          </a:bodyPr>
          <a:lstStyle/>
          <a:p>
            <a:pPr algn="l">
              <a:lnSpc>
                <a:spcPct val="100000"/>
              </a:lnSpc>
              <a:spcBef>
                <a:spcPts val="0"/>
              </a:spcBef>
              <a:spcAft>
                <a:spcPts val="0"/>
              </a:spcAft>
            </a:pPr>
            <a:r>
              <a:rPr sz="950" b="1" i="0">
                <a:solidFill>
                  <a:srgbClr val="617087"/>
                </a:solidFill>
                <a:latin typeface="Aptos"/>
              </a:rPr>
              <a:t>VALID DECODED ROUTES</a:t>
            </a:r>
          </a:p>
        </p:txBody>
      </p:sp>
      <p:sp>
        <p:nvSpPr>
          <p:cNvPr id="80" name="TextBox 79"/>
          <p:cNvSpPr txBox="1"/>
          <p:nvPr/>
        </p:nvSpPr>
        <p:spPr>
          <a:xfrm>
            <a:off x="8558784" y="3730752"/>
            <a:ext cx="2862072" cy="320040"/>
          </a:xfrm>
          <a:prstGeom prst="rect">
            <a:avLst/>
          </a:prstGeom>
          <a:noFill/>
        </p:spPr>
        <p:txBody>
          <a:bodyPr wrap="square" lIns="0" rIns="0" tIns="0" bIns="0" anchor="t">
            <a:spAutoFit/>
          </a:bodyPr>
          <a:lstStyle/>
          <a:p>
            <a:pPr algn="l">
              <a:lnSpc>
                <a:spcPct val="100000"/>
              </a:lnSpc>
              <a:spcBef>
                <a:spcPts val="0"/>
              </a:spcBef>
              <a:spcAft>
                <a:spcPts val="0"/>
              </a:spcAft>
            </a:pPr>
            <a:r>
              <a:rPr sz="1950" b="1" i="0">
                <a:solidFill>
                  <a:srgbClr val="14213D"/>
                </a:solidFill>
                <a:latin typeface="Aptos"/>
              </a:rPr>
              <a:t>20 bitstrings</a:t>
            </a:r>
          </a:p>
        </p:txBody>
      </p:sp>
      <p:sp>
        <p:nvSpPr>
          <p:cNvPr id="81" name="TextBox 80"/>
          <p:cNvSpPr txBox="1"/>
          <p:nvPr/>
        </p:nvSpPr>
        <p:spPr>
          <a:xfrm>
            <a:off x="8558784" y="4160520"/>
            <a:ext cx="2862072" cy="128016"/>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617087"/>
                </a:solidFill>
                <a:latin typeface="Aptos"/>
              </a:rPr>
              <a:t>only 0.122% of the space</a:t>
            </a:r>
          </a:p>
        </p:txBody>
      </p:sp>
      <p:sp>
        <p:nvSpPr>
          <p:cNvPr id="82" name="Rounded Rectangle 81"/>
          <p:cNvSpPr/>
          <p:nvPr/>
        </p:nvSpPr>
        <p:spPr>
          <a:xfrm>
            <a:off x="8211312" y="4645152"/>
            <a:ext cx="3493008" cy="1225296"/>
          </a:xfrm>
          <a:prstGeom prst="round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8439912" y="4828032"/>
            <a:ext cx="3035808" cy="237744"/>
          </a:xfrm>
          <a:prstGeom prst="rect">
            <a:avLst/>
          </a:prstGeom>
          <a:noFill/>
        </p:spPr>
        <p:txBody>
          <a:bodyPr wrap="square" lIns="0" rIns="0" tIns="0" bIns="0" anchor="t">
            <a:spAutoFit/>
          </a:bodyPr>
          <a:lstStyle/>
          <a:p>
            <a:pPr algn="l">
              <a:lnSpc>
                <a:spcPct val="100000"/>
              </a:lnSpc>
              <a:spcBef>
                <a:spcPts val="0"/>
              </a:spcBef>
              <a:spcAft>
                <a:spcPts val="0"/>
              </a:spcAft>
            </a:pPr>
            <a:r>
              <a:rPr sz="1100" b="1" i="0">
                <a:solidFill>
                  <a:srgbClr val="E9B949"/>
                </a:solidFill>
                <a:latin typeface="Aptos"/>
              </a:rPr>
              <a:t>UNIQUE OPTIMUM</a:t>
            </a:r>
          </a:p>
        </p:txBody>
      </p:sp>
      <p:sp>
        <p:nvSpPr>
          <p:cNvPr id="84" name="TextBox 83"/>
          <p:cNvSpPr txBox="1"/>
          <p:nvPr/>
        </p:nvSpPr>
        <p:spPr>
          <a:xfrm>
            <a:off x="8439912" y="5129784"/>
            <a:ext cx="3035808" cy="310896"/>
          </a:xfrm>
          <a:prstGeom prst="rect">
            <a:avLst/>
          </a:prstGeom>
          <a:noFill/>
        </p:spPr>
        <p:txBody>
          <a:bodyPr wrap="square" lIns="0" rIns="0" tIns="0" bIns="0" anchor="t">
            <a:spAutoFit/>
          </a:bodyPr>
          <a:lstStyle/>
          <a:p>
            <a:pPr algn="ctr">
              <a:lnSpc>
                <a:spcPct val="100000"/>
              </a:lnSpc>
              <a:spcBef>
                <a:spcPts val="0"/>
              </a:spcBef>
              <a:spcAft>
                <a:spcPts val="0"/>
              </a:spcAft>
            </a:pPr>
            <a:r>
              <a:rPr sz="1800" b="1" i="0">
                <a:solidFill>
                  <a:srgbClr val="FFFFFF"/>
                </a:solidFill>
                <a:latin typeface="Aptos"/>
              </a:rPr>
              <a:t>0 → 1 → 2 → 4 → 5 → 6</a:t>
            </a:r>
          </a:p>
        </p:txBody>
      </p:sp>
      <p:sp>
        <p:nvSpPr>
          <p:cNvPr id="85" name="TextBox 84"/>
          <p:cNvSpPr txBox="1"/>
          <p:nvPr/>
        </p:nvSpPr>
        <p:spPr>
          <a:xfrm>
            <a:off x="8439912" y="5504688"/>
            <a:ext cx="3035808" cy="219456"/>
          </a:xfrm>
          <a:prstGeom prst="rect">
            <a:avLst/>
          </a:prstGeom>
          <a:noFill/>
        </p:spPr>
        <p:txBody>
          <a:bodyPr wrap="square" lIns="0" rIns="0" tIns="0" bIns="0" anchor="t">
            <a:spAutoFit/>
          </a:bodyPr>
          <a:lstStyle/>
          <a:p>
            <a:pPr algn="ctr">
              <a:lnSpc>
                <a:spcPct val="100000"/>
              </a:lnSpc>
              <a:spcBef>
                <a:spcPts val="0"/>
              </a:spcBef>
              <a:spcAft>
                <a:spcPts val="0"/>
              </a:spcAft>
            </a:pPr>
            <a:r>
              <a:rPr sz="1400" b="0" i="0">
                <a:solidFill>
                  <a:srgbClr val="FFFFFF"/>
                </a:solidFill>
                <a:latin typeface="Aptos"/>
              </a:rPr>
              <a:t>routing cost = 10</a:t>
            </a:r>
          </a:p>
        </p:txBody>
      </p:sp>
      <p:sp>
        <p:nvSpPr>
          <p:cNvPr id="86" name="TextBox 85"/>
          <p:cNvSpPr txBox="1"/>
          <p:nvPr/>
        </p:nvSpPr>
        <p:spPr>
          <a:xfrm>
            <a:off x="676656" y="5742432"/>
            <a:ext cx="7269480" cy="475488"/>
          </a:xfrm>
          <a:prstGeom prst="rect">
            <a:avLst/>
          </a:prstGeom>
          <a:noFill/>
        </p:spPr>
        <p:txBody>
          <a:bodyPr wrap="square" lIns="0" rIns="0" tIns="0" bIns="0" anchor="t">
            <a:spAutoFit/>
          </a:bodyPr>
          <a:lstStyle/>
          <a:p>
            <a:pPr algn="l">
              <a:lnSpc>
                <a:spcPct val="100000"/>
              </a:lnSpc>
              <a:spcBef>
                <a:spcPts val="0"/>
              </a:spcBef>
              <a:spcAft>
                <a:spcPts val="0"/>
              </a:spcAft>
            </a:pPr>
            <a:r>
              <a:rPr sz="1600" b="0" i="0">
                <a:solidFill>
                  <a:srgbClr val="24324A"/>
                </a:solidFill>
                <a:latin typeface="Aptos"/>
              </a:rPr>
              <a:t>A valid route sends exactly one unit of directed flow from source to target.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548640" y="292608"/>
            <a:ext cx="11064240" cy="530352"/>
          </a:xfrm>
          <a:prstGeom prst="rect">
            <a:avLst/>
          </a:prstGeom>
          <a:noFill/>
        </p:spPr>
        <p:txBody>
          <a:bodyPr wrap="square" lIns="0" rIns="0" tIns="0" bIns="0" anchor="t">
            <a:spAutoFit/>
          </a:bodyPr>
          <a:lstStyle/>
          <a:p>
            <a:pPr algn="l">
              <a:lnSpc>
                <a:spcPct val="100000"/>
              </a:lnSpc>
              <a:spcBef>
                <a:spcPts val="0"/>
              </a:spcBef>
              <a:spcAft>
                <a:spcPts val="0"/>
              </a:spcAft>
            </a:pPr>
            <a:r>
              <a:rPr sz="2900" b="1" i="0">
                <a:solidFill>
                  <a:srgbClr val="14213D"/>
                </a:solidFill>
                <a:latin typeface="Aptos"/>
              </a:rPr>
              <a:t>From edges to a routing QUBO</a:t>
            </a:r>
          </a:p>
        </p:txBody>
      </p:sp>
      <p:sp>
        <p:nvSpPr>
          <p:cNvPr id="3" name="Rectangle 2"/>
          <p:cNvSpPr/>
          <p:nvPr/>
        </p:nvSpPr>
        <p:spPr>
          <a:xfrm>
            <a:off x="548640" y="896112"/>
            <a:ext cx="658368" cy="41148"/>
          </a:xfrm>
          <a:prstGeom prst="rect">
            <a:avLst/>
          </a:prstGeom>
          <a:solidFill>
            <a:srgbClr val="2063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a:off x="502920" y="6528816"/>
            <a:ext cx="11183112" cy="0"/>
          </a:xfrm>
          <a:prstGeom prst="line">
            <a:avLst/>
          </a:prstGeom>
          <a:ln w="8890">
            <a:solidFill>
              <a:srgbClr val="E7ECF3"/>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30352" y="6574536"/>
            <a:ext cx="2194560" cy="164592"/>
          </a:xfrm>
          <a:prstGeom prst="rect">
            <a:avLst/>
          </a:prstGeom>
          <a:noFill/>
        </p:spPr>
        <p:txBody>
          <a:bodyPr wrap="square" lIns="0" rIns="0" tIns="0" bIns="0" anchor="t">
            <a:spAutoFit/>
          </a:bodyPr>
          <a:lstStyle/>
          <a:p>
            <a:pPr algn="l">
              <a:lnSpc>
                <a:spcPct val="100000"/>
              </a:lnSpc>
              <a:spcBef>
                <a:spcPts val="0"/>
              </a:spcBef>
              <a:spcAft>
                <a:spcPts val="0"/>
              </a:spcAft>
            </a:pPr>
            <a:r>
              <a:rPr sz="950" b="1" i="0">
                <a:solidFill>
                  <a:srgbClr val="617087"/>
                </a:solidFill>
                <a:latin typeface="Aptos"/>
              </a:rPr>
              <a:t>ENCODING</a:t>
            </a:r>
          </a:p>
        </p:txBody>
      </p:sp>
      <p:sp>
        <p:nvSpPr>
          <p:cNvPr id="6" name="TextBox 5"/>
          <p:cNvSpPr txBox="1"/>
          <p:nvPr/>
        </p:nvSpPr>
        <p:spPr>
          <a:xfrm>
            <a:off x="11173968" y="6556248"/>
            <a:ext cx="457200" cy="182880"/>
          </a:xfrm>
          <a:prstGeom prst="rect">
            <a:avLst/>
          </a:prstGeom>
          <a:noFill/>
        </p:spPr>
        <p:txBody>
          <a:bodyPr wrap="square" lIns="0" rIns="0" tIns="0" bIns="0" anchor="t">
            <a:spAutoFit/>
          </a:bodyPr>
          <a:lstStyle/>
          <a:p>
            <a:pPr algn="r">
              <a:lnSpc>
                <a:spcPct val="100000"/>
              </a:lnSpc>
              <a:spcBef>
                <a:spcPts val="0"/>
              </a:spcBef>
              <a:spcAft>
                <a:spcPts val="0"/>
              </a:spcAft>
            </a:pPr>
            <a:r>
              <a:rPr sz="1000" b="1" i="0">
                <a:solidFill>
                  <a:srgbClr val="617087"/>
                </a:solidFill>
                <a:latin typeface="Aptos"/>
              </a:rPr>
              <a:t>3</a:t>
            </a:r>
          </a:p>
        </p:txBody>
      </p:sp>
      <p:sp>
        <p:nvSpPr>
          <p:cNvPr id="7" name="Rounded Rectangle 6"/>
          <p:cNvSpPr/>
          <p:nvPr/>
        </p:nvSpPr>
        <p:spPr>
          <a:xfrm>
            <a:off x="685800" y="1115568"/>
            <a:ext cx="2212848" cy="310896"/>
          </a:xfrm>
          <a:prstGeom prst="roundRect">
            <a:avLst/>
          </a:prstGeom>
          <a:solidFill>
            <a:srgbClr val="E7F2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22376" y="1133856"/>
            <a:ext cx="2139696" cy="256032"/>
          </a:xfrm>
          <a:prstGeom prst="rect">
            <a:avLst/>
          </a:prstGeom>
          <a:noFill/>
        </p:spPr>
        <p:txBody>
          <a:bodyPr wrap="square" lIns="0" rIns="0" tIns="0" bIns="0" anchor="ctr">
            <a:spAutoFit/>
          </a:bodyPr>
          <a:lstStyle/>
          <a:p>
            <a:pPr algn="ctr">
              <a:lnSpc>
                <a:spcPct val="100000"/>
              </a:lnSpc>
              <a:spcBef>
                <a:spcPts val="0"/>
              </a:spcBef>
              <a:spcAft>
                <a:spcPts val="0"/>
              </a:spcAft>
            </a:pPr>
            <a:r>
              <a:rPr sz="1200" b="1" i="0">
                <a:solidFill>
                  <a:srgbClr val="20639B"/>
                </a:solidFill>
                <a:latin typeface="Aptos"/>
              </a:rPr>
              <a:t>one directed edge → one bit</a:t>
            </a:r>
          </a:p>
        </p:txBody>
      </p:sp>
      <p:sp>
        <p:nvSpPr>
          <p:cNvPr id="9" name="TextBox 8"/>
          <p:cNvSpPr txBox="1"/>
          <p:nvPr/>
        </p:nvSpPr>
        <p:spPr>
          <a:xfrm>
            <a:off x="749808" y="1609344"/>
            <a:ext cx="3090672" cy="640080"/>
          </a:xfrm>
          <a:prstGeom prst="rect">
            <a:avLst/>
          </a:prstGeom>
          <a:noFill/>
        </p:spPr>
        <p:txBody>
          <a:bodyPr wrap="square" lIns="0" rIns="0" tIns="0" bIns="0" anchor="t">
            <a:spAutoFit/>
          </a:bodyPr>
          <a:lstStyle/>
          <a:p>
            <a:pPr algn="l">
              <a:lnSpc>
                <a:spcPct val="100000"/>
              </a:lnSpc>
              <a:spcBef>
                <a:spcPts val="0"/>
              </a:spcBef>
              <a:spcAft>
                <a:spcPts val="0"/>
              </a:spcAft>
            </a:pPr>
            <a:r>
              <a:rPr sz="1600" b="0" i="0">
                <a:solidFill>
                  <a:srgbClr val="24324A"/>
                </a:solidFill>
                <a:latin typeface="Aptos Mono"/>
              </a:rPr>
              <a:t>x_e = 1  selected
x_e = 0  not selected</a:t>
            </a:r>
          </a:p>
        </p:txBody>
      </p:sp>
      <p:pic>
        <p:nvPicPr>
          <p:cNvPr id="10" name="Picture 9" descr="eq_routing_cost.png"/>
          <p:cNvPicPr>
            <a:picLocks noChangeAspect="1"/>
          </p:cNvPicPr>
          <p:nvPr/>
        </p:nvPicPr>
        <p:blipFill>
          <a:blip r:embed="rId2"/>
          <a:stretch>
            <a:fillRect/>
          </a:stretch>
        </p:blipFill>
        <p:spPr>
          <a:xfrm>
            <a:off x="841248" y="2340864"/>
            <a:ext cx="2834640" cy="603504"/>
          </a:xfrm>
          <a:prstGeom prst="rect">
            <a:avLst/>
          </a:prstGeom>
        </p:spPr>
      </p:pic>
      <p:sp>
        <p:nvSpPr>
          <p:cNvPr id="11" name="Rounded Rectangle 10"/>
          <p:cNvSpPr/>
          <p:nvPr/>
        </p:nvSpPr>
        <p:spPr>
          <a:xfrm>
            <a:off x="4041648" y="1115568"/>
            <a:ext cx="3767328" cy="3227832"/>
          </a:xfrm>
          <a:prstGeom prst="roundRect">
            <a:avLst/>
          </a:prstGeom>
          <a:solidFill>
            <a:srgbClr val="FFFFFF"/>
          </a:solidFill>
          <a:ln w="10160">
            <a:solidFill>
              <a:srgbClr val="E7E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79392" y="1353312"/>
            <a:ext cx="3291840" cy="274320"/>
          </a:xfrm>
          <a:prstGeom prst="rect">
            <a:avLst/>
          </a:prstGeom>
          <a:noFill/>
        </p:spPr>
        <p:txBody>
          <a:bodyPr wrap="square" lIns="0" rIns="0" tIns="0" bIns="0" anchor="t">
            <a:spAutoFit/>
          </a:bodyPr>
          <a:lstStyle/>
          <a:p>
            <a:pPr algn="ctr">
              <a:lnSpc>
                <a:spcPct val="100000"/>
              </a:lnSpc>
              <a:spcBef>
                <a:spcPts val="0"/>
              </a:spcBef>
              <a:spcAft>
                <a:spcPts val="0"/>
              </a:spcAft>
            </a:pPr>
            <a:r>
              <a:rPr sz="1200" b="1" i="0">
                <a:solidFill>
                  <a:srgbClr val="2A9D8F"/>
                </a:solidFill>
                <a:latin typeface="Aptos"/>
              </a:rPr>
              <a:t>DIRECTED FLOW BALANCE</a:t>
            </a:r>
          </a:p>
        </p:txBody>
      </p:sp>
      <p:pic>
        <p:nvPicPr>
          <p:cNvPr id="13" name="Picture 12" descr="eq_flow_balance.png"/>
          <p:cNvPicPr>
            <a:picLocks noChangeAspect="1"/>
          </p:cNvPicPr>
          <p:nvPr/>
        </p:nvPicPr>
        <p:blipFill>
          <a:blip r:embed="rId3"/>
          <a:stretch>
            <a:fillRect/>
          </a:stretch>
        </p:blipFill>
        <p:spPr>
          <a:xfrm>
            <a:off x="4334256" y="1792224"/>
            <a:ext cx="3163824" cy="640080"/>
          </a:xfrm>
          <a:prstGeom prst="rect">
            <a:avLst/>
          </a:prstGeom>
        </p:spPr>
      </p:pic>
      <p:sp>
        <p:nvSpPr>
          <p:cNvPr id="14" name="TextBox 13"/>
          <p:cNvSpPr txBox="1"/>
          <p:nvPr/>
        </p:nvSpPr>
        <p:spPr>
          <a:xfrm>
            <a:off x="4379976" y="2596896"/>
            <a:ext cx="3063240" cy="1216152"/>
          </a:xfrm>
          <a:prstGeom prst="rect">
            <a:avLst/>
          </a:prstGeom>
          <a:noFill/>
        </p:spPr>
        <p:txBody>
          <a:bodyPr wrap="square" lIns="0" rIns="0" tIns="0" bIns="0" anchor="t">
            <a:spAutoFit/>
          </a:bodyPr>
          <a:lstStyle/>
          <a:p>
            <a:pPr algn="l">
              <a:lnSpc>
                <a:spcPct val="100000"/>
              </a:lnSpc>
              <a:spcBef>
                <a:spcPts val="0"/>
              </a:spcBef>
              <a:spcAft>
                <a:spcPts val="0"/>
              </a:spcAft>
            </a:pPr>
            <a:r>
              <a:rPr sz="1700" b="0" i="0">
                <a:solidFill>
                  <a:srgbClr val="24324A"/>
                </a:solidFill>
                <a:latin typeface="Aptos Mono"/>
              </a:rPr>
              <a:t>b_v = +1   source
b_v = 0    intermediate
b_v = -1   target</a:t>
            </a:r>
          </a:p>
        </p:txBody>
      </p:sp>
      <p:sp>
        <p:nvSpPr>
          <p:cNvPr id="15" name="Rounded Rectangle 14"/>
          <p:cNvSpPr/>
          <p:nvPr/>
        </p:nvSpPr>
        <p:spPr>
          <a:xfrm>
            <a:off x="8028431" y="1115568"/>
            <a:ext cx="3529584" cy="3227832"/>
          </a:xfrm>
          <a:prstGeom prst="roundRect">
            <a:avLst/>
          </a:prstGeom>
          <a:solidFill>
            <a:srgbClr val="FFFFFF"/>
          </a:solidFill>
          <a:ln w="10160">
            <a:solidFill>
              <a:srgbClr val="E7E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66175" y="1353312"/>
            <a:ext cx="3054096" cy="274320"/>
          </a:xfrm>
          <a:prstGeom prst="rect">
            <a:avLst/>
          </a:prstGeom>
          <a:noFill/>
        </p:spPr>
        <p:txBody>
          <a:bodyPr wrap="square" lIns="0" rIns="0" tIns="0" bIns="0" anchor="t">
            <a:spAutoFit/>
          </a:bodyPr>
          <a:lstStyle/>
          <a:p>
            <a:pPr algn="ctr">
              <a:lnSpc>
                <a:spcPct val="100000"/>
              </a:lnSpc>
              <a:spcBef>
                <a:spcPts val="0"/>
              </a:spcBef>
              <a:spcAft>
                <a:spcPts val="0"/>
              </a:spcAft>
            </a:pPr>
            <a:r>
              <a:rPr sz="1200" b="1" i="0">
                <a:solidFill>
                  <a:srgbClr val="D14D5A"/>
                </a:solidFill>
                <a:latin typeface="Aptos"/>
              </a:rPr>
              <a:t>SQUARE THE RESIDUAL</a:t>
            </a:r>
          </a:p>
        </p:txBody>
      </p:sp>
      <p:pic>
        <p:nvPicPr>
          <p:cNvPr id="17" name="Picture 16" descr="eq_flow_penalty.png"/>
          <p:cNvPicPr>
            <a:picLocks noChangeAspect="1"/>
          </p:cNvPicPr>
          <p:nvPr/>
        </p:nvPicPr>
        <p:blipFill>
          <a:blip r:embed="rId4"/>
          <a:stretch>
            <a:fillRect/>
          </a:stretch>
        </p:blipFill>
        <p:spPr>
          <a:xfrm>
            <a:off x="8247888" y="1755648"/>
            <a:ext cx="3108960" cy="960120"/>
          </a:xfrm>
          <a:prstGeom prst="rect">
            <a:avLst/>
          </a:prstGeom>
        </p:spPr>
      </p:pic>
      <p:pic>
        <p:nvPicPr>
          <p:cNvPr id="18" name="Picture 17" descr="eq_final_qubo.png"/>
          <p:cNvPicPr>
            <a:picLocks noChangeAspect="1"/>
          </p:cNvPicPr>
          <p:nvPr/>
        </p:nvPicPr>
        <p:blipFill>
          <a:blip r:embed="rId5"/>
          <a:stretch>
            <a:fillRect/>
          </a:stretch>
        </p:blipFill>
        <p:spPr>
          <a:xfrm>
            <a:off x="8348472" y="2971800"/>
            <a:ext cx="2926080" cy="658368"/>
          </a:xfrm>
          <a:prstGeom prst="rect">
            <a:avLst/>
          </a:prstGeom>
        </p:spPr>
      </p:pic>
      <p:sp>
        <p:nvSpPr>
          <p:cNvPr id="19" name="TextBox 18"/>
          <p:cNvSpPr txBox="1"/>
          <p:nvPr/>
        </p:nvSpPr>
        <p:spPr>
          <a:xfrm>
            <a:off x="8321040" y="3721608"/>
            <a:ext cx="2944368" cy="256032"/>
          </a:xfrm>
          <a:prstGeom prst="rect">
            <a:avLst/>
          </a:prstGeom>
          <a:noFill/>
        </p:spPr>
        <p:txBody>
          <a:bodyPr wrap="square" lIns="0" rIns="0" tIns="0" bIns="0" anchor="t">
            <a:spAutoFit/>
          </a:bodyPr>
          <a:lstStyle/>
          <a:p>
            <a:pPr algn="ctr">
              <a:lnSpc>
                <a:spcPct val="100000"/>
              </a:lnSpc>
              <a:spcBef>
                <a:spcPts val="0"/>
              </a:spcBef>
              <a:spcAft>
                <a:spcPts val="0"/>
              </a:spcAft>
            </a:pPr>
            <a:r>
              <a:rPr sz="1500" b="1" i="0">
                <a:solidFill>
                  <a:srgbClr val="617087"/>
                </a:solidFill>
                <a:latin typeface="Aptos"/>
              </a:rPr>
              <a:t>Frozen study: A = 6</a:t>
            </a:r>
          </a:p>
        </p:txBody>
      </p:sp>
      <p:sp>
        <p:nvSpPr>
          <p:cNvPr id="20" name="Rounded Rectangle 19"/>
          <p:cNvSpPr/>
          <p:nvPr/>
        </p:nvSpPr>
        <p:spPr>
          <a:xfrm>
            <a:off x="676656" y="4617720"/>
            <a:ext cx="10881360" cy="1115568"/>
          </a:xfrm>
          <a:prstGeom prst="round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32688" y="4882896"/>
            <a:ext cx="4892040" cy="493776"/>
          </a:xfrm>
          <a:prstGeom prst="rect">
            <a:avLst/>
          </a:prstGeom>
          <a:noFill/>
        </p:spPr>
        <p:txBody>
          <a:bodyPr wrap="square" lIns="0" rIns="0" tIns="0" bIns="0" anchor="t">
            <a:spAutoFit/>
          </a:bodyPr>
          <a:lstStyle/>
          <a:p>
            <a:pPr algn="l">
              <a:lnSpc>
                <a:spcPct val="100000"/>
              </a:lnSpc>
              <a:spcBef>
                <a:spcPts val="0"/>
              </a:spcBef>
              <a:spcAft>
                <a:spcPts val="0"/>
              </a:spcAft>
            </a:pPr>
            <a:r>
              <a:rPr sz="1900" b="1" i="0">
                <a:solidFill>
                  <a:srgbClr val="FFFFFF"/>
                </a:solidFill>
                <a:latin typeface="Aptos"/>
              </a:rPr>
              <a:t>Objective tells QAOA what is cheap.</a:t>
            </a:r>
          </a:p>
        </p:txBody>
      </p:sp>
      <p:sp>
        <p:nvSpPr>
          <p:cNvPr id="22" name="TextBox 21"/>
          <p:cNvSpPr txBox="1"/>
          <p:nvPr/>
        </p:nvSpPr>
        <p:spPr>
          <a:xfrm>
            <a:off x="6053328" y="4882896"/>
            <a:ext cx="5074920" cy="493776"/>
          </a:xfrm>
          <a:prstGeom prst="rect">
            <a:avLst/>
          </a:prstGeom>
          <a:noFill/>
        </p:spPr>
        <p:txBody>
          <a:bodyPr wrap="square" lIns="0" rIns="0" tIns="0" bIns="0" anchor="t">
            <a:spAutoFit/>
          </a:bodyPr>
          <a:lstStyle/>
          <a:p>
            <a:pPr algn="l">
              <a:lnSpc>
                <a:spcPct val="100000"/>
              </a:lnSpc>
              <a:spcBef>
                <a:spcPts val="0"/>
              </a:spcBef>
              <a:spcAft>
                <a:spcPts val="0"/>
              </a:spcAft>
            </a:pPr>
            <a:r>
              <a:rPr sz="1900" b="1" i="0">
                <a:solidFill>
                  <a:srgbClr val="E9B949"/>
                </a:solidFill>
                <a:latin typeface="Aptos"/>
              </a:rPr>
              <a:t>Penalty tells QAOA what is valid.</a:t>
            </a:r>
          </a:p>
        </p:txBody>
      </p:sp>
      <p:sp>
        <p:nvSpPr>
          <p:cNvPr id="23" name="TextBox 22"/>
          <p:cNvSpPr txBox="1"/>
          <p:nvPr/>
        </p:nvSpPr>
        <p:spPr>
          <a:xfrm>
            <a:off x="731520" y="5925312"/>
            <a:ext cx="10716768" cy="256032"/>
          </a:xfrm>
          <a:prstGeom prst="rect">
            <a:avLst/>
          </a:prstGeom>
          <a:noFill/>
        </p:spPr>
        <p:txBody>
          <a:bodyPr wrap="square" lIns="0" rIns="0" tIns="0" bIns="0" anchor="t">
            <a:spAutoFit/>
          </a:bodyPr>
          <a:lstStyle/>
          <a:p>
            <a:pPr algn="ctr">
              <a:lnSpc>
                <a:spcPct val="100000"/>
              </a:lnSpc>
              <a:spcBef>
                <a:spcPts val="0"/>
              </a:spcBef>
              <a:spcAft>
                <a:spcPts val="0"/>
              </a:spcAft>
            </a:pPr>
            <a:r>
              <a:rPr sz="1500" b="0" i="0">
                <a:solidFill>
                  <a:srgbClr val="617087"/>
                </a:solidFill>
                <a:latin typeface="Aptos"/>
              </a:rPr>
              <a:t>Example: selecting only 0→1 leaves unmatched flow at node 1 and at the target, so the squared penalty is nonzero.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548640" y="292608"/>
            <a:ext cx="11064240" cy="530352"/>
          </a:xfrm>
          <a:prstGeom prst="rect">
            <a:avLst/>
          </a:prstGeom>
          <a:noFill/>
        </p:spPr>
        <p:txBody>
          <a:bodyPr wrap="square" lIns="0" rIns="0" tIns="0" bIns="0" anchor="t">
            <a:spAutoFit/>
          </a:bodyPr>
          <a:lstStyle/>
          <a:p>
            <a:pPr algn="l">
              <a:lnSpc>
                <a:spcPct val="100000"/>
              </a:lnSpc>
              <a:spcBef>
                <a:spcPts val="0"/>
              </a:spcBef>
              <a:spcAft>
                <a:spcPts val="0"/>
              </a:spcAft>
            </a:pPr>
            <a:r>
              <a:rPr sz="2900" b="1" i="0">
                <a:solidFill>
                  <a:srgbClr val="14213D"/>
                </a:solidFill>
                <a:latin typeface="Aptos"/>
              </a:rPr>
              <a:t>QUBO → Ising → QAOA</a:t>
            </a:r>
          </a:p>
        </p:txBody>
      </p:sp>
      <p:sp>
        <p:nvSpPr>
          <p:cNvPr id="3" name="Rectangle 2"/>
          <p:cNvSpPr/>
          <p:nvPr/>
        </p:nvSpPr>
        <p:spPr>
          <a:xfrm>
            <a:off x="548640" y="896112"/>
            <a:ext cx="658368" cy="41148"/>
          </a:xfrm>
          <a:prstGeom prst="rect">
            <a:avLst/>
          </a:prstGeom>
          <a:solidFill>
            <a:srgbClr val="2063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a:off x="502920" y="6528816"/>
            <a:ext cx="11183112" cy="0"/>
          </a:xfrm>
          <a:prstGeom prst="line">
            <a:avLst/>
          </a:prstGeom>
          <a:ln w="8890">
            <a:solidFill>
              <a:srgbClr val="E7ECF3"/>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30352" y="6574536"/>
            <a:ext cx="2194560" cy="164592"/>
          </a:xfrm>
          <a:prstGeom prst="rect">
            <a:avLst/>
          </a:prstGeom>
          <a:noFill/>
        </p:spPr>
        <p:txBody>
          <a:bodyPr wrap="square" lIns="0" rIns="0" tIns="0" bIns="0" anchor="t">
            <a:spAutoFit/>
          </a:bodyPr>
          <a:lstStyle/>
          <a:p>
            <a:pPr algn="l">
              <a:lnSpc>
                <a:spcPct val="100000"/>
              </a:lnSpc>
              <a:spcBef>
                <a:spcPts val="0"/>
              </a:spcBef>
              <a:spcAft>
                <a:spcPts val="0"/>
              </a:spcAft>
            </a:pPr>
            <a:r>
              <a:rPr sz="950" b="1" i="0">
                <a:solidFill>
                  <a:srgbClr val="617087"/>
                </a:solidFill>
                <a:latin typeface="Aptos"/>
              </a:rPr>
              <a:t>HAMILTONIAN</a:t>
            </a:r>
          </a:p>
        </p:txBody>
      </p:sp>
      <p:sp>
        <p:nvSpPr>
          <p:cNvPr id="6" name="TextBox 5"/>
          <p:cNvSpPr txBox="1"/>
          <p:nvPr/>
        </p:nvSpPr>
        <p:spPr>
          <a:xfrm>
            <a:off x="11173968" y="6556248"/>
            <a:ext cx="457200" cy="182880"/>
          </a:xfrm>
          <a:prstGeom prst="rect">
            <a:avLst/>
          </a:prstGeom>
          <a:noFill/>
        </p:spPr>
        <p:txBody>
          <a:bodyPr wrap="square" lIns="0" rIns="0" tIns="0" bIns="0" anchor="t">
            <a:spAutoFit/>
          </a:bodyPr>
          <a:lstStyle/>
          <a:p>
            <a:pPr algn="r">
              <a:lnSpc>
                <a:spcPct val="100000"/>
              </a:lnSpc>
              <a:spcBef>
                <a:spcPts val="0"/>
              </a:spcBef>
              <a:spcAft>
                <a:spcPts val="0"/>
              </a:spcAft>
            </a:pPr>
            <a:r>
              <a:rPr sz="1000" b="1" i="0">
                <a:solidFill>
                  <a:srgbClr val="617087"/>
                </a:solidFill>
                <a:latin typeface="Aptos"/>
              </a:rPr>
              <a:t>4</a:t>
            </a:r>
          </a:p>
        </p:txBody>
      </p:sp>
      <p:sp>
        <p:nvSpPr>
          <p:cNvPr id="7" name="Rounded Rectangle 6"/>
          <p:cNvSpPr/>
          <p:nvPr/>
        </p:nvSpPr>
        <p:spPr>
          <a:xfrm>
            <a:off x="658368" y="1078992"/>
            <a:ext cx="3502152" cy="1847088"/>
          </a:xfrm>
          <a:prstGeom prst="roundRect">
            <a:avLst/>
          </a:prstGeom>
          <a:solidFill>
            <a:srgbClr val="FFFFFF"/>
          </a:solidFill>
          <a:ln w="10160">
            <a:solidFill>
              <a:srgbClr val="E7E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77824" y="1298448"/>
            <a:ext cx="3072384" cy="256032"/>
          </a:xfrm>
          <a:prstGeom prst="rect">
            <a:avLst/>
          </a:prstGeom>
          <a:noFill/>
        </p:spPr>
        <p:txBody>
          <a:bodyPr wrap="square" lIns="0" rIns="0" tIns="0" bIns="0" anchor="t">
            <a:spAutoFit/>
          </a:bodyPr>
          <a:lstStyle/>
          <a:p>
            <a:pPr algn="ctr">
              <a:lnSpc>
                <a:spcPct val="100000"/>
              </a:lnSpc>
              <a:spcBef>
                <a:spcPts val="0"/>
              </a:spcBef>
              <a:spcAft>
                <a:spcPts val="0"/>
              </a:spcAft>
            </a:pPr>
            <a:r>
              <a:rPr sz="1200" b="1" i="0">
                <a:solidFill>
                  <a:srgbClr val="20639B"/>
                </a:solidFill>
                <a:latin typeface="Aptos"/>
              </a:rPr>
              <a:t>EXPANDED QUBO</a:t>
            </a:r>
          </a:p>
        </p:txBody>
      </p:sp>
      <p:pic>
        <p:nvPicPr>
          <p:cNvPr id="9" name="Picture 8" descr="eq_expanded_qubo.png"/>
          <p:cNvPicPr>
            <a:picLocks noChangeAspect="1"/>
          </p:cNvPicPr>
          <p:nvPr/>
        </p:nvPicPr>
        <p:blipFill>
          <a:blip r:embed="rId2"/>
          <a:stretch>
            <a:fillRect/>
          </a:stretch>
        </p:blipFill>
        <p:spPr>
          <a:xfrm>
            <a:off x="905256" y="1691640"/>
            <a:ext cx="3017520" cy="612648"/>
          </a:xfrm>
          <a:prstGeom prst="rect">
            <a:avLst/>
          </a:prstGeom>
        </p:spPr>
      </p:pic>
      <p:sp>
        <p:nvSpPr>
          <p:cNvPr id="10" name="TextBox 9"/>
          <p:cNvSpPr txBox="1"/>
          <p:nvPr/>
        </p:nvSpPr>
        <p:spPr>
          <a:xfrm>
            <a:off x="914400" y="2313432"/>
            <a:ext cx="2980944" cy="475488"/>
          </a:xfrm>
          <a:prstGeom prst="rect">
            <a:avLst/>
          </a:prstGeom>
          <a:noFill/>
        </p:spPr>
        <p:txBody>
          <a:bodyPr wrap="square" lIns="0" rIns="0" tIns="0" bIns="0" anchor="t">
            <a:spAutoFit/>
          </a:bodyPr>
          <a:lstStyle/>
          <a:p>
            <a:pPr algn="ctr">
              <a:lnSpc>
                <a:spcPct val="100000"/>
              </a:lnSpc>
              <a:spcBef>
                <a:spcPts val="0"/>
              </a:spcBef>
              <a:spcAft>
                <a:spcPts val="0"/>
              </a:spcAft>
            </a:pPr>
            <a:r>
              <a:rPr sz="1350" b="0" i="0">
                <a:solidFill>
                  <a:srgbClr val="617087"/>
                </a:solidFill>
                <a:latin typeface="Aptos"/>
              </a:rPr>
              <a:t>Equivalent to x^T Q x + offset after coefficient collection</a:t>
            </a:r>
          </a:p>
        </p:txBody>
      </p:sp>
      <p:sp>
        <p:nvSpPr>
          <p:cNvPr id="11" name="Rounded Rectangle 10"/>
          <p:cNvSpPr/>
          <p:nvPr/>
        </p:nvSpPr>
        <p:spPr>
          <a:xfrm>
            <a:off x="4352544" y="1078992"/>
            <a:ext cx="3502152" cy="1847088"/>
          </a:xfrm>
          <a:prstGeom prst="roundRect">
            <a:avLst/>
          </a:prstGeom>
          <a:solidFill>
            <a:srgbClr val="FFFFFF"/>
          </a:solidFill>
          <a:ln w="10160">
            <a:solidFill>
              <a:srgbClr val="E7E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0" y="1298448"/>
            <a:ext cx="3072384" cy="256032"/>
          </a:xfrm>
          <a:prstGeom prst="rect">
            <a:avLst/>
          </a:prstGeom>
          <a:noFill/>
        </p:spPr>
        <p:txBody>
          <a:bodyPr wrap="square" lIns="0" rIns="0" tIns="0" bIns="0" anchor="t">
            <a:spAutoFit/>
          </a:bodyPr>
          <a:lstStyle/>
          <a:p>
            <a:pPr algn="ctr">
              <a:lnSpc>
                <a:spcPct val="100000"/>
              </a:lnSpc>
              <a:spcBef>
                <a:spcPts val="0"/>
              </a:spcBef>
              <a:spcAft>
                <a:spcPts val="0"/>
              </a:spcAft>
            </a:pPr>
            <a:r>
              <a:rPr sz="1200" b="1" i="0">
                <a:solidFill>
                  <a:srgbClr val="2A9D8F"/>
                </a:solidFill>
                <a:latin typeface="Aptos"/>
              </a:rPr>
              <a:t>BINARY → PAULI</a:t>
            </a:r>
          </a:p>
        </p:txBody>
      </p:sp>
      <p:pic>
        <p:nvPicPr>
          <p:cNvPr id="13" name="Picture 12" descr="eq_binary_pauli.png"/>
          <p:cNvPicPr>
            <a:picLocks noChangeAspect="1"/>
          </p:cNvPicPr>
          <p:nvPr/>
        </p:nvPicPr>
        <p:blipFill>
          <a:blip r:embed="rId3"/>
          <a:stretch>
            <a:fillRect/>
          </a:stretch>
        </p:blipFill>
        <p:spPr>
          <a:xfrm>
            <a:off x="5102352" y="1673352"/>
            <a:ext cx="2011680" cy="658368"/>
          </a:xfrm>
          <a:prstGeom prst="rect">
            <a:avLst/>
          </a:prstGeom>
        </p:spPr>
      </p:pic>
      <p:sp>
        <p:nvSpPr>
          <p:cNvPr id="14" name="TextBox 13"/>
          <p:cNvSpPr txBox="1"/>
          <p:nvPr/>
        </p:nvSpPr>
        <p:spPr>
          <a:xfrm>
            <a:off x="4608576" y="2331720"/>
            <a:ext cx="2990088" cy="420624"/>
          </a:xfrm>
          <a:prstGeom prst="rect">
            <a:avLst/>
          </a:prstGeom>
          <a:noFill/>
        </p:spPr>
        <p:txBody>
          <a:bodyPr wrap="square" lIns="0" rIns="0" tIns="0" bIns="0" anchor="t">
            <a:spAutoFit/>
          </a:bodyPr>
          <a:lstStyle/>
          <a:p>
            <a:pPr algn="ctr">
              <a:lnSpc>
                <a:spcPct val="100000"/>
              </a:lnSpc>
              <a:spcBef>
                <a:spcPts val="0"/>
              </a:spcBef>
              <a:spcAft>
                <a:spcPts val="0"/>
              </a:spcAft>
            </a:pPr>
            <a:r>
              <a:rPr sz="1400" b="0" i="0">
                <a:solidFill>
                  <a:srgbClr val="617087"/>
                </a:solidFill>
                <a:latin typeface="Aptos"/>
              </a:rPr>
              <a:t>|0&gt; &lt;-&gt; x_i=0      |1&gt; &lt;-&gt; x_i=1</a:t>
            </a:r>
          </a:p>
        </p:txBody>
      </p:sp>
      <p:sp>
        <p:nvSpPr>
          <p:cNvPr id="15" name="Rounded Rectangle 14"/>
          <p:cNvSpPr/>
          <p:nvPr/>
        </p:nvSpPr>
        <p:spPr>
          <a:xfrm>
            <a:off x="8046720" y="1078992"/>
            <a:ext cx="3502152" cy="1847088"/>
          </a:xfrm>
          <a:prstGeom prst="roundRect">
            <a:avLst/>
          </a:prstGeom>
          <a:solidFill>
            <a:srgbClr val="FFFFFF"/>
          </a:solidFill>
          <a:ln w="10160">
            <a:solidFill>
              <a:srgbClr val="E7E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66175" y="1298448"/>
            <a:ext cx="3072384" cy="256032"/>
          </a:xfrm>
          <a:prstGeom prst="rect">
            <a:avLst/>
          </a:prstGeom>
          <a:noFill/>
        </p:spPr>
        <p:txBody>
          <a:bodyPr wrap="square" lIns="0" rIns="0" tIns="0" bIns="0" anchor="t">
            <a:spAutoFit/>
          </a:bodyPr>
          <a:lstStyle/>
          <a:p>
            <a:pPr algn="ctr">
              <a:lnSpc>
                <a:spcPct val="100000"/>
              </a:lnSpc>
              <a:spcBef>
                <a:spcPts val="0"/>
              </a:spcBef>
              <a:spcAft>
                <a:spcPts val="0"/>
              </a:spcAft>
            </a:pPr>
            <a:r>
              <a:rPr sz="1200" b="1" i="0">
                <a:solidFill>
                  <a:srgbClr val="D14D5A"/>
                </a:solidFill>
                <a:latin typeface="Aptos"/>
              </a:rPr>
              <a:t>ISING COST HAMILTONIAN</a:t>
            </a:r>
          </a:p>
        </p:txBody>
      </p:sp>
      <p:pic>
        <p:nvPicPr>
          <p:cNvPr id="17" name="Picture 16" descr="eq_ising.png"/>
          <p:cNvPicPr>
            <a:picLocks noChangeAspect="1"/>
          </p:cNvPicPr>
          <p:nvPr/>
        </p:nvPicPr>
        <p:blipFill>
          <a:blip r:embed="rId4"/>
          <a:stretch>
            <a:fillRect/>
          </a:stretch>
        </p:blipFill>
        <p:spPr>
          <a:xfrm>
            <a:off x="8302752" y="1682496"/>
            <a:ext cx="2999232" cy="667512"/>
          </a:xfrm>
          <a:prstGeom prst="rect">
            <a:avLst/>
          </a:prstGeom>
        </p:spPr>
      </p:pic>
      <p:sp>
        <p:nvSpPr>
          <p:cNvPr id="18" name="TextBox 17"/>
          <p:cNvSpPr txBox="1"/>
          <p:nvPr/>
        </p:nvSpPr>
        <p:spPr>
          <a:xfrm>
            <a:off x="8257031" y="2313432"/>
            <a:ext cx="3081528" cy="475488"/>
          </a:xfrm>
          <a:prstGeom prst="rect">
            <a:avLst/>
          </a:prstGeom>
          <a:noFill/>
        </p:spPr>
        <p:txBody>
          <a:bodyPr wrap="square" lIns="0" rIns="0" tIns="0" bIns="0" anchor="t">
            <a:spAutoFit/>
          </a:bodyPr>
          <a:lstStyle/>
          <a:p>
            <a:pPr algn="ctr">
              <a:lnSpc>
                <a:spcPct val="100000"/>
              </a:lnSpc>
              <a:spcBef>
                <a:spcPts val="0"/>
              </a:spcBef>
              <a:spcAft>
                <a:spcPts val="0"/>
              </a:spcAft>
            </a:pPr>
            <a:r>
              <a:rPr sz="1350" b="0" i="0">
                <a:solidFill>
                  <a:srgbClr val="617087"/>
                </a:solidFill>
                <a:latin typeface="Aptos"/>
              </a:rPr>
              <a:t>Same energy landscape, now in quantum operators</a:t>
            </a:r>
          </a:p>
        </p:txBody>
      </p:sp>
      <p:pic>
        <p:nvPicPr>
          <p:cNvPr id="19" name="Picture 18" descr="eq_cost_unitary.png"/>
          <p:cNvPicPr>
            <a:picLocks noChangeAspect="1"/>
          </p:cNvPicPr>
          <p:nvPr/>
        </p:nvPicPr>
        <p:blipFill>
          <a:blip r:embed="rId5"/>
          <a:stretch>
            <a:fillRect/>
          </a:stretch>
        </p:blipFill>
        <p:spPr>
          <a:xfrm>
            <a:off x="841248" y="3273552"/>
            <a:ext cx="2450592" cy="603504"/>
          </a:xfrm>
          <a:prstGeom prst="rect">
            <a:avLst/>
          </a:prstGeom>
        </p:spPr>
      </p:pic>
      <p:sp>
        <p:nvSpPr>
          <p:cNvPr id="20" name="TextBox 19"/>
          <p:cNvSpPr txBox="1"/>
          <p:nvPr/>
        </p:nvSpPr>
        <p:spPr>
          <a:xfrm>
            <a:off x="3383280" y="3200400"/>
            <a:ext cx="1783080" cy="786384"/>
          </a:xfrm>
          <a:prstGeom prst="rect">
            <a:avLst/>
          </a:prstGeom>
          <a:noFill/>
        </p:spPr>
        <p:txBody>
          <a:bodyPr wrap="square" lIns="0" rIns="0" tIns="0" bIns="0" anchor="t">
            <a:spAutoFit/>
          </a:bodyPr>
          <a:lstStyle/>
          <a:p>
            <a:pPr algn="ctr">
              <a:lnSpc>
                <a:spcPct val="100000"/>
              </a:lnSpc>
              <a:spcBef>
                <a:spcPts val="0"/>
              </a:spcBef>
              <a:spcAft>
                <a:spcPts val="0"/>
              </a:spcAft>
            </a:pPr>
            <a:r>
              <a:rPr sz="1350" b="1" i="0">
                <a:solidFill>
                  <a:srgbClr val="24324A"/>
                </a:solidFill>
                <a:latin typeface="Aptos"/>
              </a:rPr>
              <a:t>Cost phase tags
basis states
by energy</a:t>
            </a:r>
          </a:p>
        </p:txBody>
      </p:sp>
      <p:pic>
        <p:nvPicPr>
          <p:cNvPr id="21" name="Picture 20" descr="eq_qaoa_state.png"/>
          <p:cNvPicPr>
            <a:picLocks noChangeAspect="1"/>
          </p:cNvPicPr>
          <p:nvPr/>
        </p:nvPicPr>
        <p:blipFill>
          <a:blip r:embed="rId6"/>
          <a:stretch>
            <a:fillRect/>
          </a:stretch>
        </p:blipFill>
        <p:spPr>
          <a:xfrm>
            <a:off x="5340096" y="3154680"/>
            <a:ext cx="5486400" cy="822960"/>
          </a:xfrm>
          <a:prstGeom prst="rect">
            <a:avLst/>
          </a:prstGeom>
        </p:spPr>
      </p:pic>
      <p:sp>
        <p:nvSpPr>
          <p:cNvPr id="22" name="Rounded Rectangle 21"/>
          <p:cNvSpPr/>
          <p:nvPr/>
        </p:nvSpPr>
        <p:spPr>
          <a:xfrm>
            <a:off x="658368" y="4572000"/>
            <a:ext cx="1413401" cy="493776"/>
          </a:xfrm>
          <a:prstGeom prst="roundRect">
            <a:avLst/>
          </a:prstGeom>
          <a:solidFill>
            <a:srgbClr val="E7F2FA"/>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4088" y="4663440"/>
            <a:ext cx="1321961" cy="292608"/>
          </a:xfrm>
          <a:prstGeom prst="rect">
            <a:avLst/>
          </a:prstGeom>
          <a:noFill/>
        </p:spPr>
        <p:txBody>
          <a:bodyPr wrap="square" lIns="0" rIns="0" tIns="0" bIns="0" anchor="ctr">
            <a:spAutoFit/>
          </a:bodyPr>
          <a:lstStyle/>
          <a:p>
            <a:pPr algn="ctr">
              <a:lnSpc>
                <a:spcPct val="100000"/>
              </a:lnSpc>
              <a:spcBef>
                <a:spcPts val="0"/>
              </a:spcBef>
              <a:spcAft>
                <a:spcPts val="0"/>
              </a:spcAft>
            </a:pPr>
            <a:r>
              <a:rPr sz="1400" b="1" i="0">
                <a:solidFill>
                  <a:srgbClr val="20639B"/>
                </a:solidFill>
                <a:latin typeface="Aptos"/>
              </a:rPr>
              <a:t>Graph</a:t>
            </a:r>
          </a:p>
        </p:txBody>
      </p:sp>
      <p:sp>
        <p:nvSpPr>
          <p:cNvPr id="24" name="Chevron 23"/>
          <p:cNvSpPr/>
          <p:nvPr/>
        </p:nvSpPr>
        <p:spPr>
          <a:xfrm>
            <a:off x="2053481" y="4727448"/>
            <a:ext cx="201168" cy="182880"/>
          </a:xfrm>
          <a:prstGeom prst="chevron">
            <a:avLst/>
          </a:prstGeom>
          <a:solidFill>
            <a:srgbClr val="E7EC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2236361" y="4572000"/>
            <a:ext cx="1413401" cy="493776"/>
          </a:xfrm>
          <a:prstGeom prst="roundRect">
            <a:avLst/>
          </a:prstGeom>
          <a:solidFill>
            <a:srgbClr val="E7F2FA"/>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282081" y="4663440"/>
            <a:ext cx="1321961" cy="292608"/>
          </a:xfrm>
          <a:prstGeom prst="rect">
            <a:avLst/>
          </a:prstGeom>
          <a:noFill/>
        </p:spPr>
        <p:txBody>
          <a:bodyPr wrap="square" lIns="0" rIns="0" tIns="0" bIns="0" anchor="ctr">
            <a:spAutoFit/>
          </a:bodyPr>
          <a:lstStyle/>
          <a:p>
            <a:pPr algn="ctr">
              <a:lnSpc>
                <a:spcPct val="100000"/>
              </a:lnSpc>
              <a:spcBef>
                <a:spcPts val="0"/>
              </a:spcBef>
              <a:spcAft>
                <a:spcPts val="0"/>
              </a:spcAft>
            </a:pPr>
            <a:r>
              <a:rPr sz="1400" b="1" i="0">
                <a:solidFill>
                  <a:srgbClr val="20639B"/>
                </a:solidFill>
                <a:latin typeface="Aptos"/>
              </a:rPr>
              <a:t>QUBO</a:t>
            </a:r>
          </a:p>
        </p:txBody>
      </p:sp>
      <p:sp>
        <p:nvSpPr>
          <p:cNvPr id="27" name="Chevron 26"/>
          <p:cNvSpPr/>
          <p:nvPr/>
        </p:nvSpPr>
        <p:spPr>
          <a:xfrm>
            <a:off x="3631474" y="4727448"/>
            <a:ext cx="201168" cy="182880"/>
          </a:xfrm>
          <a:prstGeom prst="chevron">
            <a:avLst/>
          </a:prstGeom>
          <a:solidFill>
            <a:srgbClr val="E7EC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3814354" y="4572000"/>
            <a:ext cx="1413401" cy="493776"/>
          </a:xfrm>
          <a:prstGeom prst="roundRect">
            <a:avLst/>
          </a:prstGeom>
          <a:solidFill>
            <a:srgbClr val="E7F2FA"/>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860074" y="4663440"/>
            <a:ext cx="1321961" cy="292608"/>
          </a:xfrm>
          <a:prstGeom prst="rect">
            <a:avLst/>
          </a:prstGeom>
          <a:noFill/>
        </p:spPr>
        <p:txBody>
          <a:bodyPr wrap="square" lIns="0" rIns="0" tIns="0" bIns="0" anchor="ctr">
            <a:spAutoFit/>
          </a:bodyPr>
          <a:lstStyle/>
          <a:p>
            <a:pPr algn="ctr">
              <a:lnSpc>
                <a:spcPct val="100000"/>
              </a:lnSpc>
              <a:spcBef>
                <a:spcPts val="0"/>
              </a:spcBef>
              <a:spcAft>
                <a:spcPts val="0"/>
              </a:spcAft>
            </a:pPr>
            <a:r>
              <a:rPr sz="1400" b="1" i="0">
                <a:solidFill>
                  <a:srgbClr val="20639B"/>
                </a:solidFill>
                <a:latin typeface="Aptos"/>
              </a:rPr>
              <a:t>Ising</a:t>
            </a:r>
          </a:p>
        </p:txBody>
      </p:sp>
      <p:sp>
        <p:nvSpPr>
          <p:cNvPr id="30" name="Chevron 29"/>
          <p:cNvSpPr/>
          <p:nvPr/>
        </p:nvSpPr>
        <p:spPr>
          <a:xfrm>
            <a:off x="5209467" y="4727448"/>
            <a:ext cx="201168" cy="182880"/>
          </a:xfrm>
          <a:prstGeom prst="chevron">
            <a:avLst/>
          </a:prstGeom>
          <a:solidFill>
            <a:srgbClr val="E7EC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5392347" y="4572000"/>
            <a:ext cx="1413401" cy="493776"/>
          </a:xfrm>
          <a:prstGeom prst="roundRect">
            <a:avLst/>
          </a:prstGeom>
          <a:solidFill>
            <a:srgbClr val="E4F5F2"/>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438067" y="4663440"/>
            <a:ext cx="1321961" cy="292608"/>
          </a:xfrm>
          <a:prstGeom prst="rect">
            <a:avLst/>
          </a:prstGeom>
          <a:noFill/>
        </p:spPr>
        <p:txBody>
          <a:bodyPr wrap="square" lIns="0" rIns="0" tIns="0" bIns="0" anchor="ctr">
            <a:spAutoFit/>
          </a:bodyPr>
          <a:lstStyle/>
          <a:p>
            <a:pPr algn="ctr">
              <a:lnSpc>
                <a:spcPct val="100000"/>
              </a:lnSpc>
              <a:spcBef>
                <a:spcPts val="0"/>
              </a:spcBef>
              <a:spcAft>
                <a:spcPts val="0"/>
              </a:spcAft>
            </a:pPr>
            <a:r>
              <a:rPr sz="1400" b="1" i="0">
                <a:solidFill>
                  <a:srgbClr val="2A9D8F"/>
                </a:solidFill>
                <a:latin typeface="Aptos"/>
              </a:rPr>
              <a:t>Cost layer</a:t>
            </a:r>
          </a:p>
        </p:txBody>
      </p:sp>
      <p:sp>
        <p:nvSpPr>
          <p:cNvPr id="33" name="Chevron 32"/>
          <p:cNvSpPr/>
          <p:nvPr/>
        </p:nvSpPr>
        <p:spPr>
          <a:xfrm>
            <a:off x="6787460" y="4727448"/>
            <a:ext cx="201168" cy="182880"/>
          </a:xfrm>
          <a:prstGeom prst="chevron">
            <a:avLst/>
          </a:prstGeom>
          <a:solidFill>
            <a:srgbClr val="E7EC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6970340" y="4572000"/>
            <a:ext cx="1413401" cy="493776"/>
          </a:xfrm>
          <a:prstGeom prst="roundRect">
            <a:avLst/>
          </a:prstGeom>
          <a:solidFill>
            <a:srgbClr val="E4F5F2"/>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016060" y="4663440"/>
            <a:ext cx="1321961" cy="292608"/>
          </a:xfrm>
          <a:prstGeom prst="rect">
            <a:avLst/>
          </a:prstGeom>
          <a:noFill/>
        </p:spPr>
        <p:txBody>
          <a:bodyPr wrap="square" lIns="0" rIns="0" tIns="0" bIns="0" anchor="ctr">
            <a:spAutoFit/>
          </a:bodyPr>
          <a:lstStyle/>
          <a:p>
            <a:pPr algn="ctr">
              <a:lnSpc>
                <a:spcPct val="100000"/>
              </a:lnSpc>
              <a:spcBef>
                <a:spcPts val="0"/>
              </a:spcBef>
              <a:spcAft>
                <a:spcPts val="0"/>
              </a:spcAft>
            </a:pPr>
            <a:r>
              <a:rPr sz="1400" b="1" i="0">
                <a:solidFill>
                  <a:srgbClr val="2A9D8F"/>
                </a:solidFill>
                <a:latin typeface="Aptos"/>
              </a:rPr>
              <a:t>Mixer</a:t>
            </a:r>
          </a:p>
        </p:txBody>
      </p:sp>
      <p:sp>
        <p:nvSpPr>
          <p:cNvPr id="36" name="Chevron 35"/>
          <p:cNvSpPr/>
          <p:nvPr/>
        </p:nvSpPr>
        <p:spPr>
          <a:xfrm>
            <a:off x="8365453" y="4727448"/>
            <a:ext cx="201168" cy="182880"/>
          </a:xfrm>
          <a:prstGeom prst="chevron">
            <a:avLst/>
          </a:prstGeom>
          <a:solidFill>
            <a:srgbClr val="E7EC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8548333" y="4572000"/>
            <a:ext cx="1413401" cy="493776"/>
          </a:xfrm>
          <a:prstGeom prst="roundRect">
            <a:avLst/>
          </a:prstGeom>
          <a:solidFill>
            <a:srgbClr val="FFF5D6"/>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94053" y="4663440"/>
            <a:ext cx="1321961" cy="292608"/>
          </a:xfrm>
          <a:prstGeom prst="rect">
            <a:avLst/>
          </a:prstGeom>
          <a:noFill/>
        </p:spPr>
        <p:txBody>
          <a:bodyPr wrap="square" lIns="0" rIns="0" tIns="0" bIns="0" anchor="ctr">
            <a:spAutoFit/>
          </a:bodyPr>
          <a:lstStyle/>
          <a:p>
            <a:pPr algn="ctr">
              <a:lnSpc>
                <a:spcPct val="100000"/>
              </a:lnSpc>
              <a:spcBef>
                <a:spcPts val="0"/>
              </a:spcBef>
              <a:spcAft>
                <a:spcPts val="0"/>
              </a:spcAft>
            </a:pPr>
            <a:r>
              <a:rPr sz="1400" b="1" i="0">
                <a:solidFill>
                  <a:srgbClr val="14213D"/>
                </a:solidFill>
                <a:latin typeface="Aptos"/>
              </a:rPr>
              <a:t>Measure</a:t>
            </a:r>
          </a:p>
        </p:txBody>
      </p:sp>
      <p:sp>
        <p:nvSpPr>
          <p:cNvPr id="39" name="Chevron 38"/>
          <p:cNvSpPr/>
          <p:nvPr/>
        </p:nvSpPr>
        <p:spPr>
          <a:xfrm>
            <a:off x="9943446" y="4727448"/>
            <a:ext cx="201168" cy="182880"/>
          </a:xfrm>
          <a:prstGeom prst="chevron">
            <a:avLst/>
          </a:prstGeom>
          <a:solidFill>
            <a:srgbClr val="E7EC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10126326" y="4572000"/>
            <a:ext cx="1413401" cy="493776"/>
          </a:xfrm>
          <a:prstGeom prst="roundRect">
            <a:avLst/>
          </a:prstGeom>
          <a:solidFill>
            <a:srgbClr val="FFF5D6"/>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172046" y="4663440"/>
            <a:ext cx="1321961" cy="292608"/>
          </a:xfrm>
          <a:prstGeom prst="rect">
            <a:avLst/>
          </a:prstGeom>
          <a:noFill/>
        </p:spPr>
        <p:txBody>
          <a:bodyPr wrap="square" lIns="0" rIns="0" tIns="0" bIns="0" anchor="ctr">
            <a:spAutoFit/>
          </a:bodyPr>
          <a:lstStyle/>
          <a:p>
            <a:pPr algn="ctr">
              <a:lnSpc>
                <a:spcPct val="100000"/>
              </a:lnSpc>
              <a:spcBef>
                <a:spcPts val="0"/>
              </a:spcBef>
              <a:spcAft>
                <a:spcPts val="0"/>
              </a:spcAft>
            </a:pPr>
            <a:r>
              <a:rPr sz="1400" b="1" i="0">
                <a:solidFill>
                  <a:srgbClr val="14213D"/>
                </a:solidFill>
                <a:latin typeface="Aptos"/>
              </a:rPr>
              <a:t>Route</a:t>
            </a:r>
          </a:p>
        </p:txBody>
      </p:sp>
      <p:sp>
        <p:nvSpPr>
          <p:cNvPr id="42" name="Rounded Rectangle 41"/>
          <p:cNvSpPr/>
          <p:nvPr/>
        </p:nvSpPr>
        <p:spPr>
          <a:xfrm>
            <a:off x="658368" y="5349240"/>
            <a:ext cx="10881360" cy="640080"/>
          </a:xfrm>
          <a:prstGeom prst="roundRect">
            <a:avLst/>
          </a:prstGeom>
          <a:solidFill>
            <a:srgbClr val="E7F2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96112" y="5468112"/>
            <a:ext cx="10405872" cy="420624"/>
          </a:xfrm>
          <a:prstGeom prst="rect">
            <a:avLst/>
          </a:prstGeom>
          <a:noFill/>
        </p:spPr>
        <p:txBody>
          <a:bodyPr wrap="square" lIns="0" rIns="0" tIns="0" bIns="0" anchor="t">
            <a:spAutoFit/>
          </a:bodyPr>
          <a:lstStyle/>
          <a:p>
            <a:pPr algn="ctr">
              <a:lnSpc>
                <a:spcPct val="100000"/>
              </a:lnSpc>
              <a:spcBef>
                <a:spcPts val="0"/>
              </a:spcBef>
              <a:spcAft>
                <a:spcPts val="0"/>
              </a:spcAft>
            </a:pPr>
            <a:r>
              <a:rPr sz="1550" b="1" i="0">
                <a:solidFill>
                  <a:srgbClr val="14213D"/>
                </a:solidFill>
                <a:latin typeface="Aptos"/>
              </a:rPr>
              <a:t>The cost layer changes phases; the mixer turns phase differences into interference and probability redistribution.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548640" y="292608"/>
            <a:ext cx="11064240" cy="530352"/>
          </a:xfrm>
          <a:prstGeom prst="rect">
            <a:avLst/>
          </a:prstGeom>
          <a:noFill/>
        </p:spPr>
        <p:txBody>
          <a:bodyPr wrap="square" lIns="0" rIns="0" tIns="0" bIns="0" anchor="t">
            <a:spAutoFit/>
          </a:bodyPr>
          <a:lstStyle/>
          <a:p>
            <a:pPr algn="l">
              <a:lnSpc>
                <a:spcPct val="100000"/>
              </a:lnSpc>
              <a:spcBef>
                <a:spcPts val="0"/>
              </a:spcBef>
              <a:spcAft>
                <a:spcPts val="0"/>
              </a:spcAft>
            </a:pPr>
            <a:r>
              <a:rPr sz="2900" b="1" i="0">
                <a:solidFill>
                  <a:srgbClr val="14213D"/>
                </a:solidFill>
                <a:latin typeface="Aptos"/>
              </a:rPr>
              <a:t>Same cost landscape, two mixer geometries</a:t>
            </a:r>
          </a:p>
        </p:txBody>
      </p:sp>
      <p:sp>
        <p:nvSpPr>
          <p:cNvPr id="3" name="Rectangle 2"/>
          <p:cNvSpPr/>
          <p:nvPr/>
        </p:nvSpPr>
        <p:spPr>
          <a:xfrm>
            <a:off x="548640" y="896112"/>
            <a:ext cx="658368" cy="41148"/>
          </a:xfrm>
          <a:prstGeom prst="rect">
            <a:avLst/>
          </a:prstGeom>
          <a:solidFill>
            <a:srgbClr val="2063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a:off x="502920" y="6528816"/>
            <a:ext cx="11183112" cy="0"/>
          </a:xfrm>
          <a:prstGeom prst="line">
            <a:avLst/>
          </a:prstGeom>
          <a:ln w="8890">
            <a:solidFill>
              <a:srgbClr val="E7ECF3"/>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30352" y="6574536"/>
            <a:ext cx="2194560" cy="164592"/>
          </a:xfrm>
          <a:prstGeom prst="rect">
            <a:avLst/>
          </a:prstGeom>
          <a:noFill/>
        </p:spPr>
        <p:txBody>
          <a:bodyPr wrap="square" lIns="0" rIns="0" tIns="0" bIns="0" anchor="t">
            <a:spAutoFit/>
          </a:bodyPr>
          <a:lstStyle/>
          <a:p>
            <a:pPr algn="l">
              <a:lnSpc>
                <a:spcPct val="100000"/>
              </a:lnSpc>
              <a:spcBef>
                <a:spcPts val="0"/>
              </a:spcBef>
              <a:spcAft>
                <a:spcPts val="0"/>
              </a:spcAft>
            </a:pPr>
            <a:r>
              <a:rPr sz="950" b="1" i="0">
                <a:solidFill>
                  <a:srgbClr val="617087"/>
                </a:solidFill>
                <a:latin typeface="Aptos"/>
              </a:rPr>
              <a:t>MIXERS</a:t>
            </a:r>
          </a:p>
        </p:txBody>
      </p:sp>
      <p:sp>
        <p:nvSpPr>
          <p:cNvPr id="6" name="TextBox 5"/>
          <p:cNvSpPr txBox="1"/>
          <p:nvPr/>
        </p:nvSpPr>
        <p:spPr>
          <a:xfrm>
            <a:off x="11173968" y="6556248"/>
            <a:ext cx="457200" cy="182880"/>
          </a:xfrm>
          <a:prstGeom prst="rect">
            <a:avLst/>
          </a:prstGeom>
          <a:noFill/>
        </p:spPr>
        <p:txBody>
          <a:bodyPr wrap="square" lIns="0" rIns="0" tIns="0" bIns="0" anchor="t">
            <a:spAutoFit/>
          </a:bodyPr>
          <a:lstStyle/>
          <a:p>
            <a:pPr algn="r">
              <a:lnSpc>
                <a:spcPct val="100000"/>
              </a:lnSpc>
              <a:spcBef>
                <a:spcPts val="0"/>
              </a:spcBef>
              <a:spcAft>
                <a:spcPts val="0"/>
              </a:spcAft>
            </a:pPr>
            <a:r>
              <a:rPr sz="1000" b="1" i="0">
                <a:solidFill>
                  <a:srgbClr val="617087"/>
                </a:solidFill>
                <a:latin typeface="Aptos"/>
              </a:rPr>
              <a:t>5</a:t>
            </a:r>
          </a:p>
        </p:txBody>
      </p:sp>
      <p:sp>
        <p:nvSpPr>
          <p:cNvPr id="7" name="Rounded Rectangle 6"/>
          <p:cNvSpPr/>
          <p:nvPr/>
        </p:nvSpPr>
        <p:spPr>
          <a:xfrm>
            <a:off x="640080" y="1078992"/>
            <a:ext cx="5358384" cy="4407408"/>
          </a:xfrm>
          <a:prstGeom prst="roundRect">
            <a:avLst/>
          </a:prstGeom>
          <a:solidFill>
            <a:srgbClr val="FFFFFF"/>
          </a:solidFill>
          <a:ln w="19050">
            <a:solidFill>
              <a:srgbClr val="2063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96112" y="1298448"/>
            <a:ext cx="1508760" cy="310896"/>
          </a:xfrm>
          <a:prstGeom prst="roundRect">
            <a:avLst/>
          </a:prstGeom>
          <a:solidFill>
            <a:srgbClr val="E7F2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688" y="1316736"/>
            <a:ext cx="1435607" cy="256032"/>
          </a:xfrm>
          <a:prstGeom prst="rect">
            <a:avLst/>
          </a:prstGeom>
          <a:noFill/>
        </p:spPr>
        <p:txBody>
          <a:bodyPr wrap="square" lIns="0" rIns="0" tIns="0" bIns="0" anchor="ctr">
            <a:spAutoFit/>
          </a:bodyPr>
          <a:lstStyle/>
          <a:p>
            <a:pPr algn="ctr">
              <a:lnSpc>
                <a:spcPct val="100000"/>
              </a:lnSpc>
              <a:spcBef>
                <a:spcPts val="0"/>
              </a:spcBef>
              <a:spcAft>
                <a:spcPts val="0"/>
              </a:spcAft>
            </a:pPr>
            <a:r>
              <a:rPr sz="1400" b="1" i="0">
                <a:solidFill>
                  <a:srgbClr val="20639B"/>
                </a:solidFill>
                <a:latin typeface="Aptos"/>
              </a:rPr>
              <a:t>PENALTY-X</a:t>
            </a:r>
          </a:p>
        </p:txBody>
      </p:sp>
      <p:pic>
        <p:nvPicPr>
          <p:cNvPr id="10" name="Picture 9" descr="eq_x_mixer.png"/>
          <p:cNvPicPr>
            <a:picLocks noChangeAspect="1"/>
          </p:cNvPicPr>
          <p:nvPr/>
        </p:nvPicPr>
        <p:blipFill>
          <a:blip r:embed="rId2"/>
          <a:stretch>
            <a:fillRect/>
          </a:stretch>
        </p:blipFill>
        <p:spPr>
          <a:xfrm>
            <a:off x="950976" y="1773936"/>
            <a:ext cx="4553712" cy="640080"/>
          </a:xfrm>
          <a:prstGeom prst="rect">
            <a:avLst/>
          </a:prstGeom>
        </p:spPr>
      </p:pic>
      <p:cxnSp>
        <p:nvCxnSpPr>
          <p:cNvPr id="11" name="Connector 10"/>
          <p:cNvCxnSpPr/>
          <p:nvPr/>
        </p:nvCxnSpPr>
        <p:spPr>
          <a:xfrm flipV="1">
            <a:off x="1261872" y="2514600"/>
            <a:ext cx="768096" cy="338328"/>
          </a:xfrm>
          <a:prstGeom prst="line">
            <a:avLst/>
          </a:prstGeom>
          <a:ln w="17780">
            <a:solidFill>
              <a:srgbClr val="98A2B3"/>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261872" y="2852928"/>
            <a:ext cx="768096" cy="329184"/>
          </a:xfrm>
          <a:prstGeom prst="line">
            <a:avLst/>
          </a:prstGeom>
          <a:ln w="17780">
            <a:solidFill>
              <a:srgbClr val="98A2B3"/>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2029968" y="2514600"/>
            <a:ext cx="832104" cy="0"/>
          </a:xfrm>
          <a:prstGeom prst="line">
            <a:avLst/>
          </a:prstGeom>
          <a:ln w="17780">
            <a:solidFill>
              <a:srgbClr val="98A2B3"/>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2029968" y="2514600"/>
            <a:ext cx="0" cy="667512"/>
          </a:xfrm>
          <a:prstGeom prst="line">
            <a:avLst/>
          </a:prstGeom>
          <a:ln w="17780">
            <a:solidFill>
              <a:srgbClr val="98A2B3"/>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2029968" y="3182112"/>
            <a:ext cx="832104" cy="0"/>
          </a:xfrm>
          <a:prstGeom prst="line">
            <a:avLst/>
          </a:prstGeom>
          <a:ln w="17780">
            <a:solidFill>
              <a:srgbClr val="98A2B3"/>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2862072" y="2514600"/>
            <a:ext cx="0" cy="667512"/>
          </a:xfrm>
          <a:prstGeom prst="line">
            <a:avLst/>
          </a:prstGeom>
          <a:ln w="17780">
            <a:solidFill>
              <a:srgbClr val="98A2B3"/>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2862072" y="2514600"/>
            <a:ext cx="813815" cy="338328"/>
          </a:xfrm>
          <a:prstGeom prst="line">
            <a:avLst/>
          </a:prstGeom>
          <a:ln w="17780">
            <a:solidFill>
              <a:srgbClr val="98A2B3"/>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2862072" y="2852928"/>
            <a:ext cx="813815" cy="329184"/>
          </a:xfrm>
          <a:prstGeom prst="line">
            <a:avLst/>
          </a:prstGeom>
          <a:ln w="17780">
            <a:solidFill>
              <a:srgbClr val="98A2B3"/>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1152143" y="2743200"/>
            <a:ext cx="219456" cy="219456"/>
          </a:xfrm>
          <a:prstGeom prst="ellipse">
            <a:avLst/>
          </a:prstGeom>
          <a:solidFill>
            <a:srgbClr val="20639B"/>
          </a:solidFill>
          <a:ln w="12700">
            <a:solidFill>
              <a:srgbClr val="2063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920240" y="2404872"/>
            <a:ext cx="219456" cy="219456"/>
          </a:xfrm>
          <a:prstGeom prst="ellipse">
            <a:avLst/>
          </a:prstGeom>
          <a:solidFill>
            <a:srgbClr val="E7F2FA"/>
          </a:solidFill>
          <a:ln w="12700">
            <a:solidFill>
              <a:srgbClr val="2063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920240" y="3072384"/>
            <a:ext cx="219456" cy="219456"/>
          </a:xfrm>
          <a:prstGeom prst="ellipse">
            <a:avLst/>
          </a:prstGeom>
          <a:solidFill>
            <a:srgbClr val="E7F2FA"/>
          </a:solidFill>
          <a:ln w="12700">
            <a:solidFill>
              <a:srgbClr val="2063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2752344" y="2404872"/>
            <a:ext cx="219456" cy="219456"/>
          </a:xfrm>
          <a:prstGeom prst="ellipse">
            <a:avLst/>
          </a:prstGeom>
          <a:solidFill>
            <a:srgbClr val="E7F2FA"/>
          </a:solidFill>
          <a:ln w="12700">
            <a:solidFill>
              <a:srgbClr val="2063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2752344" y="3072384"/>
            <a:ext cx="219456" cy="219456"/>
          </a:xfrm>
          <a:prstGeom prst="ellipse">
            <a:avLst/>
          </a:prstGeom>
          <a:solidFill>
            <a:srgbClr val="E7F2FA"/>
          </a:solidFill>
          <a:ln w="12700">
            <a:solidFill>
              <a:srgbClr val="2063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3566159" y="2743200"/>
            <a:ext cx="219456" cy="219456"/>
          </a:xfrm>
          <a:prstGeom prst="ellipse">
            <a:avLst/>
          </a:prstGeom>
          <a:solidFill>
            <a:srgbClr val="E7F2FA"/>
          </a:solidFill>
          <a:ln w="12700">
            <a:solidFill>
              <a:srgbClr val="2063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041648" y="2551176"/>
            <a:ext cx="1572768" cy="749808"/>
          </a:xfrm>
          <a:prstGeom prst="rect">
            <a:avLst/>
          </a:prstGeom>
          <a:noFill/>
        </p:spPr>
        <p:txBody>
          <a:bodyPr wrap="square" lIns="0" rIns="0" tIns="0" bIns="0" anchor="t">
            <a:spAutoFit/>
          </a:bodyPr>
          <a:lstStyle/>
          <a:p>
            <a:pPr algn="ctr">
              <a:lnSpc>
                <a:spcPct val="100000"/>
              </a:lnSpc>
              <a:spcBef>
                <a:spcPts val="0"/>
              </a:spcBef>
              <a:spcAft>
                <a:spcPts val="0"/>
              </a:spcAft>
            </a:pPr>
            <a:r>
              <a:rPr sz="1200" b="1" i="0">
                <a:solidFill>
                  <a:srgbClr val="20639B"/>
                </a:solidFill>
                <a:latin typeface="Aptos"/>
              </a:rPr>
              <a:t>Single-bit flips
connect nearby
bitstrings</a:t>
            </a:r>
          </a:p>
        </p:txBody>
      </p:sp>
      <p:sp>
        <p:nvSpPr>
          <p:cNvPr id="26" name="Oval 25"/>
          <p:cNvSpPr/>
          <p:nvPr/>
        </p:nvSpPr>
        <p:spPr>
          <a:xfrm>
            <a:off x="941832" y="3904488"/>
            <a:ext cx="109728" cy="109728"/>
          </a:xfrm>
          <a:prstGeom prst="ellipse">
            <a:avLst/>
          </a:prstGeom>
          <a:solidFill>
            <a:srgbClr val="2063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133856" y="3794760"/>
            <a:ext cx="4462272" cy="347472"/>
          </a:xfrm>
          <a:prstGeom prst="rect">
            <a:avLst/>
          </a:prstGeom>
          <a:noFill/>
        </p:spPr>
        <p:txBody>
          <a:bodyPr wrap="square" lIns="0" rIns="0" tIns="0" bIns="0" anchor="t">
            <a:spAutoFit/>
          </a:bodyPr>
          <a:lstStyle/>
          <a:p>
            <a:pPr algn="l">
              <a:lnSpc>
                <a:spcPct val="100000"/>
              </a:lnSpc>
              <a:spcBef>
                <a:spcPts val="0"/>
              </a:spcBef>
              <a:spcAft>
                <a:spcPts val="0"/>
              </a:spcAft>
            </a:pPr>
            <a:r>
              <a:rPr sz="1800" b="0" i="0">
                <a:solidFill>
                  <a:srgbClr val="24324A"/>
                </a:solidFill>
                <a:latin typeface="Aptos"/>
              </a:rPr>
              <a:t>Local, independent qubit rotations</a:t>
            </a:r>
          </a:p>
        </p:txBody>
      </p:sp>
      <p:sp>
        <p:nvSpPr>
          <p:cNvPr id="28" name="Oval 27"/>
          <p:cNvSpPr/>
          <p:nvPr/>
        </p:nvSpPr>
        <p:spPr>
          <a:xfrm>
            <a:off x="941832" y="4334256"/>
            <a:ext cx="109728" cy="109728"/>
          </a:xfrm>
          <a:prstGeom prst="ellipse">
            <a:avLst/>
          </a:prstGeom>
          <a:solidFill>
            <a:srgbClr val="2063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133856" y="4224528"/>
            <a:ext cx="4462272" cy="347472"/>
          </a:xfrm>
          <a:prstGeom prst="rect">
            <a:avLst/>
          </a:prstGeom>
          <a:noFill/>
        </p:spPr>
        <p:txBody>
          <a:bodyPr wrap="square" lIns="0" rIns="0" tIns="0" bIns="0" anchor="t">
            <a:spAutoFit/>
          </a:bodyPr>
          <a:lstStyle/>
          <a:p>
            <a:pPr algn="l">
              <a:lnSpc>
                <a:spcPct val="100000"/>
              </a:lnSpc>
              <a:spcBef>
                <a:spcPts val="0"/>
              </a:spcBef>
              <a:spcAft>
                <a:spcPts val="0"/>
              </a:spcAft>
            </a:pPr>
            <a:r>
              <a:rPr sz="1800" b="0" i="0">
                <a:solidFill>
                  <a:srgbClr val="24324A"/>
                </a:solidFill>
                <a:latin typeface="Aptos"/>
              </a:rPr>
              <a:t>Explores the full 14-bit hypercube</a:t>
            </a:r>
          </a:p>
        </p:txBody>
      </p:sp>
      <p:sp>
        <p:nvSpPr>
          <p:cNvPr id="30" name="Oval 29"/>
          <p:cNvSpPr/>
          <p:nvPr/>
        </p:nvSpPr>
        <p:spPr>
          <a:xfrm>
            <a:off x="941832" y="4764024"/>
            <a:ext cx="109728" cy="109728"/>
          </a:xfrm>
          <a:prstGeom prst="ellipse">
            <a:avLst/>
          </a:prstGeom>
          <a:solidFill>
            <a:srgbClr val="2063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133856" y="4654296"/>
            <a:ext cx="4462272" cy="347472"/>
          </a:xfrm>
          <a:prstGeom prst="rect">
            <a:avLst/>
          </a:prstGeom>
          <a:noFill/>
        </p:spPr>
        <p:txBody>
          <a:bodyPr wrap="square" lIns="0" rIns="0" tIns="0" bIns="0" anchor="t">
            <a:spAutoFit/>
          </a:bodyPr>
          <a:lstStyle/>
          <a:p>
            <a:pPr algn="l">
              <a:lnSpc>
                <a:spcPct val="100000"/>
              </a:lnSpc>
              <a:spcBef>
                <a:spcPts val="0"/>
              </a:spcBef>
              <a:spcAft>
                <a:spcPts val="0"/>
              </a:spcAft>
            </a:pPr>
            <a:r>
              <a:rPr sz="1800" b="0" i="0">
                <a:solidFill>
                  <a:srgbClr val="24324A"/>
                </a:solidFill>
                <a:latin typeface="Aptos"/>
              </a:rPr>
              <a:t>Feasibility comes only from the penalty</a:t>
            </a:r>
          </a:p>
        </p:txBody>
      </p:sp>
      <p:sp>
        <p:nvSpPr>
          <p:cNvPr id="32" name="Rounded Rectangle 31"/>
          <p:cNvSpPr/>
          <p:nvPr/>
        </p:nvSpPr>
        <p:spPr>
          <a:xfrm>
            <a:off x="6199632" y="1078992"/>
            <a:ext cx="5358384" cy="4407408"/>
          </a:xfrm>
          <a:prstGeom prst="roundRect">
            <a:avLst/>
          </a:prstGeom>
          <a:solidFill>
            <a:srgbClr val="FFFFFF"/>
          </a:solidFill>
          <a:ln w="19050">
            <a:solidFill>
              <a:srgbClr val="D14D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6455664" y="1298448"/>
            <a:ext cx="1975104" cy="310896"/>
          </a:xfrm>
          <a:prstGeom prst="roundRect">
            <a:avLst/>
          </a:prstGeom>
          <a:solidFill>
            <a:srgbClr val="FAE9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92240" y="1316736"/>
            <a:ext cx="1901952" cy="256032"/>
          </a:xfrm>
          <a:prstGeom prst="rect">
            <a:avLst/>
          </a:prstGeom>
          <a:noFill/>
        </p:spPr>
        <p:txBody>
          <a:bodyPr wrap="square" lIns="0" rIns="0" tIns="0" bIns="0" anchor="ctr">
            <a:spAutoFit/>
          </a:bodyPr>
          <a:lstStyle/>
          <a:p>
            <a:pPr algn="ctr">
              <a:lnSpc>
                <a:spcPct val="100000"/>
              </a:lnSpc>
              <a:spcBef>
                <a:spcPts val="0"/>
              </a:spcBef>
              <a:spcAft>
                <a:spcPts val="0"/>
              </a:spcAft>
            </a:pPr>
            <a:r>
              <a:rPr sz="1400" b="1" i="0">
                <a:solidFill>
                  <a:srgbClr val="D14D5A"/>
                </a:solidFill>
                <a:latin typeface="Aptos"/>
              </a:rPr>
              <a:t>GLOBAL-GROVER</a:t>
            </a:r>
          </a:p>
        </p:txBody>
      </p:sp>
      <p:pic>
        <p:nvPicPr>
          <p:cNvPr id="35" name="Picture 34" descr="eq_grover_mixer.png"/>
          <p:cNvPicPr>
            <a:picLocks noChangeAspect="1"/>
          </p:cNvPicPr>
          <p:nvPr/>
        </p:nvPicPr>
        <p:blipFill>
          <a:blip r:embed="rId3"/>
          <a:stretch>
            <a:fillRect/>
          </a:stretch>
        </p:blipFill>
        <p:spPr>
          <a:xfrm>
            <a:off x="6437376" y="1755648"/>
            <a:ext cx="4709160" cy="676656"/>
          </a:xfrm>
          <a:prstGeom prst="rect">
            <a:avLst/>
          </a:prstGeom>
        </p:spPr>
      </p:pic>
      <p:cxnSp>
        <p:nvCxnSpPr>
          <p:cNvPr id="36" name="Connector 35"/>
          <p:cNvCxnSpPr/>
          <p:nvPr/>
        </p:nvCxnSpPr>
        <p:spPr>
          <a:xfrm flipH="1" flipV="1">
            <a:off x="7077456" y="2560320"/>
            <a:ext cx="1207008" cy="365760"/>
          </a:xfrm>
          <a:prstGeom prst="line">
            <a:avLst/>
          </a:prstGeom>
          <a:ln w="14604">
            <a:solidFill>
              <a:srgbClr val="D14D5A"/>
            </a:solidFill>
          </a:ln>
        </p:spPr>
        <p:style>
          <a:lnRef idx="2">
            <a:schemeClr val="accent1"/>
          </a:lnRef>
          <a:fillRef idx="0">
            <a:schemeClr val="accent1"/>
          </a:fillRef>
          <a:effectRef idx="1">
            <a:schemeClr val="accent1"/>
          </a:effectRef>
          <a:fontRef idx="minor">
            <a:schemeClr val="tx1"/>
          </a:fontRef>
        </p:style>
      </p:cxnSp>
      <p:sp>
        <p:nvSpPr>
          <p:cNvPr id="37" name="Oval 36"/>
          <p:cNvSpPr/>
          <p:nvPr/>
        </p:nvSpPr>
        <p:spPr>
          <a:xfrm>
            <a:off x="6986016" y="2468879"/>
            <a:ext cx="182880" cy="182880"/>
          </a:xfrm>
          <a:prstGeom prst="ellipse">
            <a:avLst/>
          </a:prstGeom>
          <a:solidFill>
            <a:srgbClr val="FAE9EC"/>
          </a:solidFill>
          <a:ln w="11430">
            <a:solidFill>
              <a:srgbClr val="D14D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8" name="Connector 37"/>
          <p:cNvCxnSpPr/>
          <p:nvPr/>
        </p:nvCxnSpPr>
        <p:spPr>
          <a:xfrm flipH="1">
            <a:off x="7104888" y="2926080"/>
            <a:ext cx="1179576" cy="384048"/>
          </a:xfrm>
          <a:prstGeom prst="line">
            <a:avLst/>
          </a:prstGeom>
          <a:ln w="14604">
            <a:solidFill>
              <a:srgbClr val="D14D5A"/>
            </a:solidFill>
          </a:ln>
        </p:spPr>
        <p:style>
          <a:lnRef idx="2">
            <a:schemeClr val="accent1"/>
          </a:lnRef>
          <a:fillRef idx="0">
            <a:schemeClr val="accent1"/>
          </a:fillRef>
          <a:effectRef idx="1">
            <a:schemeClr val="accent1"/>
          </a:effectRef>
          <a:fontRef idx="minor">
            <a:schemeClr val="tx1"/>
          </a:fontRef>
        </p:style>
      </p:cxnSp>
      <p:sp>
        <p:nvSpPr>
          <p:cNvPr id="39" name="Oval 38"/>
          <p:cNvSpPr/>
          <p:nvPr/>
        </p:nvSpPr>
        <p:spPr>
          <a:xfrm>
            <a:off x="7013448" y="3218688"/>
            <a:ext cx="182880" cy="182880"/>
          </a:xfrm>
          <a:prstGeom prst="ellipse">
            <a:avLst/>
          </a:prstGeom>
          <a:solidFill>
            <a:srgbClr val="FAE9EC"/>
          </a:solidFill>
          <a:ln w="11430">
            <a:solidFill>
              <a:srgbClr val="D14D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 name="Connector 39"/>
          <p:cNvCxnSpPr/>
          <p:nvPr/>
        </p:nvCxnSpPr>
        <p:spPr>
          <a:xfrm flipH="1" flipV="1">
            <a:off x="7754112" y="2267712"/>
            <a:ext cx="530352" cy="658368"/>
          </a:xfrm>
          <a:prstGeom prst="line">
            <a:avLst/>
          </a:prstGeom>
          <a:ln w="14604">
            <a:solidFill>
              <a:srgbClr val="D14D5A"/>
            </a:solidFill>
          </a:ln>
        </p:spPr>
        <p:style>
          <a:lnRef idx="2">
            <a:schemeClr val="accent1"/>
          </a:lnRef>
          <a:fillRef idx="0">
            <a:schemeClr val="accent1"/>
          </a:fillRef>
          <a:effectRef idx="1">
            <a:schemeClr val="accent1"/>
          </a:effectRef>
          <a:fontRef idx="minor">
            <a:schemeClr val="tx1"/>
          </a:fontRef>
        </p:style>
      </p:cxnSp>
      <p:sp>
        <p:nvSpPr>
          <p:cNvPr id="41" name="Oval 40"/>
          <p:cNvSpPr/>
          <p:nvPr/>
        </p:nvSpPr>
        <p:spPr>
          <a:xfrm>
            <a:off x="7662672" y="2176272"/>
            <a:ext cx="182880" cy="182880"/>
          </a:xfrm>
          <a:prstGeom prst="ellipse">
            <a:avLst/>
          </a:prstGeom>
          <a:solidFill>
            <a:srgbClr val="FAE9EC"/>
          </a:solidFill>
          <a:ln w="11430">
            <a:solidFill>
              <a:srgbClr val="D14D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2" name="Connector 41"/>
          <p:cNvCxnSpPr/>
          <p:nvPr/>
        </p:nvCxnSpPr>
        <p:spPr>
          <a:xfrm flipH="1">
            <a:off x="7754112" y="2926080"/>
            <a:ext cx="530352" cy="658368"/>
          </a:xfrm>
          <a:prstGeom prst="line">
            <a:avLst/>
          </a:prstGeom>
          <a:ln w="14604">
            <a:solidFill>
              <a:srgbClr val="D14D5A"/>
            </a:solidFill>
          </a:ln>
        </p:spPr>
        <p:style>
          <a:lnRef idx="2">
            <a:schemeClr val="accent1"/>
          </a:lnRef>
          <a:fillRef idx="0">
            <a:schemeClr val="accent1"/>
          </a:fillRef>
          <a:effectRef idx="1">
            <a:schemeClr val="accent1"/>
          </a:effectRef>
          <a:fontRef idx="minor">
            <a:schemeClr val="tx1"/>
          </a:fontRef>
        </p:style>
      </p:cxnSp>
      <p:sp>
        <p:nvSpPr>
          <p:cNvPr id="43" name="Oval 42"/>
          <p:cNvSpPr/>
          <p:nvPr/>
        </p:nvSpPr>
        <p:spPr>
          <a:xfrm>
            <a:off x="7662672" y="3493008"/>
            <a:ext cx="182880" cy="182880"/>
          </a:xfrm>
          <a:prstGeom prst="ellipse">
            <a:avLst/>
          </a:prstGeom>
          <a:solidFill>
            <a:srgbClr val="FAE9EC"/>
          </a:solidFill>
          <a:ln w="11430">
            <a:solidFill>
              <a:srgbClr val="D14D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4" name="Connector 43"/>
          <p:cNvCxnSpPr/>
          <p:nvPr/>
        </p:nvCxnSpPr>
        <p:spPr>
          <a:xfrm flipV="1">
            <a:off x="8284464" y="2258568"/>
            <a:ext cx="585216" cy="667512"/>
          </a:xfrm>
          <a:prstGeom prst="line">
            <a:avLst/>
          </a:prstGeom>
          <a:ln w="14604">
            <a:solidFill>
              <a:srgbClr val="D14D5A"/>
            </a:solidFill>
          </a:ln>
        </p:spPr>
        <p:style>
          <a:lnRef idx="2">
            <a:schemeClr val="accent1"/>
          </a:lnRef>
          <a:fillRef idx="0">
            <a:schemeClr val="accent1"/>
          </a:fillRef>
          <a:effectRef idx="1">
            <a:schemeClr val="accent1"/>
          </a:effectRef>
          <a:fontRef idx="minor">
            <a:schemeClr val="tx1"/>
          </a:fontRef>
        </p:style>
      </p:cxnSp>
      <p:sp>
        <p:nvSpPr>
          <p:cNvPr id="45" name="Oval 44"/>
          <p:cNvSpPr/>
          <p:nvPr/>
        </p:nvSpPr>
        <p:spPr>
          <a:xfrm>
            <a:off x="8778240" y="2167128"/>
            <a:ext cx="182880" cy="182880"/>
          </a:xfrm>
          <a:prstGeom prst="ellipse">
            <a:avLst/>
          </a:prstGeom>
          <a:solidFill>
            <a:srgbClr val="FAE9EC"/>
          </a:solidFill>
          <a:ln w="11430">
            <a:solidFill>
              <a:srgbClr val="D14D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6" name="Connector 45"/>
          <p:cNvCxnSpPr/>
          <p:nvPr/>
        </p:nvCxnSpPr>
        <p:spPr>
          <a:xfrm>
            <a:off x="8284464" y="2926080"/>
            <a:ext cx="585216" cy="667512"/>
          </a:xfrm>
          <a:prstGeom prst="line">
            <a:avLst/>
          </a:prstGeom>
          <a:ln w="14604">
            <a:solidFill>
              <a:srgbClr val="D14D5A"/>
            </a:solidFill>
          </a:ln>
        </p:spPr>
        <p:style>
          <a:lnRef idx="2">
            <a:schemeClr val="accent1"/>
          </a:lnRef>
          <a:fillRef idx="0">
            <a:schemeClr val="accent1"/>
          </a:fillRef>
          <a:effectRef idx="1">
            <a:schemeClr val="accent1"/>
          </a:effectRef>
          <a:fontRef idx="minor">
            <a:schemeClr val="tx1"/>
          </a:fontRef>
        </p:style>
      </p:cxnSp>
      <p:sp>
        <p:nvSpPr>
          <p:cNvPr id="47" name="Oval 46"/>
          <p:cNvSpPr/>
          <p:nvPr/>
        </p:nvSpPr>
        <p:spPr>
          <a:xfrm>
            <a:off x="8778240" y="3502152"/>
            <a:ext cx="182880" cy="182880"/>
          </a:xfrm>
          <a:prstGeom prst="ellipse">
            <a:avLst/>
          </a:prstGeom>
          <a:solidFill>
            <a:srgbClr val="FAE9EC"/>
          </a:solidFill>
          <a:ln w="11430">
            <a:solidFill>
              <a:srgbClr val="D14D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8" name="Connector 47"/>
          <p:cNvCxnSpPr/>
          <p:nvPr/>
        </p:nvCxnSpPr>
        <p:spPr>
          <a:xfrm flipV="1">
            <a:off x="8284464" y="2560320"/>
            <a:ext cx="1298448" cy="365760"/>
          </a:xfrm>
          <a:prstGeom prst="line">
            <a:avLst/>
          </a:prstGeom>
          <a:ln w="14604">
            <a:solidFill>
              <a:srgbClr val="D14D5A"/>
            </a:solidFill>
          </a:ln>
        </p:spPr>
        <p:style>
          <a:lnRef idx="2">
            <a:schemeClr val="accent1"/>
          </a:lnRef>
          <a:fillRef idx="0">
            <a:schemeClr val="accent1"/>
          </a:fillRef>
          <a:effectRef idx="1">
            <a:schemeClr val="accent1"/>
          </a:effectRef>
          <a:fontRef idx="minor">
            <a:schemeClr val="tx1"/>
          </a:fontRef>
        </p:style>
      </p:cxnSp>
      <p:sp>
        <p:nvSpPr>
          <p:cNvPr id="49" name="Oval 48"/>
          <p:cNvSpPr/>
          <p:nvPr/>
        </p:nvSpPr>
        <p:spPr>
          <a:xfrm>
            <a:off x="9491472" y="2468879"/>
            <a:ext cx="182880" cy="182880"/>
          </a:xfrm>
          <a:prstGeom prst="ellipse">
            <a:avLst/>
          </a:prstGeom>
          <a:solidFill>
            <a:srgbClr val="FAE9EC"/>
          </a:solidFill>
          <a:ln w="11430">
            <a:solidFill>
              <a:srgbClr val="D14D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0" name="Connector 49"/>
          <p:cNvCxnSpPr/>
          <p:nvPr/>
        </p:nvCxnSpPr>
        <p:spPr>
          <a:xfrm>
            <a:off x="8284464" y="2926080"/>
            <a:ext cx="1298448" cy="374904"/>
          </a:xfrm>
          <a:prstGeom prst="line">
            <a:avLst/>
          </a:prstGeom>
          <a:ln w="14604">
            <a:solidFill>
              <a:srgbClr val="D14D5A"/>
            </a:solidFill>
          </a:ln>
        </p:spPr>
        <p:style>
          <a:lnRef idx="2">
            <a:schemeClr val="accent1"/>
          </a:lnRef>
          <a:fillRef idx="0">
            <a:schemeClr val="accent1"/>
          </a:fillRef>
          <a:effectRef idx="1">
            <a:schemeClr val="accent1"/>
          </a:effectRef>
          <a:fontRef idx="minor">
            <a:schemeClr val="tx1"/>
          </a:fontRef>
        </p:style>
      </p:cxnSp>
      <p:sp>
        <p:nvSpPr>
          <p:cNvPr id="51" name="Oval 50"/>
          <p:cNvSpPr/>
          <p:nvPr/>
        </p:nvSpPr>
        <p:spPr>
          <a:xfrm>
            <a:off x="9491472" y="3209544"/>
            <a:ext cx="182880" cy="182880"/>
          </a:xfrm>
          <a:prstGeom prst="ellipse">
            <a:avLst/>
          </a:prstGeom>
          <a:solidFill>
            <a:srgbClr val="FAE9EC"/>
          </a:solidFill>
          <a:ln w="11430">
            <a:solidFill>
              <a:srgbClr val="D14D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8129016" y="2770632"/>
            <a:ext cx="310896" cy="310896"/>
          </a:xfrm>
          <a:prstGeom prst="ellipse">
            <a:avLst/>
          </a:prstGeom>
          <a:solidFill>
            <a:srgbClr val="D14D5A"/>
          </a:solidFill>
          <a:ln w="12700">
            <a:solidFill>
              <a:srgbClr val="D14D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720072" y="2551176"/>
            <a:ext cx="1536192" cy="749808"/>
          </a:xfrm>
          <a:prstGeom prst="rect">
            <a:avLst/>
          </a:prstGeom>
          <a:noFill/>
        </p:spPr>
        <p:txBody>
          <a:bodyPr wrap="square" lIns="0" rIns="0" tIns="0" bIns="0" anchor="t">
            <a:spAutoFit/>
          </a:bodyPr>
          <a:lstStyle/>
          <a:p>
            <a:pPr algn="ctr">
              <a:lnSpc>
                <a:spcPct val="100000"/>
              </a:lnSpc>
              <a:spcBef>
                <a:spcPts val="0"/>
              </a:spcBef>
              <a:spcAft>
                <a:spcPts val="0"/>
              </a:spcAft>
            </a:pPr>
            <a:r>
              <a:rPr sz="1200" b="1" i="0">
                <a:solidFill>
                  <a:srgbClr val="D14D5A"/>
                </a:solidFill>
                <a:latin typeface="Aptos"/>
              </a:rPr>
              <a:t>One rank-one
update couples
the whole state</a:t>
            </a:r>
          </a:p>
        </p:txBody>
      </p:sp>
      <p:sp>
        <p:nvSpPr>
          <p:cNvPr id="54" name="Oval 53"/>
          <p:cNvSpPr/>
          <p:nvPr/>
        </p:nvSpPr>
        <p:spPr>
          <a:xfrm>
            <a:off x="6501384" y="3904488"/>
            <a:ext cx="109728" cy="109728"/>
          </a:xfrm>
          <a:prstGeom prst="ellipse">
            <a:avLst/>
          </a:prstGeom>
          <a:solidFill>
            <a:srgbClr val="D14D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693408" y="3794760"/>
            <a:ext cx="4462272" cy="347472"/>
          </a:xfrm>
          <a:prstGeom prst="rect">
            <a:avLst/>
          </a:prstGeom>
          <a:noFill/>
        </p:spPr>
        <p:txBody>
          <a:bodyPr wrap="square" lIns="0" rIns="0" tIns="0" bIns="0" anchor="t">
            <a:spAutoFit/>
          </a:bodyPr>
          <a:lstStyle/>
          <a:p>
            <a:pPr algn="l">
              <a:lnSpc>
                <a:spcPct val="100000"/>
              </a:lnSpc>
              <a:spcBef>
                <a:spcPts val="0"/>
              </a:spcBef>
              <a:spcAft>
                <a:spcPts val="0"/>
              </a:spcAft>
            </a:pPr>
            <a:r>
              <a:rPr sz="1600" b="0" i="0">
                <a:solidFill>
                  <a:srgbClr val="24324A"/>
                </a:solidFill>
                <a:latin typeface="Aptos"/>
              </a:rPr>
              <a:t>Uniform |s&gt; over all 16,384 states</a:t>
            </a:r>
          </a:p>
        </p:txBody>
      </p:sp>
      <p:sp>
        <p:nvSpPr>
          <p:cNvPr id="56" name="Oval 55"/>
          <p:cNvSpPr/>
          <p:nvPr/>
        </p:nvSpPr>
        <p:spPr>
          <a:xfrm>
            <a:off x="6501384" y="4334256"/>
            <a:ext cx="109728" cy="109728"/>
          </a:xfrm>
          <a:prstGeom prst="ellipse">
            <a:avLst/>
          </a:prstGeom>
          <a:solidFill>
            <a:srgbClr val="D14D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693408" y="4224528"/>
            <a:ext cx="4462272" cy="347472"/>
          </a:xfrm>
          <a:prstGeom prst="rect">
            <a:avLst/>
          </a:prstGeom>
          <a:noFill/>
        </p:spPr>
        <p:txBody>
          <a:bodyPr wrap="square" lIns="0" rIns="0" tIns="0" bIns="0" anchor="t">
            <a:spAutoFit/>
          </a:bodyPr>
          <a:lstStyle/>
          <a:p>
            <a:pPr algn="l">
              <a:lnSpc>
                <a:spcPct val="100000"/>
              </a:lnSpc>
              <a:spcBef>
                <a:spcPts val="0"/>
              </a:spcBef>
              <a:spcAft>
                <a:spcPts val="0"/>
              </a:spcAft>
            </a:pPr>
            <a:r>
              <a:rPr sz="1800" b="0" i="0">
                <a:solidFill>
                  <a:srgbClr val="24324A"/>
                </a:solidFill>
                <a:latin typeface="Aptos"/>
              </a:rPr>
              <a:t>Global amplitude redistribution</a:t>
            </a:r>
          </a:p>
        </p:txBody>
      </p:sp>
      <p:sp>
        <p:nvSpPr>
          <p:cNvPr id="58" name="Oval 57"/>
          <p:cNvSpPr/>
          <p:nvPr/>
        </p:nvSpPr>
        <p:spPr>
          <a:xfrm>
            <a:off x="6501384" y="4764024"/>
            <a:ext cx="109728" cy="109728"/>
          </a:xfrm>
          <a:prstGeom prst="ellipse">
            <a:avLst/>
          </a:prstGeom>
          <a:solidFill>
            <a:srgbClr val="D14D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693408" y="4654296"/>
            <a:ext cx="4462272" cy="347472"/>
          </a:xfrm>
          <a:prstGeom prst="rect">
            <a:avLst/>
          </a:prstGeom>
          <a:noFill/>
        </p:spPr>
        <p:txBody>
          <a:bodyPr wrap="square" lIns="0" rIns="0" tIns="0" bIns="0" anchor="t">
            <a:spAutoFit/>
          </a:bodyPr>
          <a:lstStyle/>
          <a:p>
            <a:pPr algn="l">
              <a:lnSpc>
                <a:spcPct val="100000"/>
              </a:lnSpc>
              <a:spcBef>
                <a:spcPts val="0"/>
              </a:spcBef>
              <a:spcAft>
                <a:spcPts val="0"/>
              </a:spcAft>
            </a:pPr>
            <a:r>
              <a:rPr sz="1800" b="0" i="0">
                <a:solidFill>
                  <a:srgbClr val="24324A"/>
                </a:solidFill>
                <a:latin typeface="Aptos"/>
              </a:rPr>
              <a:t>Full-space and not feasibility-preserving</a:t>
            </a:r>
          </a:p>
        </p:txBody>
      </p:sp>
      <p:sp>
        <p:nvSpPr>
          <p:cNvPr id="60" name="Rounded Rectangle 59"/>
          <p:cNvSpPr/>
          <p:nvPr/>
        </p:nvSpPr>
        <p:spPr>
          <a:xfrm>
            <a:off x="640080" y="5650992"/>
            <a:ext cx="10917936" cy="566928"/>
          </a:xfrm>
          <a:prstGeom prst="roundRect">
            <a:avLst/>
          </a:prstGeom>
          <a:solidFill>
            <a:srgbClr val="FFF5D6"/>
          </a:solidFill>
          <a:ln w="10160">
            <a:solidFill>
              <a:srgbClr val="E9B9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77824" y="5715000"/>
            <a:ext cx="10442448" cy="429768"/>
          </a:xfrm>
          <a:prstGeom prst="rect">
            <a:avLst/>
          </a:prstGeom>
          <a:noFill/>
        </p:spPr>
        <p:txBody>
          <a:bodyPr wrap="square" lIns="0" rIns="0" tIns="0" bIns="0" anchor="t">
            <a:spAutoFit/>
          </a:bodyPr>
          <a:lstStyle/>
          <a:p>
            <a:pPr algn="ctr">
              <a:lnSpc>
                <a:spcPct val="100000"/>
              </a:lnSpc>
              <a:spcBef>
                <a:spcPts val="0"/>
              </a:spcBef>
              <a:spcAft>
                <a:spcPts val="0"/>
              </a:spcAft>
            </a:pPr>
            <a:r>
              <a:rPr sz="1450" b="1" i="0">
                <a:solidFill>
                  <a:srgbClr val="14213D"/>
                </a:solidFill>
                <a:latin typeface="Aptos"/>
              </a:rPr>
              <a:t>Not standard Grover Search: there is no oracle that directly marks the optimal route; H_C supplies continuous cost phases.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548640" y="292608"/>
            <a:ext cx="11064240" cy="530352"/>
          </a:xfrm>
          <a:prstGeom prst="rect">
            <a:avLst/>
          </a:prstGeom>
          <a:noFill/>
        </p:spPr>
        <p:txBody>
          <a:bodyPr wrap="square" lIns="0" rIns="0" tIns="0" bIns="0" anchor="t">
            <a:spAutoFit/>
          </a:bodyPr>
          <a:lstStyle/>
          <a:p>
            <a:pPr algn="l">
              <a:lnSpc>
                <a:spcPct val="100000"/>
              </a:lnSpc>
              <a:spcBef>
                <a:spcPts val="0"/>
              </a:spcBef>
              <a:spcAft>
                <a:spcPts val="0"/>
              </a:spcAft>
            </a:pPr>
            <a:r>
              <a:rPr sz="2900" b="1" i="0">
                <a:solidFill>
                  <a:srgbClr val="14213D"/>
                </a:solidFill>
                <a:latin typeface="Aptos"/>
              </a:rPr>
              <a:t>The hybrid loop: COBYLA and CVaR</a:t>
            </a:r>
          </a:p>
        </p:txBody>
      </p:sp>
      <p:sp>
        <p:nvSpPr>
          <p:cNvPr id="3" name="Rectangle 2"/>
          <p:cNvSpPr/>
          <p:nvPr/>
        </p:nvSpPr>
        <p:spPr>
          <a:xfrm>
            <a:off x="548640" y="896112"/>
            <a:ext cx="658368" cy="41148"/>
          </a:xfrm>
          <a:prstGeom prst="rect">
            <a:avLst/>
          </a:prstGeom>
          <a:solidFill>
            <a:srgbClr val="2063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a:off x="502920" y="6528816"/>
            <a:ext cx="11183112" cy="0"/>
          </a:xfrm>
          <a:prstGeom prst="line">
            <a:avLst/>
          </a:prstGeom>
          <a:ln w="8890">
            <a:solidFill>
              <a:srgbClr val="E7ECF3"/>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30352" y="6574536"/>
            <a:ext cx="2194560" cy="164592"/>
          </a:xfrm>
          <a:prstGeom prst="rect">
            <a:avLst/>
          </a:prstGeom>
          <a:noFill/>
        </p:spPr>
        <p:txBody>
          <a:bodyPr wrap="square" lIns="0" rIns="0" tIns="0" bIns="0" anchor="t">
            <a:spAutoFit/>
          </a:bodyPr>
          <a:lstStyle/>
          <a:p>
            <a:pPr algn="l">
              <a:lnSpc>
                <a:spcPct val="100000"/>
              </a:lnSpc>
              <a:spcBef>
                <a:spcPts val="0"/>
              </a:spcBef>
              <a:spcAft>
                <a:spcPts val="0"/>
              </a:spcAft>
            </a:pPr>
            <a:r>
              <a:rPr sz="950" b="1" i="0">
                <a:solidFill>
                  <a:srgbClr val="617087"/>
                </a:solidFill>
                <a:latin typeface="Aptos"/>
              </a:rPr>
              <a:t>OPTIMIZATION</a:t>
            </a:r>
          </a:p>
        </p:txBody>
      </p:sp>
      <p:sp>
        <p:nvSpPr>
          <p:cNvPr id="6" name="TextBox 5"/>
          <p:cNvSpPr txBox="1"/>
          <p:nvPr/>
        </p:nvSpPr>
        <p:spPr>
          <a:xfrm>
            <a:off x="11173968" y="6556248"/>
            <a:ext cx="457200" cy="182880"/>
          </a:xfrm>
          <a:prstGeom prst="rect">
            <a:avLst/>
          </a:prstGeom>
          <a:noFill/>
        </p:spPr>
        <p:txBody>
          <a:bodyPr wrap="square" lIns="0" rIns="0" tIns="0" bIns="0" anchor="t">
            <a:spAutoFit/>
          </a:bodyPr>
          <a:lstStyle/>
          <a:p>
            <a:pPr algn="r">
              <a:lnSpc>
                <a:spcPct val="100000"/>
              </a:lnSpc>
              <a:spcBef>
                <a:spcPts val="0"/>
              </a:spcBef>
              <a:spcAft>
                <a:spcPts val="0"/>
              </a:spcAft>
            </a:pPr>
            <a:r>
              <a:rPr sz="1000" b="1" i="0">
                <a:solidFill>
                  <a:srgbClr val="617087"/>
                </a:solidFill>
                <a:latin typeface="Aptos"/>
              </a:rPr>
              <a:t>6</a:t>
            </a:r>
          </a:p>
        </p:txBody>
      </p:sp>
      <p:sp>
        <p:nvSpPr>
          <p:cNvPr id="7" name="Rounded Rectangle 6"/>
          <p:cNvSpPr/>
          <p:nvPr/>
        </p:nvSpPr>
        <p:spPr>
          <a:xfrm>
            <a:off x="640080" y="1078992"/>
            <a:ext cx="6675120" cy="2980944"/>
          </a:xfrm>
          <a:prstGeom prst="roundRect">
            <a:avLst/>
          </a:prstGeom>
          <a:solidFill>
            <a:srgbClr val="FFFFFF"/>
          </a:solidFill>
          <a:ln w="10160">
            <a:solidFill>
              <a:srgbClr val="E7E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225296"/>
            <a:ext cx="6172200" cy="530352"/>
          </a:xfrm>
          <a:prstGeom prst="rect">
            <a:avLst/>
          </a:prstGeom>
          <a:noFill/>
        </p:spPr>
        <p:txBody>
          <a:bodyPr wrap="square" lIns="0" rIns="0" tIns="0" bIns="0" anchor="t">
            <a:spAutoFit/>
          </a:bodyPr>
          <a:lstStyle/>
          <a:p>
            <a:pPr algn="ctr">
              <a:lnSpc>
                <a:spcPct val="100000"/>
              </a:lnSpc>
              <a:spcBef>
                <a:spcPts val="0"/>
              </a:spcBef>
              <a:spcAft>
                <a:spcPts val="0"/>
              </a:spcAft>
            </a:pPr>
            <a:r>
              <a:rPr sz="1600" b="1" i="0">
                <a:solidFill>
                  <a:srgbClr val="20639B"/>
                </a:solidFill>
                <a:latin typeface="Aptos"/>
              </a:rPr>
              <a:t>COBYLA = Constrained Optimization BY Linear Approximations</a:t>
            </a:r>
          </a:p>
        </p:txBody>
      </p:sp>
      <p:sp>
        <p:nvSpPr>
          <p:cNvPr id="9" name="Rounded Rectangle 8"/>
          <p:cNvSpPr/>
          <p:nvPr/>
        </p:nvSpPr>
        <p:spPr>
          <a:xfrm>
            <a:off x="896112" y="1874519"/>
            <a:ext cx="1325880" cy="658368"/>
          </a:xfrm>
          <a:prstGeom prst="roundRect">
            <a:avLst/>
          </a:prstGeom>
          <a:solidFill>
            <a:srgbClr val="E7F2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41832" y="1975104"/>
            <a:ext cx="1234439" cy="420624"/>
          </a:xfrm>
          <a:prstGeom prst="rect">
            <a:avLst/>
          </a:prstGeom>
          <a:noFill/>
        </p:spPr>
        <p:txBody>
          <a:bodyPr wrap="square" lIns="0" rIns="0" tIns="0" bIns="0" anchor="ctr">
            <a:spAutoFit/>
          </a:bodyPr>
          <a:lstStyle/>
          <a:p>
            <a:pPr algn="ctr">
              <a:lnSpc>
                <a:spcPct val="100000"/>
              </a:lnSpc>
              <a:spcBef>
                <a:spcPts val="0"/>
              </a:spcBef>
              <a:spcAft>
                <a:spcPts val="0"/>
              </a:spcAft>
            </a:pPr>
            <a:r>
              <a:rPr sz="1200" b="1" i="0">
                <a:solidFill>
                  <a:srgbClr val="20639B"/>
                </a:solidFill>
                <a:latin typeface="Aptos"/>
              </a:rPr>
              <a:t>Initial angles</a:t>
            </a:r>
          </a:p>
        </p:txBody>
      </p:sp>
      <p:sp>
        <p:nvSpPr>
          <p:cNvPr id="11" name="Rounded Rectangle 10"/>
          <p:cNvSpPr/>
          <p:nvPr/>
        </p:nvSpPr>
        <p:spPr>
          <a:xfrm>
            <a:off x="2468880" y="1874519"/>
            <a:ext cx="1536192" cy="658368"/>
          </a:xfrm>
          <a:prstGeom prst="roundRect">
            <a:avLst/>
          </a:prstGeom>
          <a:solidFill>
            <a:srgbClr val="E7F2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14600" y="1975104"/>
            <a:ext cx="1444751" cy="420624"/>
          </a:xfrm>
          <a:prstGeom prst="rect">
            <a:avLst/>
          </a:prstGeom>
          <a:noFill/>
        </p:spPr>
        <p:txBody>
          <a:bodyPr wrap="square" lIns="0" rIns="0" tIns="0" bIns="0" anchor="ctr">
            <a:spAutoFit/>
          </a:bodyPr>
          <a:lstStyle/>
          <a:p>
            <a:pPr algn="ctr">
              <a:lnSpc>
                <a:spcPct val="100000"/>
              </a:lnSpc>
              <a:spcBef>
                <a:spcPts val="0"/>
              </a:spcBef>
              <a:spcAft>
                <a:spcPts val="0"/>
              </a:spcAft>
            </a:pPr>
            <a:r>
              <a:rPr sz="1200" b="1" i="0">
                <a:solidFill>
                  <a:srgbClr val="20639B"/>
                </a:solidFill>
                <a:latin typeface="Aptos"/>
              </a:rPr>
              <a:t>QAOA simulation</a:t>
            </a:r>
          </a:p>
        </p:txBody>
      </p:sp>
      <p:sp>
        <p:nvSpPr>
          <p:cNvPr id="13" name="Rounded Rectangle 12"/>
          <p:cNvSpPr/>
          <p:nvPr/>
        </p:nvSpPr>
        <p:spPr>
          <a:xfrm>
            <a:off x="4251960" y="1874519"/>
            <a:ext cx="1325880" cy="658368"/>
          </a:xfrm>
          <a:prstGeom prst="roundRect">
            <a:avLst/>
          </a:prstGeom>
          <a:solidFill>
            <a:srgbClr val="E7F2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97680" y="1975104"/>
            <a:ext cx="1234439" cy="420624"/>
          </a:xfrm>
          <a:prstGeom prst="rect">
            <a:avLst/>
          </a:prstGeom>
          <a:noFill/>
        </p:spPr>
        <p:txBody>
          <a:bodyPr wrap="square" lIns="0" rIns="0" tIns="0" bIns="0" anchor="ctr">
            <a:spAutoFit/>
          </a:bodyPr>
          <a:lstStyle/>
          <a:p>
            <a:pPr algn="ctr">
              <a:lnSpc>
                <a:spcPct val="100000"/>
              </a:lnSpc>
              <a:spcBef>
                <a:spcPts val="0"/>
              </a:spcBef>
              <a:spcAft>
                <a:spcPts val="0"/>
              </a:spcAft>
            </a:pPr>
            <a:r>
              <a:rPr sz="1200" b="1" i="0">
                <a:solidFill>
                  <a:srgbClr val="20639B"/>
                </a:solidFill>
                <a:latin typeface="Aptos"/>
              </a:rPr>
              <a:t>Objective value</a:t>
            </a:r>
          </a:p>
        </p:txBody>
      </p:sp>
      <p:sp>
        <p:nvSpPr>
          <p:cNvPr id="15" name="Rounded Rectangle 14"/>
          <p:cNvSpPr/>
          <p:nvPr/>
        </p:nvSpPr>
        <p:spPr>
          <a:xfrm>
            <a:off x="5806440" y="1874519"/>
            <a:ext cx="1325880" cy="658368"/>
          </a:xfrm>
          <a:prstGeom prst="roundRect">
            <a:avLst/>
          </a:prstGeom>
          <a:solidFill>
            <a:srgbClr val="FAE9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852159" y="1975104"/>
            <a:ext cx="1234439" cy="420624"/>
          </a:xfrm>
          <a:prstGeom prst="rect">
            <a:avLst/>
          </a:prstGeom>
          <a:noFill/>
        </p:spPr>
        <p:txBody>
          <a:bodyPr wrap="square" lIns="0" rIns="0" tIns="0" bIns="0" anchor="ctr">
            <a:spAutoFit/>
          </a:bodyPr>
          <a:lstStyle/>
          <a:p>
            <a:pPr algn="ctr">
              <a:lnSpc>
                <a:spcPct val="100000"/>
              </a:lnSpc>
              <a:spcBef>
                <a:spcPts val="0"/>
              </a:spcBef>
              <a:spcAft>
                <a:spcPts val="0"/>
              </a:spcAft>
            </a:pPr>
            <a:r>
              <a:rPr sz="1200" b="1" i="0">
                <a:solidFill>
                  <a:srgbClr val="D14D5A"/>
                </a:solidFill>
                <a:latin typeface="Aptos"/>
              </a:rPr>
              <a:t>COBYLA update</a:t>
            </a:r>
          </a:p>
        </p:txBody>
      </p:sp>
      <p:sp>
        <p:nvSpPr>
          <p:cNvPr id="17" name="Chevron 16"/>
          <p:cNvSpPr/>
          <p:nvPr/>
        </p:nvSpPr>
        <p:spPr>
          <a:xfrm>
            <a:off x="2221992" y="2084831"/>
            <a:ext cx="228600" cy="219456"/>
          </a:xfrm>
          <a:prstGeom prst="chevron">
            <a:avLst/>
          </a:prstGeom>
          <a:solidFill>
            <a:srgbClr val="98A2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Chevron 17"/>
          <p:cNvSpPr/>
          <p:nvPr/>
        </p:nvSpPr>
        <p:spPr>
          <a:xfrm>
            <a:off x="4014215" y="2084831"/>
            <a:ext cx="219456" cy="219456"/>
          </a:xfrm>
          <a:prstGeom prst="chevron">
            <a:avLst/>
          </a:prstGeom>
          <a:solidFill>
            <a:srgbClr val="98A2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Chevron 18"/>
          <p:cNvSpPr/>
          <p:nvPr/>
        </p:nvSpPr>
        <p:spPr>
          <a:xfrm>
            <a:off x="5577840" y="2084831"/>
            <a:ext cx="210312" cy="219456"/>
          </a:xfrm>
          <a:prstGeom prst="chevron">
            <a:avLst/>
          </a:prstGeom>
          <a:solidFill>
            <a:srgbClr val="98A2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a:off x="6492240" y="2660904"/>
            <a:ext cx="0" cy="438912"/>
          </a:xfrm>
          <a:prstGeom prst="line">
            <a:avLst/>
          </a:prstGeom>
          <a:ln w="20320">
            <a:solidFill>
              <a:srgbClr val="D14D5A"/>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1554480" y="3099816"/>
            <a:ext cx="4937760" cy="0"/>
          </a:xfrm>
          <a:prstGeom prst="line">
            <a:avLst/>
          </a:prstGeom>
          <a:ln w="20320">
            <a:solidFill>
              <a:srgbClr val="D14D5A"/>
            </a:solidFill>
            <a:headEnd type="triangle" w="sm" len="sm"/>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969264" y="3310128"/>
            <a:ext cx="5961888" cy="530352"/>
          </a:xfrm>
          <a:prstGeom prst="rect">
            <a:avLst/>
          </a:prstGeom>
          <a:noFill/>
        </p:spPr>
        <p:txBody>
          <a:bodyPr wrap="square" lIns="0" rIns="0" tIns="0" bIns="0" anchor="t">
            <a:spAutoFit/>
          </a:bodyPr>
          <a:lstStyle/>
          <a:p>
            <a:pPr algn="ctr">
              <a:lnSpc>
                <a:spcPct val="100000"/>
              </a:lnSpc>
              <a:spcBef>
                <a:spcPts val="0"/>
              </a:spcBef>
              <a:spcAft>
                <a:spcPts val="0"/>
              </a:spcAft>
            </a:pPr>
            <a:r>
              <a:rPr sz="1550" b="1" i="0">
                <a:solidFill>
                  <a:srgbClr val="24324A"/>
                </a:solidFill>
                <a:latin typeface="Aptos"/>
              </a:rPr>
              <a:t>Derivative-free; it optimizes γ₁…γₚ and β₁…βₚ — not the route directly.</a:t>
            </a:r>
          </a:p>
        </p:txBody>
      </p:sp>
      <p:sp>
        <p:nvSpPr>
          <p:cNvPr id="23" name="Rounded Rectangle 22"/>
          <p:cNvSpPr/>
          <p:nvPr/>
        </p:nvSpPr>
        <p:spPr>
          <a:xfrm>
            <a:off x="7589520" y="1078992"/>
            <a:ext cx="3959352" cy="941832"/>
          </a:xfrm>
          <a:prstGeom prst="roundRect">
            <a:avLst/>
          </a:prstGeom>
          <a:solidFill>
            <a:srgbClr val="FFFFFF"/>
          </a:solidFill>
          <a:ln w="10160">
            <a:solidFill>
              <a:srgbClr val="E7E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589520" y="1078992"/>
            <a:ext cx="50292" cy="941832"/>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54112" y="1170432"/>
            <a:ext cx="3666744" cy="182880"/>
          </a:xfrm>
          <a:prstGeom prst="rect">
            <a:avLst/>
          </a:prstGeom>
          <a:noFill/>
        </p:spPr>
        <p:txBody>
          <a:bodyPr wrap="square" lIns="0" rIns="0" tIns="0" bIns="0" anchor="t">
            <a:spAutoFit/>
          </a:bodyPr>
          <a:lstStyle/>
          <a:p>
            <a:pPr algn="l">
              <a:lnSpc>
                <a:spcPct val="100000"/>
              </a:lnSpc>
              <a:spcBef>
                <a:spcPts val="0"/>
              </a:spcBef>
              <a:spcAft>
                <a:spcPts val="0"/>
              </a:spcAft>
            </a:pPr>
            <a:r>
              <a:rPr sz="950" b="1" i="0">
                <a:solidFill>
                  <a:srgbClr val="617087"/>
                </a:solidFill>
                <a:latin typeface="Aptos"/>
              </a:rPr>
              <a:t>VARIATIONAL DIMENSION</a:t>
            </a:r>
          </a:p>
        </p:txBody>
      </p:sp>
      <p:sp>
        <p:nvSpPr>
          <p:cNvPr id="26" name="TextBox 25"/>
          <p:cNvSpPr txBox="1"/>
          <p:nvPr/>
        </p:nvSpPr>
        <p:spPr>
          <a:xfrm>
            <a:off x="7754112" y="1389888"/>
            <a:ext cx="3666744" cy="320040"/>
          </a:xfrm>
          <a:prstGeom prst="rect">
            <a:avLst/>
          </a:prstGeom>
          <a:noFill/>
        </p:spPr>
        <p:txBody>
          <a:bodyPr wrap="square" lIns="0" rIns="0" tIns="0" bIns="0" anchor="t">
            <a:spAutoFit/>
          </a:bodyPr>
          <a:lstStyle/>
          <a:p>
            <a:pPr algn="l">
              <a:lnSpc>
                <a:spcPct val="100000"/>
              </a:lnSpc>
              <a:spcBef>
                <a:spcPts val="0"/>
              </a:spcBef>
              <a:spcAft>
                <a:spcPts val="0"/>
              </a:spcAft>
            </a:pPr>
            <a:r>
              <a:rPr sz="1950" b="1" i="0">
                <a:solidFill>
                  <a:srgbClr val="14213D"/>
                </a:solidFill>
                <a:latin typeface="Aptos"/>
              </a:rPr>
              <a:t>2p parameters</a:t>
            </a:r>
          </a:p>
        </p:txBody>
      </p:sp>
      <p:sp>
        <p:nvSpPr>
          <p:cNvPr id="27" name="TextBox 26"/>
          <p:cNvSpPr txBox="1"/>
          <p:nvPr/>
        </p:nvSpPr>
        <p:spPr>
          <a:xfrm>
            <a:off x="7754112" y="1819656"/>
            <a:ext cx="3666744" cy="128016"/>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617087"/>
                </a:solidFill>
                <a:latin typeface="Aptos"/>
              </a:rPr>
              <a:t>p=110 → 220 angles</a:t>
            </a:r>
          </a:p>
        </p:txBody>
      </p:sp>
      <p:sp>
        <p:nvSpPr>
          <p:cNvPr id="28" name="Rounded Rectangle 27"/>
          <p:cNvSpPr/>
          <p:nvPr/>
        </p:nvSpPr>
        <p:spPr>
          <a:xfrm>
            <a:off x="7589520" y="2194560"/>
            <a:ext cx="3959352" cy="941832"/>
          </a:xfrm>
          <a:prstGeom prst="roundRect">
            <a:avLst/>
          </a:prstGeom>
          <a:solidFill>
            <a:srgbClr val="FFFFFF"/>
          </a:solidFill>
          <a:ln w="10160">
            <a:solidFill>
              <a:srgbClr val="E7E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589520" y="2194560"/>
            <a:ext cx="50292" cy="941832"/>
          </a:xfrm>
          <a:prstGeom prst="rect">
            <a:avLst/>
          </a:prstGeom>
          <a:solidFill>
            <a:srgbClr val="E9B9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754112" y="2286000"/>
            <a:ext cx="3666744" cy="182880"/>
          </a:xfrm>
          <a:prstGeom prst="rect">
            <a:avLst/>
          </a:prstGeom>
          <a:noFill/>
        </p:spPr>
        <p:txBody>
          <a:bodyPr wrap="square" lIns="0" rIns="0" tIns="0" bIns="0" anchor="t">
            <a:spAutoFit/>
          </a:bodyPr>
          <a:lstStyle/>
          <a:p>
            <a:pPr algn="l">
              <a:lnSpc>
                <a:spcPct val="100000"/>
              </a:lnSpc>
              <a:spcBef>
                <a:spcPts val="0"/>
              </a:spcBef>
              <a:spcAft>
                <a:spcPts val="0"/>
              </a:spcAft>
            </a:pPr>
            <a:r>
              <a:rPr sz="950" b="1" i="0">
                <a:solidFill>
                  <a:srgbClr val="617087"/>
                </a:solidFill>
                <a:latin typeface="Aptos"/>
              </a:rPr>
              <a:t>FROZEN DEPTH BUDGET</a:t>
            </a:r>
          </a:p>
        </p:txBody>
      </p:sp>
      <p:sp>
        <p:nvSpPr>
          <p:cNvPr id="31" name="TextBox 30"/>
          <p:cNvSpPr txBox="1"/>
          <p:nvPr/>
        </p:nvSpPr>
        <p:spPr>
          <a:xfrm>
            <a:off x="7754112" y="2505456"/>
            <a:ext cx="3666744" cy="320040"/>
          </a:xfrm>
          <a:prstGeom prst="rect">
            <a:avLst/>
          </a:prstGeom>
          <a:noFill/>
        </p:spPr>
        <p:txBody>
          <a:bodyPr wrap="square" lIns="0" rIns="0" tIns="0" bIns="0" anchor="t">
            <a:spAutoFit/>
          </a:bodyPr>
          <a:lstStyle/>
          <a:p>
            <a:pPr algn="l">
              <a:lnSpc>
                <a:spcPct val="100000"/>
              </a:lnSpc>
              <a:spcBef>
                <a:spcPts val="0"/>
              </a:spcBef>
              <a:spcAft>
                <a:spcPts val="0"/>
              </a:spcAft>
            </a:pPr>
            <a:r>
              <a:rPr sz="1950" b="1" i="0">
                <a:solidFill>
                  <a:srgbClr val="14213D"/>
                </a:solidFill>
                <a:latin typeface="Aptos"/>
              </a:rPr>
              <a:t>max(120, 4p + 64)</a:t>
            </a:r>
          </a:p>
        </p:txBody>
      </p:sp>
      <p:sp>
        <p:nvSpPr>
          <p:cNvPr id="32" name="TextBox 31"/>
          <p:cNvSpPr txBox="1"/>
          <p:nvPr/>
        </p:nvSpPr>
        <p:spPr>
          <a:xfrm>
            <a:off x="7754112" y="2935223"/>
            <a:ext cx="3666744" cy="128016"/>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617087"/>
                </a:solidFill>
                <a:latin typeface="Aptos"/>
              </a:rPr>
              <a:t>p=110 → 504 objective evaluations</a:t>
            </a:r>
          </a:p>
        </p:txBody>
      </p:sp>
      <p:sp>
        <p:nvSpPr>
          <p:cNvPr id="33" name="Rounded Rectangle 32"/>
          <p:cNvSpPr/>
          <p:nvPr/>
        </p:nvSpPr>
        <p:spPr>
          <a:xfrm>
            <a:off x="7589520" y="3310128"/>
            <a:ext cx="3959352" cy="941832"/>
          </a:xfrm>
          <a:prstGeom prst="roundRect">
            <a:avLst/>
          </a:prstGeom>
          <a:solidFill>
            <a:srgbClr val="FFFFFF"/>
          </a:solidFill>
          <a:ln w="10160">
            <a:solidFill>
              <a:srgbClr val="E7E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589520" y="3310128"/>
            <a:ext cx="50292" cy="941832"/>
          </a:xfrm>
          <a:prstGeom prst="rect">
            <a:avLst/>
          </a:prstGeom>
          <a:solidFill>
            <a:srgbClr val="2063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754112" y="3401568"/>
            <a:ext cx="3666744" cy="182880"/>
          </a:xfrm>
          <a:prstGeom prst="rect">
            <a:avLst/>
          </a:prstGeom>
          <a:noFill/>
        </p:spPr>
        <p:txBody>
          <a:bodyPr wrap="square" lIns="0" rIns="0" tIns="0" bIns="0" anchor="t">
            <a:spAutoFit/>
          </a:bodyPr>
          <a:lstStyle/>
          <a:p>
            <a:pPr algn="l">
              <a:lnSpc>
                <a:spcPct val="100000"/>
              </a:lnSpc>
              <a:spcBef>
                <a:spcPts val="0"/>
              </a:spcBef>
              <a:spcAft>
                <a:spcPts val="0"/>
              </a:spcAft>
            </a:pPr>
            <a:r>
              <a:rPr sz="950" b="1" i="0">
                <a:solidFill>
                  <a:srgbClr val="617087"/>
                </a:solidFill>
                <a:latin typeface="Aptos"/>
              </a:rPr>
              <a:t>MAIN-SWEEP OBJECTIVE</a:t>
            </a:r>
          </a:p>
        </p:txBody>
      </p:sp>
      <p:sp>
        <p:nvSpPr>
          <p:cNvPr id="36" name="TextBox 35"/>
          <p:cNvSpPr txBox="1"/>
          <p:nvPr/>
        </p:nvSpPr>
        <p:spPr>
          <a:xfrm>
            <a:off x="7754112" y="3621024"/>
            <a:ext cx="3666744" cy="320040"/>
          </a:xfrm>
          <a:prstGeom prst="rect">
            <a:avLst/>
          </a:prstGeom>
          <a:noFill/>
        </p:spPr>
        <p:txBody>
          <a:bodyPr wrap="square" lIns="0" rIns="0" tIns="0" bIns="0" anchor="t">
            <a:spAutoFit/>
          </a:bodyPr>
          <a:lstStyle/>
          <a:p>
            <a:pPr algn="l">
              <a:lnSpc>
                <a:spcPct val="100000"/>
              </a:lnSpc>
              <a:spcBef>
                <a:spcPts val="0"/>
              </a:spcBef>
              <a:spcAft>
                <a:spcPts val="0"/>
              </a:spcAft>
            </a:pPr>
            <a:r>
              <a:rPr sz="1950" b="1" i="0">
                <a:solidFill>
                  <a:srgbClr val="14213D"/>
                </a:solidFill>
                <a:latin typeface="Aptos"/>
              </a:rPr>
              <a:t>Expectation E[H_C]</a:t>
            </a:r>
          </a:p>
        </p:txBody>
      </p:sp>
      <p:sp>
        <p:nvSpPr>
          <p:cNvPr id="37" name="TextBox 36"/>
          <p:cNvSpPr txBox="1"/>
          <p:nvPr/>
        </p:nvSpPr>
        <p:spPr>
          <a:xfrm>
            <a:off x="7754112" y="4050792"/>
            <a:ext cx="3666744" cy="128016"/>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617087"/>
                </a:solidFill>
                <a:latin typeface="Aptos"/>
              </a:rPr>
              <a:t>same objective for both mixers</a:t>
            </a:r>
          </a:p>
        </p:txBody>
      </p:sp>
      <p:sp>
        <p:nvSpPr>
          <p:cNvPr id="38" name="Rounded Rectangle 37"/>
          <p:cNvSpPr/>
          <p:nvPr/>
        </p:nvSpPr>
        <p:spPr>
          <a:xfrm>
            <a:off x="640080" y="4370832"/>
            <a:ext cx="10908792" cy="1335024"/>
          </a:xfrm>
          <a:prstGeom prst="round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9" name="Picture 38" descr="eq_expectation.png"/>
          <p:cNvPicPr>
            <a:picLocks noChangeAspect="1"/>
          </p:cNvPicPr>
          <p:nvPr/>
        </p:nvPicPr>
        <p:blipFill>
          <a:blip r:embed="rId2"/>
          <a:stretch>
            <a:fillRect/>
          </a:stretch>
        </p:blipFill>
        <p:spPr>
          <a:xfrm>
            <a:off x="896112" y="4608576"/>
            <a:ext cx="2871216" cy="594360"/>
          </a:xfrm>
          <a:prstGeom prst="rect">
            <a:avLst/>
          </a:prstGeom>
        </p:spPr>
      </p:pic>
      <p:sp>
        <p:nvSpPr>
          <p:cNvPr id="40" name="TextBox 39"/>
          <p:cNvSpPr txBox="1"/>
          <p:nvPr/>
        </p:nvSpPr>
        <p:spPr>
          <a:xfrm>
            <a:off x="3822191" y="4645152"/>
            <a:ext cx="475488" cy="347472"/>
          </a:xfrm>
          <a:prstGeom prst="rect">
            <a:avLst/>
          </a:prstGeom>
          <a:noFill/>
        </p:spPr>
        <p:txBody>
          <a:bodyPr wrap="square" lIns="0" rIns="0" tIns="0" bIns="0" anchor="t">
            <a:spAutoFit/>
          </a:bodyPr>
          <a:lstStyle/>
          <a:p>
            <a:pPr algn="ctr">
              <a:lnSpc>
                <a:spcPct val="100000"/>
              </a:lnSpc>
              <a:spcBef>
                <a:spcPts val="0"/>
              </a:spcBef>
              <a:spcAft>
                <a:spcPts val="0"/>
              </a:spcAft>
            </a:pPr>
            <a:r>
              <a:rPr sz="1800" b="1" i="0">
                <a:solidFill>
                  <a:srgbClr val="E9B949"/>
                </a:solidFill>
                <a:latin typeface="Aptos"/>
              </a:rPr>
              <a:t>vs</a:t>
            </a:r>
          </a:p>
        </p:txBody>
      </p:sp>
      <p:pic>
        <p:nvPicPr>
          <p:cNvPr id="41" name="Picture 40" descr="eq_cvar.png"/>
          <p:cNvPicPr>
            <a:picLocks noChangeAspect="1"/>
          </p:cNvPicPr>
          <p:nvPr/>
        </p:nvPicPr>
        <p:blipFill>
          <a:blip r:embed="rId3"/>
          <a:stretch>
            <a:fillRect/>
          </a:stretch>
        </p:blipFill>
        <p:spPr>
          <a:xfrm>
            <a:off x="4389120" y="4553712"/>
            <a:ext cx="6537960" cy="713232"/>
          </a:xfrm>
          <a:prstGeom prst="rect">
            <a:avLst/>
          </a:prstGeom>
        </p:spPr>
      </p:pic>
      <p:sp>
        <p:nvSpPr>
          <p:cNvPr id="42" name="TextBox 41"/>
          <p:cNvSpPr txBox="1"/>
          <p:nvPr/>
        </p:nvSpPr>
        <p:spPr>
          <a:xfrm>
            <a:off x="914400" y="5797296"/>
            <a:ext cx="10378440" cy="457200"/>
          </a:xfrm>
          <a:prstGeom prst="rect">
            <a:avLst/>
          </a:prstGeom>
          <a:noFill/>
        </p:spPr>
        <p:txBody>
          <a:bodyPr wrap="square" lIns="0" rIns="0" tIns="0" bIns="0" anchor="t">
            <a:spAutoFit/>
          </a:bodyPr>
          <a:lstStyle/>
          <a:p>
            <a:pPr algn="ctr">
              <a:lnSpc>
                <a:spcPct val="100000"/>
              </a:lnSpc>
              <a:spcBef>
                <a:spcPts val="0"/>
              </a:spcBef>
              <a:spcAft>
                <a:spcPts val="0"/>
              </a:spcAft>
            </a:pPr>
            <a:r>
              <a:rPr sz="1450" b="0" i="0">
                <a:solidFill>
                  <a:srgbClr val="617087"/>
                </a:solidFill>
                <a:latin typeface="Aptos"/>
              </a:rPr>
              <a:t>CVaR changes the classical objective, not the mixer. Separate p=110 study: Penalty-X 7/10 paired wins (mixed); Global-Grover 10/10.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548640" y="292608"/>
            <a:ext cx="11064240" cy="530352"/>
          </a:xfrm>
          <a:prstGeom prst="rect">
            <a:avLst/>
          </a:prstGeom>
          <a:noFill/>
        </p:spPr>
        <p:txBody>
          <a:bodyPr wrap="square" lIns="0" rIns="0" tIns="0" bIns="0" anchor="t">
            <a:spAutoFit/>
          </a:bodyPr>
          <a:lstStyle/>
          <a:p>
            <a:pPr algn="l">
              <a:lnSpc>
                <a:spcPct val="100000"/>
              </a:lnSpc>
              <a:spcBef>
                <a:spcPts val="0"/>
              </a:spcBef>
              <a:spcAft>
                <a:spcPts val="0"/>
              </a:spcAft>
            </a:pPr>
            <a:r>
              <a:rPr sz="2900" b="1" i="0">
                <a:solidFill>
                  <a:srgbClr val="14213D"/>
                </a:solidFill>
                <a:latin typeface="Aptos"/>
              </a:rPr>
              <a:t>What we measure — and how</a:t>
            </a:r>
          </a:p>
        </p:txBody>
      </p:sp>
      <p:sp>
        <p:nvSpPr>
          <p:cNvPr id="3" name="Rectangle 2"/>
          <p:cNvSpPr/>
          <p:nvPr/>
        </p:nvSpPr>
        <p:spPr>
          <a:xfrm>
            <a:off x="548640" y="896112"/>
            <a:ext cx="658368" cy="41148"/>
          </a:xfrm>
          <a:prstGeom prst="rect">
            <a:avLst/>
          </a:prstGeom>
          <a:solidFill>
            <a:srgbClr val="2063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a:off x="502920" y="6528816"/>
            <a:ext cx="11183112" cy="0"/>
          </a:xfrm>
          <a:prstGeom prst="line">
            <a:avLst/>
          </a:prstGeom>
          <a:ln w="8890">
            <a:solidFill>
              <a:srgbClr val="E7ECF3"/>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30352" y="6574536"/>
            <a:ext cx="2194560" cy="164592"/>
          </a:xfrm>
          <a:prstGeom prst="rect">
            <a:avLst/>
          </a:prstGeom>
          <a:noFill/>
        </p:spPr>
        <p:txBody>
          <a:bodyPr wrap="square" lIns="0" rIns="0" tIns="0" bIns="0" anchor="t">
            <a:spAutoFit/>
          </a:bodyPr>
          <a:lstStyle/>
          <a:p>
            <a:pPr algn="l">
              <a:lnSpc>
                <a:spcPct val="100000"/>
              </a:lnSpc>
              <a:spcBef>
                <a:spcPts val="0"/>
              </a:spcBef>
              <a:spcAft>
                <a:spcPts val="0"/>
              </a:spcAft>
            </a:pPr>
            <a:r>
              <a:rPr sz="950" b="1" i="0">
                <a:solidFill>
                  <a:srgbClr val="617087"/>
                </a:solidFill>
                <a:latin typeface="Aptos"/>
              </a:rPr>
              <a:t>EXPERIMENT</a:t>
            </a:r>
          </a:p>
        </p:txBody>
      </p:sp>
      <p:sp>
        <p:nvSpPr>
          <p:cNvPr id="6" name="TextBox 5"/>
          <p:cNvSpPr txBox="1"/>
          <p:nvPr/>
        </p:nvSpPr>
        <p:spPr>
          <a:xfrm>
            <a:off x="11173968" y="6556248"/>
            <a:ext cx="457200" cy="182880"/>
          </a:xfrm>
          <a:prstGeom prst="rect">
            <a:avLst/>
          </a:prstGeom>
          <a:noFill/>
        </p:spPr>
        <p:txBody>
          <a:bodyPr wrap="square" lIns="0" rIns="0" tIns="0" bIns="0" anchor="t">
            <a:spAutoFit/>
          </a:bodyPr>
          <a:lstStyle/>
          <a:p>
            <a:pPr algn="r">
              <a:lnSpc>
                <a:spcPct val="100000"/>
              </a:lnSpc>
              <a:spcBef>
                <a:spcPts val="0"/>
              </a:spcBef>
              <a:spcAft>
                <a:spcPts val="0"/>
              </a:spcAft>
            </a:pPr>
            <a:r>
              <a:rPr sz="1000" b="1" i="0">
                <a:solidFill>
                  <a:srgbClr val="617087"/>
                </a:solidFill>
                <a:latin typeface="Aptos"/>
              </a:rPr>
              <a:t>7</a:t>
            </a:r>
          </a:p>
        </p:txBody>
      </p:sp>
      <p:sp>
        <p:nvSpPr>
          <p:cNvPr id="7" name="Rounded Rectangle 6"/>
          <p:cNvSpPr/>
          <p:nvPr/>
        </p:nvSpPr>
        <p:spPr>
          <a:xfrm>
            <a:off x="658368" y="1115568"/>
            <a:ext cx="3182112" cy="1581912"/>
          </a:xfrm>
          <a:prstGeom prst="roundRect">
            <a:avLst/>
          </a:prstGeom>
          <a:solidFill>
            <a:srgbClr val="FFFFFF"/>
          </a:solidFill>
          <a:ln w="16510">
            <a:solidFill>
              <a:srgbClr val="2A9D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9536" y="1298448"/>
            <a:ext cx="2779776" cy="246888"/>
          </a:xfrm>
          <a:prstGeom prst="rect">
            <a:avLst/>
          </a:prstGeom>
          <a:noFill/>
        </p:spPr>
        <p:txBody>
          <a:bodyPr wrap="square" lIns="0" rIns="0" tIns="0" bIns="0" anchor="t">
            <a:spAutoFit/>
          </a:bodyPr>
          <a:lstStyle/>
          <a:p>
            <a:pPr algn="ctr">
              <a:lnSpc>
                <a:spcPct val="100000"/>
              </a:lnSpc>
              <a:spcBef>
                <a:spcPts val="0"/>
              </a:spcBef>
              <a:spcAft>
                <a:spcPts val="0"/>
              </a:spcAft>
            </a:pPr>
            <a:r>
              <a:rPr sz="1400" b="1" i="0">
                <a:solidFill>
                  <a:srgbClr val="2A9D8F"/>
                </a:solidFill>
                <a:latin typeface="Aptos"/>
              </a:rPr>
              <a:t>p_feas</a:t>
            </a:r>
          </a:p>
        </p:txBody>
      </p:sp>
      <p:sp>
        <p:nvSpPr>
          <p:cNvPr id="9" name="TextBox 8"/>
          <p:cNvSpPr txBox="1"/>
          <p:nvPr/>
        </p:nvSpPr>
        <p:spPr>
          <a:xfrm>
            <a:off x="859536" y="1664208"/>
            <a:ext cx="2779776" cy="310896"/>
          </a:xfrm>
          <a:prstGeom prst="rect">
            <a:avLst/>
          </a:prstGeom>
          <a:noFill/>
        </p:spPr>
        <p:txBody>
          <a:bodyPr wrap="square" lIns="0" rIns="0" tIns="0" bIns="0" anchor="t">
            <a:spAutoFit/>
          </a:bodyPr>
          <a:lstStyle/>
          <a:p>
            <a:pPr algn="ctr">
              <a:lnSpc>
                <a:spcPct val="100000"/>
              </a:lnSpc>
              <a:spcBef>
                <a:spcPts val="0"/>
              </a:spcBef>
              <a:spcAft>
                <a:spcPts val="0"/>
              </a:spcAft>
            </a:pPr>
            <a:r>
              <a:rPr sz="1900" b="1" i="0">
                <a:solidFill>
                  <a:srgbClr val="14213D"/>
                </a:solidFill>
                <a:latin typeface="Aptos"/>
              </a:rPr>
              <a:t>P(valid route)</a:t>
            </a:r>
          </a:p>
        </p:txBody>
      </p:sp>
      <p:sp>
        <p:nvSpPr>
          <p:cNvPr id="10" name="TextBox 9"/>
          <p:cNvSpPr txBox="1"/>
          <p:nvPr/>
        </p:nvSpPr>
        <p:spPr>
          <a:xfrm>
            <a:off x="896112" y="2048256"/>
            <a:ext cx="2706624" cy="475488"/>
          </a:xfrm>
          <a:prstGeom prst="rect">
            <a:avLst/>
          </a:prstGeom>
          <a:noFill/>
        </p:spPr>
        <p:txBody>
          <a:bodyPr wrap="square" lIns="0" rIns="0" tIns="0" bIns="0" anchor="t">
            <a:spAutoFit/>
          </a:bodyPr>
          <a:lstStyle/>
          <a:p>
            <a:pPr algn="ctr">
              <a:lnSpc>
                <a:spcPct val="100000"/>
              </a:lnSpc>
              <a:spcBef>
                <a:spcPts val="0"/>
              </a:spcBef>
              <a:spcAft>
                <a:spcPts val="0"/>
              </a:spcAft>
            </a:pPr>
            <a:r>
              <a:rPr sz="1300" b="0" i="0">
                <a:solidFill>
                  <a:srgbClr val="617087"/>
                </a:solidFill>
                <a:latin typeface="Aptos"/>
              </a:rPr>
              <a:t>How much mass reaches the feasible region?</a:t>
            </a:r>
          </a:p>
        </p:txBody>
      </p:sp>
      <p:sp>
        <p:nvSpPr>
          <p:cNvPr id="11" name="Rounded Rectangle 10"/>
          <p:cNvSpPr/>
          <p:nvPr/>
        </p:nvSpPr>
        <p:spPr>
          <a:xfrm>
            <a:off x="4078224" y="1115568"/>
            <a:ext cx="3182112" cy="1581912"/>
          </a:xfrm>
          <a:prstGeom prst="roundRect">
            <a:avLst/>
          </a:prstGeom>
          <a:solidFill>
            <a:srgbClr val="FFFFFF"/>
          </a:solidFill>
          <a:ln w="16510">
            <a:solidFill>
              <a:srgbClr val="2063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79392" y="1298448"/>
            <a:ext cx="2779776" cy="246888"/>
          </a:xfrm>
          <a:prstGeom prst="rect">
            <a:avLst/>
          </a:prstGeom>
          <a:noFill/>
        </p:spPr>
        <p:txBody>
          <a:bodyPr wrap="square" lIns="0" rIns="0" tIns="0" bIns="0" anchor="t">
            <a:spAutoFit/>
          </a:bodyPr>
          <a:lstStyle/>
          <a:p>
            <a:pPr algn="ctr">
              <a:lnSpc>
                <a:spcPct val="100000"/>
              </a:lnSpc>
              <a:spcBef>
                <a:spcPts val="0"/>
              </a:spcBef>
              <a:spcAft>
                <a:spcPts val="0"/>
              </a:spcAft>
            </a:pPr>
            <a:r>
              <a:rPr sz="1400" b="1" i="0">
                <a:solidFill>
                  <a:srgbClr val="20639B"/>
                </a:solidFill>
                <a:latin typeface="Aptos"/>
              </a:rPr>
              <a:t>p_opt</a:t>
            </a:r>
          </a:p>
        </p:txBody>
      </p:sp>
      <p:sp>
        <p:nvSpPr>
          <p:cNvPr id="13" name="TextBox 12"/>
          <p:cNvSpPr txBox="1"/>
          <p:nvPr/>
        </p:nvSpPr>
        <p:spPr>
          <a:xfrm>
            <a:off x="4279392" y="1664208"/>
            <a:ext cx="2779776" cy="310896"/>
          </a:xfrm>
          <a:prstGeom prst="rect">
            <a:avLst/>
          </a:prstGeom>
          <a:noFill/>
        </p:spPr>
        <p:txBody>
          <a:bodyPr wrap="square" lIns="0" rIns="0" tIns="0" bIns="0" anchor="t">
            <a:spAutoFit/>
          </a:bodyPr>
          <a:lstStyle/>
          <a:p>
            <a:pPr algn="ctr">
              <a:lnSpc>
                <a:spcPct val="100000"/>
              </a:lnSpc>
              <a:spcBef>
                <a:spcPts val="0"/>
              </a:spcBef>
              <a:spcAft>
                <a:spcPts val="0"/>
              </a:spcAft>
            </a:pPr>
            <a:r>
              <a:rPr sz="1900" b="1" i="0">
                <a:solidFill>
                  <a:srgbClr val="14213D"/>
                </a:solidFill>
                <a:latin typeface="Aptos"/>
              </a:rPr>
              <a:t>P(optimal route)</a:t>
            </a:r>
          </a:p>
        </p:txBody>
      </p:sp>
      <p:sp>
        <p:nvSpPr>
          <p:cNvPr id="14" name="TextBox 13"/>
          <p:cNvSpPr txBox="1"/>
          <p:nvPr/>
        </p:nvSpPr>
        <p:spPr>
          <a:xfrm>
            <a:off x="4315968" y="2048256"/>
            <a:ext cx="2706624" cy="475488"/>
          </a:xfrm>
          <a:prstGeom prst="rect">
            <a:avLst/>
          </a:prstGeom>
          <a:noFill/>
        </p:spPr>
        <p:txBody>
          <a:bodyPr wrap="square" lIns="0" rIns="0" tIns="0" bIns="0" anchor="t">
            <a:spAutoFit/>
          </a:bodyPr>
          <a:lstStyle/>
          <a:p>
            <a:pPr algn="ctr">
              <a:lnSpc>
                <a:spcPct val="100000"/>
              </a:lnSpc>
              <a:spcBef>
                <a:spcPts val="0"/>
              </a:spcBef>
              <a:spcAft>
                <a:spcPts val="0"/>
              </a:spcAft>
            </a:pPr>
            <a:r>
              <a:rPr sz="1300" b="0" i="0">
                <a:solidFill>
                  <a:srgbClr val="617087"/>
                </a:solidFill>
                <a:latin typeface="Aptos"/>
              </a:rPr>
              <a:t>What is the direct single-shot success probability?</a:t>
            </a:r>
          </a:p>
        </p:txBody>
      </p:sp>
      <p:sp>
        <p:nvSpPr>
          <p:cNvPr id="15" name="Rounded Rectangle 14"/>
          <p:cNvSpPr/>
          <p:nvPr/>
        </p:nvSpPr>
        <p:spPr>
          <a:xfrm>
            <a:off x="7498079" y="1115568"/>
            <a:ext cx="3182112" cy="1581912"/>
          </a:xfrm>
          <a:prstGeom prst="roundRect">
            <a:avLst/>
          </a:prstGeom>
          <a:solidFill>
            <a:srgbClr val="FFFFFF"/>
          </a:solidFill>
          <a:ln w="16510">
            <a:solidFill>
              <a:srgbClr val="D14D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99248" y="1298448"/>
            <a:ext cx="2779776" cy="246888"/>
          </a:xfrm>
          <a:prstGeom prst="rect">
            <a:avLst/>
          </a:prstGeom>
          <a:noFill/>
        </p:spPr>
        <p:txBody>
          <a:bodyPr wrap="square" lIns="0" rIns="0" tIns="0" bIns="0" anchor="t">
            <a:spAutoFit/>
          </a:bodyPr>
          <a:lstStyle/>
          <a:p>
            <a:pPr algn="ctr">
              <a:lnSpc>
                <a:spcPct val="100000"/>
              </a:lnSpc>
              <a:spcBef>
                <a:spcPts val="0"/>
              </a:spcBef>
              <a:spcAft>
                <a:spcPts val="0"/>
              </a:spcAft>
            </a:pPr>
            <a:r>
              <a:rPr sz="1400" b="1" i="0">
                <a:solidFill>
                  <a:srgbClr val="D14D5A"/>
                </a:solidFill>
                <a:latin typeface="Aptos"/>
              </a:rPr>
              <a:t>p_opt | feas</a:t>
            </a:r>
          </a:p>
        </p:txBody>
      </p:sp>
      <p:sp>
        <p:nvSpPr>
          <p:cNvPr id="17" name="TextBox 16"/>
          <p:cNvSpPr txBox="1"/>
          <p:nvPr/>
        </p:nvSpPr>
        <p:spPr>
          <a:xfrm>
            <a:off x="7699248" y="1664208"/>
            <a:ext cx="2779776" cy="310896"/>
          </a:xfrm>
          <a:prstGeom prst="rect">
            <a:avLst/>
          </a:prstGeom>
          <a:noFill/>
        </p:spPr>
        <p:txBody>
          <a:bodyPr wrap="square" lIns="0" rIns="0" tIns="0" bIns="0" anchor="t">
            <a:spAutoFit/>
          </a:bodyPr>
          <a:lstStyle/>
          <a:p>
            <a:pPr algn="ctr">
              <a:lnSpc>
                <a:spcPct val="100000"/>
              </a:lnSpc>
              <a:spcBef>
                <a:spcPts val="0"/>
              </a:spcBef>
              <a:spcAft>
                <a:spcPts val="0"/>
              </a:spcAft>
            </a:pPr>
            <a:r>
              <a:rPr sz="1900" b="1" i="0">
                <a:solidFill>
                  <a:srgbClr val="14213D"/>
                </a:solidFill>
                <a:latin typeface="Aptos"/>
              </a:rPr>
              <a:t>p_opt / p_feas</a:t>
            </a:r>
          </a:p>
        </p:txBody>
      </p:sp>
      <p:sp>
        <p:nvSpPr>
          <p:cNvPr id="18" name="TextBox 17"/>
          <p:cNvSpPr txBox="1"/>
          <p:nvPr/>
        </p:nvSpPr>
        <p:spPr>
          <a:xfrm>
            <a:off x="7735823" y="2048256"/>
            <a:ext cx="2706624" cy="475488"/>
          </a:xfrm>
          <a:prstGeom prst="rect">
            <a:avLst/>
          </a:prstGeom>
          <a:noFill/>
        </p:spPr>
        <p:txBody>
          <a:bodyPr wrap="square" lIns="0" rIns="0" tIns="0" bIns="0" anchor="t">
            <a:spAutoFit/>
          </a:bodyPr>
          <a:lstStyle/>
          <a:p>
            <a:pPr algn="ctr">
              <a:lnSpc>
                <a:spcPct val="100000"/>
              </a:lnSpc>
              <a:spcBef>
                <a:spcPts val="0"/>
              </a:spcBef>
              <a:spcAft>
                <a:spcPts val="0"/>
              </a:spcAft>
            </a:pPr>
            <a:r>
              <a:rPr sz="1300" b="0" i="0">
                <a:solidFill>
                  <a:srgbClr val="617087"/>
                </a:solidFill>
                <a:latin typeface="Aptos"/>
              </a:rPr>
              <a:t>If feasible, how often is it the optimum?</a:t>
            </a:r>
          </a:p>
        </p:txBody>
      </p:sp>
      <p:sp>
        <p:nvSpPr>
          <p:cNvPr id="19" name="Rounded Rectangle 18"/>
          <p:cNvSpPr/>
          <p:nvPr/>
        </p:nvSpPr>
        <p:spPr>
          <a:xfrm>
            <a:off x="658368" y="2916936"/>
            <a:ext cx="10716768" cy="859536"/>
          </a:xfrm>
          <a:prstGeom prst="round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eq_metric_identity.png"/>
          <p:cNvPicPr>
            <a:picLocks noChangeAspect="1"/>
          </p:cNvPicPr>
          <p:nvPr/>
        </p:nvPicPr>
        <p:blipFill>
          <a:blip r:embed="rId2"/>
          <a:stretch>
            <a:fillRect/>
          </a:stretch>
        </p:blipFill>
        <p:spPr>
          <a:xfrm>
            <a:off x="3337560" y="3072384"/>
            <a:ext cx="5431536" cy="530352"/>
          </a:xfrm>
          <a:prstGeom prst="rect">
            <a:avLst/>
          </a:prstGeom>
        </p:spPr>
      </p:pic>
      <p:sp>
        <p:nvSpPr>
          <p:cNvPr id="21" name="TextBox 20"/>
          <p:cNvSpPr txBox="1"/>
          <p:nvPr/>
        </p:nvSpPr>
        <p:spPr>
          <a:xfrm>
            <a:off x="658368" y="4096512"/>
            <a:ext cx="2514600" cy="274320"/>
          </a:xfrm>
          <a:prstGeom prst="rect">
            <a:avLst/>
          </a:prstGeom>
          <a:noFill/>
        </p:spPr>
        <p:txBody>
          <a:bodyPr wrap="square" lIns="0" rIns="0" tIns="0" bIns="0" anchor="t">
            <a:spAutoFit/>
          </a:bodyPr>
          <a:lstStyle/>
          <a:p>
            <a:pPr algn="l">
              <a:lnSpc>
                <a:spcPct val="100000"/>
              </a:lnSpc>
              <a:spcBef>
                <a:spcPts val="0"/>
              </a:spcBef>
              <a:spcAft>
                <a:spcPts val="0"/>
              </a:spcAft>
            </a:pPr>
            <a:r>
              <a:rPr sz="1200" b="1" i="0">
                <a:solidFill>
                  <a:srgbClr val="20639B"/>
                </a:solidFill>
                <a:latin typeface="Aptos"/>
              </a:rPr>
              <a:t>FROZEN MAIN SETUP</a:t>
            </a:r>
          </a:p>
        </p:txBody>
      </p:sp>
      <p:sp>
        <p:nvSpPr>
          <p:cNvPr id="22" name="Oval 21"/>
          <p:cNvSpPr/>
          <p:nvPr/>
        </p:nvSpPr>
        <p:spPr>
          <a:xfrm>
            <a:off x="685800" y="4553712"/>
            <a:ext cx="109728" cy="109728"/>
          </a:xfrm>
          <a:prstGeom prst="ellipse">
            <a:avLst/>
          </a:prstGeom>
          <a:solidFill>
            <a:srgbClr val="2063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77824" y="4443984"/>
            <a:ext cx="4901183" cy="347472"/>
          </a:xfrm>
          <a:prstGeom prst="rect">
            <a:avLst/>
          </a:prstGeom>
          <a:noFill/>
        </p:spPr>
        <p:txBody>
          <a:bodyPr wrap="square" lIns="0" rIns="0" tIns="0" bIns="0" anchor="t">
            <a:spAutoFit/>
          </a:bodyPr>
          <a:lstStyle/>
          <a:p>
            <a:pPr algn="l">
              <a:lnSpc>
                <a:spcPct val="100000"/>
              </a:lnSpc>
              <a:spcBef>
                <a:spcPts val="0"/>
              </a:spcBef>
              <a:spcAft>
                <a:spcPts val="0"/>
              </a:spcAft>
            </a:pPr>
            <a:r>
              <a:rPr sz="1600" b="0" i="0">
                <a:solidFill>
                  <a:srgbClr val="24324A"/>
                </a:solidFill>
                <a:latin typeface="Aptos"/>
              </a:rPr>
              <a:t>7 nodes · 14 edge qubits · A=6</a:t>
            </a:r>
          </a:p>
        </p:txBody>
      </p:sp>
      <p:sp>
        <p:nvSpPr>
          <p:cNvPr id="24" name="Oval 23"/>
          <p:cNvSpPr/>
          <p:nvPr/>
        </p:nvSpPr>
        <p:spPr>
          <a:xfrm>
            <a:off x="685800" y="4946904"/>
            <a:ext cx="109728" cy="109728"/>
          </a:xfrm>
          <a:prstGeom prst="ellipse">
            <a:avLst/>
          </a:prstGeom>
          <a:solidFill>
            <a:srgbClr val="2063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77824" y="4837176"/>
            <a:ext cx="4901183" cy="347472"/>
          </a:xfrm>
          <a:prstGeom prst="rect">
            <a:avLst/>
          </a:prstGeom>
          <a:noFill/>
        </p:spPr>
        <p:txBody>
          <a:bodyPr wrap="square" lIns="0" rIns="0" tIns="0" bIns="0" anchor="t">
            <a:spAutoFit/>
          </a:bodyPr>
          <a:lstStyle/>
          <a:p>
            <a:pPr algn="l">
              <a:lnSpc>
                <a:spcPct val="100000"/>
              </a:lnSpc>
              <a:spcBef>
                <a:spcPts val="0"/>
              </a:spcBef>
              <a:spcAft>
                <a:spcPts val="0"/>
              </a:spcAft>
            </a:pPr>
            <a:r>
              <a:rPr sz="1600" b="0" i="0">
                <a:solidFill>
                  <a:srgbClr val="24324A"/>
                </a:solidFill>
                <a:latin typeface="Aptos"/>
              </a:rPr>
              <a:t>Penalty-X and Global-Grover</a:t>
            </a:r>
          </a:p>
        </p:txBody>
      </p:sp>
      <p:sp>
        <p:nvSpPr>
          <p:cNvPr id="26" name="Oval 25"/>
          <p:cNvSpPr/>
          <p:nvPr/>
        </p:nvSpPr>
        <p:spPr>
          <a:xfrm>
            <a:off x="685800" y="5340096"/>
            <a:ext cx="109728" cy="109728"/>
          </a:xfrm>
          <a:prstGeom prst="ellipse">
            <a:avLst/>
          </a:prstGeom>
          <a:solidFill>
            <a:srgbClr val="2063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77824" y="5230368"/>
            <a:ext cx="4901183" cy="347472"/>
          </a:xfrm>
          <a:prstGeom prst="rect">
            <a:avLst/>
          </a:prstGeom>
          <a:noFill/>
        </p:spPr>
        <p:txBody>
          <a:bodyPr wrap="square" lIns="0" rIns="0" tIns="0" bIns="0" anchor="t">
            <a:spAutoFit/>
          </a:bodyPr>
          <a:lstStyle/>
          <a:p>
            <a:pPr algn="l">
              <a:lnSpc>
                <a:spcPct val="100000"/>
              </a:lnSpc>
              <a:spcBef>
                <a:spcPts val="0"/>
              </a:spcBef>
              <a:spcAft>
                <a:spcPts val="0"/>
              </a:spcAft>
            </a:pPr>
            <a:r>
              <a:rPr sz="1600" b="0" i="0">
                <a:solidFill>
                  <a:srgbClr val="24324A"/>
                </a:solidFill>
                <a:latin typeface="Aptos"/>
              </a:rPr>
              <a:t>depth p = 1,…,110</a:t>
            </a:r>
          </a:p>
        </p:txBody>
      </p:sp>
      <p:sp>
        <p:nvSpPr>
          <p:cNvPr id="28" name="Oval 27"/>
          <p:cNvSpPr/>
          <p:nvPr/>
        </p:nvSpPr>
        <p:spPr>
          <a:xfrm>
            <a:off x="685800" y="5733288"/>
            <a:ext cx="109728" cy="109728"/>
          </a:xfrm>
          <a:prstGeom prst="ellipse">
            <a:avLst/>
          </a:prstGeom>
          <a:solidFill>
            <a:srgbClr val="2063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77824" y="5623560"/>
            <a:ext cx="4901183" cy="347472"/>
          </a:xfrm>
          <a:prstGeom prst="rect">
            <a:avLst/>
          </a:prstGeom>
          <a:noFill/>
        </p:spPr>
        <p:txBody>
          <a:bodyPr wrap="square" lIns="0" rIns="0" tIns="0" bIns="0" anchor="t">
            <a:spAutoFit/>
          </a:bodyPr>
          <a:lstStyle/>
          <a:p>
            <a:pPr algn="l">
              <a:lnSpc>
                <a:spcPct val="100000"/>
              </a:lnSpc>
              <a:spcBef>
                <a:spcPts val="0"/>
              </a:spcBef>
              <a:spcAft>
                <a:spcPts val="0"/>
              </a:spcAft>
            </a:pPr>
            <a:r>
              <a:rPr sz="1600" b="0" i="0">
                <a:solidFill>
                  <a:srgbClr val="24324A"/>
                </a:solidFill>
                <a:latin typeface="Aptos"/>
              </a:rPr>
              <a:t>one optimization per method-depth</a:t>
            </a:r>
          </a:p>
        </p:txBody>
      </p:sp>
      <p:sp>
        <p:nvSpPr>
          <p:cNvPr id="30" name="Oval 29"/>
          <p:cNvSpPr/>
          <p:nvPr/>
        </p:nvSpPr>
        <p:spPr>
          <a:xfrm>
            <a:off x="6080760" y="4553712"/>
            <a:ext cx="109728" cy="109728"/>
          </a:xfrm>
          <a:prstGeom prst="ellipse">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72784" y="4443984"/>
            <a:ext cx="4901183" cy="347472"/>
          </a:xfrm>
          <a:prstGeom prst="rect">
            <a:avLst/>
          </a:prstGeom>
          <a:noFill/>
        </p:spPr>
        <p:txBody>
          <a:bodyPr wrap="square" lIns="0" rIns="0" tIns="0" bIns="0" anchor="t">
            <a:spAutoFit/>
          </a:bodyPr>
          <a:lstStyle/>
          <a:p>
            <a:pPr algn="l">
              <a:lnSpc>
                <a:spcPct val="100000"/>
              </a:lnSpc>
              <a:spcBef>
                <a:spcPts val="0"/>
              </a:spcBef>
              <a:spcAft>
                <a:spcPts val="0"/>
              </a:spcAft>
            </a:pPr>
            <a:r>
              <a:rPr sz="1600" b="0" i="0">
                <a:solidFill>
                  <a:srgbClr val="24324A"/>
                </a:solidFill>
                <a:latin typeface="Aptos"/>
              </a:rPr>
              <a:t>deterministic layerwise continuation</a:t>
            </a:r>
          </a:p>
        </p:txBody>
      </p:sp>
      <p:sp>
        <p:nvSpPr>
          <p:cNvPr id="32" name="Oval 31"/>
          <p:cNvSpPr/>
          <p:nvPr/>
        </p:nvSpPr>
        <p:spPr>
          <a:xfrm>
            <a:off x="6080760" y="4946904"/>
            <a:ext cx="109728" cy="109728"/>
          </a:xfrm>
          <a:prstGeom prst="ellipse">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272784" y="4837176"/>
            <a:ext cx="4901183" cy="347472"/>
          </a:xfrm>
          <a:prstGeom prst="rect">
            <a:avLst/>
          </a:prstGeom>
          <a:noFill/>
        </p:spPr>
        <p:txBody>
          <a:bodyPr wrap="square" lIns="0" rIns="0" tIns="0" bIns="0" anchor="t">
            <a:spAutoFit/>
          </a:bodyPr>
          <a:lstStyle/>
          <a:p>
            <a:pPr algn="l">
              <a:lnSpc>
                <a:spcPct val="100000"/>
              </a:lnSpc>
              <a:spcBef>
                <a:spcPts val="0"/>
              </a:spcBef>
              <a:spcAft>
                <a:spcPts val="0"/>
              </a:spcAft>
            </a:pPr>
            <a:r>
              <a:rPr sz="1600" b="0" i="0">
                <a:solidFill>
                  <a:srgbClr val="24324A"/>
                </a:solidFill>
                <a:latin typeface="Aptos"/>
              </a:rPr>
              <a:t>same full space, cost, decoder, and depth budget</a:t>
            </a:r>
          </a:p>
        </p:txBody>
      </p:sp>
      <p:sp>
        <p:nvSpPr>
          <p:cNvPr id="34" name="Oval 33"/>
          <p:cNvSpPr/>
          <p:nvPr/>
        </p:nvSpPr>
        <p:spPr>
          <a:xfrm>
            <a:off x="6080760" y="5340096"/>
            <a:ext cx="109728" cy="109728"/>
          </a:xfrm>
          <a:prstGeom prst="ellipse">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72784" y="5230368"/>
            <a:ext cx="4901183" cy="347472"/>
          </a:xfrm>
          <a:prstGeom prst="rect">
            <a:avLst/>
          </a:prstGeom>
          <a:noFill/>
        </p:spPr>
        <p:txBody>
          <a:bodyPr wrap="square" lIns="0" rIns="0" tIns="0" bIns="0" anchor="t">
            <a:spAutoFit/>
          </a:bodyPr>
          <a:lstStyle/>
          <a:p>
            <a:pPr algn="l">
              <a:lnSpc>
                <a:spcPct val="100000"/>
              </a:lnSpc>
              <a:spcBef>
                <a:spcPts val="0"/>
              </a:spcBef>
              <a:spcAft>
                <a:spcPts val="0"/>
              </a:spcAft>
            </a:pPr>
            <a:r>
              <a:rPr sz="1600" b="0" i="0">
                <a:solidFill>
                  <a:srgbClr val="24324A"/>
                </a:solidFill>
                <a:latin typeface="Aptos"/>
              </a:rPr>
              <a:t>ideal NumPy complex128 statevectors</a:t>
            </a:r>
          </a:p>
        </p:txBody>
      </p:sp>
      <p:sp>
        <p:nvSpPr>
          <p:cNvPr id="36" name="Rounded Rectangle 35"/>
          <p:cNvSpPr/>
          <p:nvPr/>
        </p:nvSpPr>
        <p:spPr>
          <a:xfrm>
            <a:off x="8741664" y="5669280"/>
            <a:ext cx="2633472" cy="621792"/>
          </a:xfrm>
          <a:prstGeom prst="roundRect">
            <a:avLst/>
          </a:prstGeom>
          <a:solidFill>
            <a:srgbClr val="FFFFFF"/>
          </a:solidFill>
          <a:ln w="10160">
            <a:solidFill>
              <a:srgbClr val="E7E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741664" y="5669280"/>
            <a:ext cx="50292" cy="621792"/>
          </a:xfrm>
          <a:prstGeom prst="rect">
            <a:avLst/>
          </a:prstGeom>
          <a:solidFill>
            <a:srgbClr val="D14D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06256" y="5733288"/>
            <a:ext cx="2340864" cy="155448"/>
          </a:xfrm>
          <a:prstGeom prst="rect">
            <a:avLst/>
          </a:prstGeom>
          <a:noFill/>
        </p:spPr>
        <p:txBody>
          <a:bodyPr wrap="square" lIns="0" rIns="0" tIns="0" bIns="0" anchor="t">
            <a:spAutoFit/>
          </a:bodyPr>
          <a:lstStyle/>
          <a:p>
            <a:pPr algn="l">
              <a:lnSpc>
                <a:spcPct val="100000"/>
              </a:lnSpc>
              <a:spcBef>
                <a:spcPts val="0"/>
              </a:spcBef>
              <a:spcAft>
                <a:spcPts val="0"/>
              </a:spcAft>
            </a:pPr>
            <a:r>
              <a:rPr sz="850" b="1" i="0">
                <a:solidFill>
                  <a:srgbClr val="617087"/>
                </a:solidFill>
                <a:latin typeface="Aptos"/>
              </a:rPr>
              <a:t>TOTAL</a:t>
            </a:r>
          </a:p>
        </p:txBody>
      </p:sp>
      <p:sp>
        <p:nvSpPr>
          <p:cNvPr id="39" name="TextBox 38"/>
          <p:cNvSpPr txBox="1"/>
          <p:nvPr/>
        </p:nvSpPr>
        <p:spPr>
          <a:xfrm>
            <a:off x="8906256" y="5916168"/>
            <a:ext cx="2340864" cy="246888"/>
          </a:xfrm>
          <a:prstGeom prst="rect">
            <a:avLst/>
          </a:prstGeom>
          <a:noFill/>
        </p:spPr>
        <p:txBody>
          <a:bodyPr wrap="square" lIns="0" rIns="0" tIns="0" bIns="0" anchor="t">
            <a:spAutoFit/>
          </a:bodyPr>
          <a:lstStyle/>
          <a:p>
            <a:pPr algn="l">
              <a:lnSpc>
                <a:spcPct val="100000"/>
              </a:lnSpc>
              <a:spcBef>
                <a:spcPts val="0"/>
              </a:spcBef>
              <a:spcAft>
                <a:spcPts val="0"/>
              </a:spcAft>
            </a:pPr>
            <a:r>
              <a:rPr sz="1650" b="1" i="0">
                <a:solidFill>
                  <a:srgbClr val="14213D"/>
                </a:solidFill>
                <a:latin typeface="Aptos"/>
              </a:rPr>
              <a:t>2 × 110 = 220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548640" y="292608"/>
            <a:ext cx="11064240" cy="530352"/>
          </a:xfrm>
          <a:prstGeom prst="rect">
            <a:avLst/>
          </a:prstGeom>
          <a:noFill/>
        </p:spPr>
        <p:txBody>
          <a:bodyPr wrap="square" lIns="0" rIns="0" tIns="0" bIns="0" anchor="t">
            <a:spAutoFit/>
          </a:bodyPr>
          <a:lstStyle/>
          <a:p>
            <a:pPr algn="l">
              <a:lnSpc>
                <a:spcPct val="100000"/>
              </a:lnSpc>
              <a:spcBef>
                <a:spcPts val="0"/>
              </a:spcBef>
              <a:spcAft>
                <a:spcPts val="0"/>
              </a:spcAft>
            </a:pPr>
            <a:r>
              <a:rPr sz="2900" b="1" i="0">
                <a:solidFill>
                  <a:srgbClr val="14213D"/>
                </a:solidFill>
                <a:latin typeface="Aptos"/>
              </a:rPr>
              <a:t>Depth 1–110: where does probability go?</a:t>
            </a:r>
          </a:p>
        </p:txBody>
      </p:sp>
      <p:sp>
        <p:nvSpPr>
          <p:cNvPr id="3" name="Rectangle 2"/>
          <p:cNvSpPr/>
          <p:nvPr/>
        </p:nvSpPr>
        <p:spPr>
          <a:xfrm>
            <a:off x="548640" y="896112"/>
            <a:ext cx="658368" cy="41148"/>
          </a:xfrm>
          <a:prstGeom prst="rect">
            <a:avLst/>
          </a:prstGeom>
          <a:solidFill>
            <a:srgbClr val="2063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a:off x="502920" y="6528816"/>
            <a:ext cx="11183112" cy="0"/>
          </a:xfrm>
          <a:prstGeom prst="line">
            <a:avLst/>
          </a:prstGeom>
          <a:ln w="8890">
            <a:solidFill>
              <a:srgbClr val="E7ECF3"/>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30352" y="6574536"/>
            <a:ext cx="2194560" cy="164592"/>
          </a:xfrm>
          <a:prstGeom prst="rect">
            <a:avLst/>
          </a:prstGeom>
          <a:noFill/>
        </p:spPr>
        <p:txBody>
          <a:bodyPr wrap="square" lIns="0" rIns="0" tIns="0" bIns="0" anchor="t">
            <a:spAutoFit/>
          </a:bodyPr>
          <a:lstStyle/>
          <a:p>
            <a:pPr algn="l">
              <a:lnSpc>
                <a:spcPct val="100000"/>
              </a:lnSpc>
              <a:spcBef>
                <a:spcPts val="0"/>
              </a:spcBef>
              <a:spcAft>
                <a:spcPts val="0"/>
              </a:spcAft>
            </a:pPr>
            <a:r>
              <a:rPr sz="950" b="1" i="0">
                <a:solidFill>
                  <a:srgbClr val="617087"/>
                </a:solidFill>
                <a:latin typeface="Aptos"/>
              </a:rPr>
              <a:t>RESULTS</a:t>
            </a:r>
          </a:p>
        </p:txBody>
      </p:sp>
      <p:sp>
        <p:nvSpPr>
          <p:cNvPr id="6" name="TextBox 5"/>
          <p:cNvSpPr txBox="1"/>
          <p:nvPr/>
        </p:nvSpPr>
        <p:spPr>
          <a:xfrm>
            <a:off x="11173968" y="6556248"/>
            <a:ext cx="457200" cy="182880"/>
          </a:xfrm>
          <a:prstGeom prst="rect">
            <a:avLst/>
          </a:prstGeom>
          <a:noFill/>
        </p:spPr>
        <p:txBody>
          <a:bodyPr wrap="square" lIns="0" rIns="0" tIns="0" bIns="0" anchor="t">
            <a:spAutoFit/>
          </a:bodyPr>
          <a:lstStyle/>
          <a:p>
            <a:pPr algn="r">
              <a:lnSpc>
                <a:spcPct val="100000"/>
              </a:lnSpc>
              <a:spcBef>
                <a:spcPts val="0"/>
              </a:spcBef>
              <a:spcAft>
                <a:spcPts val="0"/>
              </a:spcAft>
            </a:pPr>
            <a:r>
              <a:rPr sz="1000" b="1" i="0">
                <a:solidFill>
                  <a:srgbClr val="617087"/>
                </a:solidFill>
                <a:latin typeface="Aptos"/>
              </a:rPr>
              <a:t>8</a:t>
            </a:r>
          </a:p>
        </p:txBody>
      </p:sp>
      <p:sp>
        <p:nvSpPr>
          <p:cNvPr id="7" name="TextBox 6"/>
          <p:cNvSpPr txBox="1"/>
          <p:nvPr/>
        </p:nvSpPr>
        <p:spPr>
          <a:xfrm>
            <a:off x="658368" y="1005840"/>
            <a:ext cx="6675120" cy="237744"/>
          </a:xfrm>
          <a:prstGeom prst="rect">
            <a:avLst/>
          </a:prstGeom>
          <a:noFill/>
        </p:spPr>
        <p:txBody>
          <a:bodyPr wrap="square" lIns="0" rIns="0" tIns="0" bIns="0" anchor="t">
            <a:spAutoFit/>
          </a:bodyPr>
          <a:lstStyle/>
          <a:p>
            <a:pPr algn="l">
              <a:lnSpc>
                <a:spcPct val="100000"/>
              </a:lnSpc>
              <a:spcBef>
                <a:spcPts val="0"/>
              </a:spcBef>
              <a:spcAft>
                <a:spcPts val="0"/>
              </a:spcAft>
            </a:pPr>
            <a:r>
              <a:rPr sz="1100" b="1" i="0">
                <a:solidFill>
                  <a:srgbClr val="20639B"/>
                </a:solidFill>
                <a:latin typeface="Aptos"/>
              </a:rPr>
              <a:t>TOTAL OPTIMAL PROBABILITY</a:t>
            </a:r>
          </a:p>
        </p:txBody>
      </p:sp>
      <p:graphicFrame>
        <p:nvGraphicFramePr>
          <p:cNvPr id="8" name="Chart 7"/>
          <p:cNvGraphicFramePr>
            <a:graphicFrameLocks noGrp="1"/>
          </p:cNvGraphicFramePr>
          <p:nvPr/>
        </p:nvGraphicFramePr>
        <p:xfrm>
          <a:off x="594360" y="1261872"/>
          <a:ext cx="6903720" cy="4261104"/>
        </p:xfrm>
        <a:graphic>
          <a:graphicData uri="http://schemas.openxmlformats.org/drawingml/2006/chart">
            <c:chart xmlns:c="http://schemas.openxmlformats.org/drawingml/2006/chart" r:id="rId2"/>
          </a:graphicData>
        </a:graphic>
      </p:graphicFrame>
      <p:sp>
        <p:nvSpPr>
          <p:cNvPr id="9" name="TextBox 8"/>
          <p:cNvSpPr txBox="1"/>
          <p:nvPr/>
        </p:nvSpPr>
        <p:spPr>
          <a:xfrm>
            <a:off x="7790688" y="1005840"/>
            <a:ext cx="3767328" cy="237744"/>
          </a:xfrm>
          <a:prstGeom prst="rect">
            <a:avLst/>
          </a:prstGeom>
          <a:noFill/>
        </p:spPr>
        <p:txBody>
          <a:bodyPr wrap="square" lIns="0" rIns="0" tIns="0" bIns="0" anchor="t">
            <a:spAutoFit/>
          </a:bodyPr>
          <a:lstStyle/>
          <a:p>
            <a:pPr algn="l">
              <a:lnSpc>
                <a:spcPct val="100000"/>
              </a:lnSpc>
              <a:spcBef>
                <a:spcPts val="0"/>
              </a:spcBef>
              <a:spcAft>
                <a:spcPts val="0"/>
              </a:spcAft>
            </a:pPr>
            <a:r>
              <a:rPr sz="1100" b="1" i="0">
                <a:solidFill>
                  <a:srgbClr val="2A9D8F"/>
                </a:solidFill>
                <a:latin typeface="Aptos"/>
              </a:rPr>
              <a:t>FEASIBLE PROBABILITY</a:t>
            </a:r>
          </a:p>
        </p:txBody>
      </p:sp>
      <p:graphicFrame>
        <p:nvGraphicFramePr>
          <p:cNvPr id="10" name="Chart 9"/>
          <p:cNvGraphicFramePr>
            <a:graphicFrameLocks noGrp="1"/>
          </p:cNvGraphicFramePr>
          <p:nvPr/>
        </p:nvGraphicFramePr>
        <p:xfrm>
          <a:off x="7735824" y="1261872"/>
          <a:ext cx="3840480" cy="1874519"/>
        </p:xfrm>
        <a:graphic>
          <a:graphicData uri="http://schemas.openxmlformats.org/drawingml/2006/chart">
            <c:chart xmlns:c="http://schemas.openxmlformats.org/drawingml/2006/chart" r:id="rId3"/>
          </a:graphicData>
        </a:graphic>
      </p:graphicFrame>
      <p:sp>
        <p:nvSpPr>
          <p:cNvPr id="11" name="TextBox 10"/>
          <p:cNvSpPr txBox="1"/>
          <p:nvPr/>
        </p:nvSpPr>
        <p:spPr>
          <a:xfrm>
            <a:off x="7790688" y="3300984"/>
            <a:ext cx="3767328" cy="237744"/>
          </a:xfrm>
          <a:prstGeom prst="rect">
            <a:avLst/>
          </a:prstGeom>
          <a:noFill/>
        </p:spPr>
        <p:txBody>
          <a:bodyPr wrap="square" lIns="0" rIns="0" tIns="0" bIns="0" anchor="t">
            <a:spAutoFit/>
          </a:bodyPr>
          <a:lstStyle/>
          <a:p>
            <a:pPr algn="l">
              <a:lnSpc>
                <a:spcPct val="100000"/>
              </a:lnSpc>
              <a:spcBef>
                <a:spcPts val="0"/>
              </a:spcBef>
              <a:spcAft>
                <a:spcPts val="0"/>
              </a:spcAft>
            </a:pPr>
            <a:r>
              <a:rPr sz="1100" b="1" i="0">
                <a:solidFill>
                  <a:srgbClr val="D14D5A"/>
                </a:solidFill>
                <a:latin typeface="Aptos"/>
              </a:rPr>
              <a:t>OPTIMAL GIVEN FEASIBLE</a:t>
            </a:r>
          </a:p>
        </p:txBody>
      </p:sp>
      <p:graphicFrame>
        <p:nvGraphicFramePr>
          <p:cNvPr id="12" name="Chart 11"/>
          <p:cNvGraphicFramePr>
            <a:graphicFrameLocks noGrp="1"/>
          </p:cNvGraphicFramePr>
          <p:nvPr/>
        </p:nvGraphicFramePr>
        <p:xfrm>
          <a:off x="7735824" y="3547872"/>
          <a:ext cx="3840480" cy="1975104"/>
        </p:xfrm>
        <a:graphic>
          <a:graphicData uri="http://schemas.openxmlformats.org/drawingml/2006/chart">
            <c:chart xmlns:c="http://schemas.openxmlformats.org/drawingml/2006/chart" r:id="rId4"/>
          </a:graphicData>
        </a:graphic>
      </p:graphicFrame>
      <p:sp>
        <p:nvSpPr>
          <p:cNvPr id="13" name="Rounded Rectangle 12"/>
          <p:cNvSpPr/>
          <p:nvPr/>
        </p:nvSpPr>
        <p:spPr>
          <a:xfrm>
            <a:off x="658368" y="5614416"/>
            <a:ext cx="10899648" cy="594360"/>
          </a:xfrm>
          <a:prstGeom prst="round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1248" y="5760720"/>
            <a:ext cx="10533888" cy="274320"/>
          </a:xfrm>
          <a:prstGeom prst="rect">
            <a:avLst/>
          </a:prstGeom>
          <a:noFill/>
        </p:spPr>
        <p:txBody>
          <a:bodyPr wrap="square" lIns="0" rIns="0" tIns="0" bIns="0" anchor="t">
            <a:spAutoFit/>
          </a:bodyPr>
          <a:lstStyle/>
          <a:p>
            <a:pPr algn="ctr">
              <a:lnSpc>
                <a:spcPct val="100000"/>
              </a:lnSpc>
              <a:spcBef>
                <a:spcPts val="0"/>
              </a:spcBef>
              <a:spcAft>
                <a:spcPts val="0"/>
              </a:spcAft>
            </a:pPr>
            <a:r>
              <a:rPr sz="1700" b="1" i="0">
                <a:solidFill>
                  <a:srgbClr val="FFFFFF"/>
                </a:solidFill>
                <a:latin typeface="Aptos"/>
              </a:rPr>
              <a:t>Penalty-X peak: p=21, 0.2833%  ·  first crossover: p=22  ·  Global-Grover peak: p=110, 0.1030%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548640" y="292608"/>
            <a:ext cx="11064240" cy="530352"/>
          </a:xfrm>
          <a:prstGeom prst="rect">
            <a:avLst/>
          </a:prstGeom>
          <a:noFill/>
        </p:spPr>
        <p:txBody>
          <a:bodyPr wrap="square" lIns="0" rIns="0" tIns="0" bIns="0" anchor="t">
            <a:spAutoFit/>
          </a:bodyPr>
          <a:lstStyle/>
          <a:p>
            <a:pPr algn="l">
              <a:lnSpc>
                <a:spcPct val="100000"/>
              </a:lnSpc>
              <a:spcBef>
                <a:spcPts val="0"/>
              </a:spcBef>
              <a:spcAft>
                <a:spcPts val="0"/>
              </a:spcAft>
            </a:pPr>
            <a:r>
              <a:rPr sz="2900" b="1" i="0">
                <a:solidFill>
                  <a:srgbClr val="14213D"/>
                </a:solidFill>
                <a:latin typeface="Aptos"/>
              </a:rPr>
              <a:t>Conditional quality is not total success</a:t>
            </a:r>
          </a:p>
        </p:txBody>
      </p:sp>
      <p:sp>
        <p:nvSpPr>
          <p:cNvPr id="3" name="Rectangle 2"/>
          <p:cNvSpPr/>
          <p:nvPr/>
        </p:nvSpPr>
        <p:spPr>
          <a:xfrm>
            <a:off x="548640" y="896112"/>
            <a:ext cx="658368" cy="41148"/>
          </a:xfrm>
          <a:prstGeom prst="rect">
            <a:avLst/>
          </a:prstGeom>
          <a:solidFill>
            <a:srgbClr val="2063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a:off x="502920" y="6528816"/>
            <a:ext cx="11183112" cy="0"/>
          </a:xfrm>
          <a:prstGeom prst="line">
            <a:avLst/>
          </a:prstGeom>
          <a:ln w="8890">
            <a:solidFill>
              <a:srgbClr val="E7ECF3"/>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30352" y="6574536"/>
            <a:ext cx="2194560" cy="164592"/>
          </a:xfrm>
          <a:prstGeom prst="rect">
            <a:avLst/>
          </a:prstGeom>
          <a:noFill/>
        </p:spPr>
        <p:txBody>
          <a:bodyPr wrap="square" lIns="0" rIns="0" tIns="0" bIns="0" anchor="t">
            <a:spAutoFit/>
          </a:bodyPr>
          <a:lstStyle/>
          <a:p>
            <a:pPr algn="l">
              <a:lnSpc>
                <a:spcPct val="100000"/>
              </a:lnSpc>
              <a:spcBef>
                <a:spcPts val="0"/>
              </a:spcBef>
              <a:spcAft>
                <a:spcPts val="0"/>
              </a:spcAft>
            </a:pPr>
            <a:r>
              <a:rPr sz="950" b="1" i="0">
                <a:solidFill>
                  <a:srgbClr val="617087"/>
                </a:solidFill>
                <a:latin typeface="Aptos"/>
              </a:rPr>
              <a:t>INTERPRETATION</a:t>
            </a:r>
          </a:p>
        </p:txBody>
      </p:sp>
      <p:sp>
        <p:nvSpPr>
          <p:cNvPr id="6" name="TextBox 5"/>
          <p:cNvSpPr txBox="1"/>
          <p:nvPr/>
        </p:nvSpPr>
        <p:spPr>
          <a:xfrm>
            <a:off x="11173968" y="6556248"/>
            <a:ext cx="457200" cy="182880"/>
          </a:xfrm>
          <a:prstGeom prst="rect">
            <a:avLst/>
          </a:prstGeom>
          <a:noFill/>
        </p:spPr>
        <p:txBody>
          <a:bodyPr wrap="square" lIns="0" rIns="0" tIns="0" bIns="0" anchor="t">
            <a:spAutoFit/>
          </a:bodyPr>
          <a:lstStyle/>
          <a:p>
            <a:pPr algn="r">
              <a:lnSpc>
                <a:spcPct val="100000"/>
              </a:lnSpc>
              <a:spcBef>
                <a:spcPts val="0"/>
              </a:spcBef>
              <a:spcAft>
                <a:spcPts val="0"/>
              </a:spcAft>
            </a:pPr>
            <a:r>
              <a:rPr sz="1000" b="1" i="0">
                <a:solidFill>
                  <a:srgbClr val="617087"/>
                </a:solidFill>
                <a:latin typeface="Aptos"/>
              </a:rPr>
              <a:t>9</a:t>
            </a:r>
          </a:p>
        </p:txBody>
      </p:sp>
      <p:pic>
        <p:nvPicPr>
          <p:cNvPr id="7" name="Picture 6" descr="eq_identity_large.png"/>
          <p:cNvPicPr>
            <a:picLocks noChangeAspect="1"/>
          </p:cNvPicPr>
          <p:nvPr/>
        </p:nvPicPr>
        <p:blipFill>
          <a:blip r:embed="rId2"/>
          <a:stretch>
            <a:fillRect/>
          </a:stretch>
        </p:blipFill>
        <p:spPr>
          <a:xfrm>
            <a:off x="2971800" y="1042415"/>
            <a:ext cx="6263640" cy="640080"/>
          </a:xfrm>
          <a:prstGeom prst="rect">
            <a:avLst/>
          </a:prstGeom>
        </p:spPr>
      </p:pic>
      <p:sp>
        <p:nvSpPr>
          <p:cNvPr id="8" name="Rounded Rectangle 7"/>
          <p:cNvSpPr/>
          <p:nvPr/>
        </p:nvSpPr>
        <p:spPr>
          <a:xfrm>
            <a:off x="658368" y="1883664"/>
            <a:ext cx="5303520" cy="3337560"/>
          </a:xfrm>
          <a:prstGeom prst="roundRect">
            <a:avLst/>
          </a:prstGeom>
          <a:solidFill>
            <a:srgbClr val="E7F2FA"/>
          </a:solidFill>
          <a:ln w="17780">
            <a:solidFill>
              <a:srgbClr val="2063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2130552"/>
            <a:ext cx="4800600" cy="310896"/>
          </a:xfrm>
          <a:prstGeom prst="rect">
            <a:avLst/>
          </a:prstGeom>
          <a:noFill/>
        </p:spPr>
        <p:txBody>
          <a:bodyPr wrap="square" lIns="0" rIns="0" tIns="0" bIns="0" anchor="t">
            <a:spAutoFit/>
          </a:bodyPr>
          <a:lstStyle/>
          <a:p>
            <a:pPr algn="ctr">
              <a:lnSpc>
                <a:spcPct val="100000"/>
              </a:lnSpc>
              <a:spcBef>
                <a:spcPts val="0"/>
              </a:spcBef>
              <a:spcAft>
                <a:spcPts val="0"/>
              </a:spcAft>
            </a:pPr>
            <a:r>
              <a:rPr sz="1600" b="1" i="0">
                <a:solidFill>
                  <a:srgbClr val="20639B"/>
                </a:solidFill>
                <a:latin typeface="Aptos"/>
              </a:rPr>
              <a:t>PENALTY-X · p=110</a:t>
            </a:r>
          </a:p>
        </p:txBody>
      </p:sp>
      <p:sp>
        <p:nvSpPr>
          <p:cNvPr id="10" name="Rounded Rectangle 9"/>
          <p:cNvSpPr/>
          <p:nvPr/>
        </p:nvSpPr>
        <p:spPr>
          <a:xfrm>
            <a:off x="932688" y="2670048"/>
            <a:ext cx="1993392" cy="960120"/>
          </a:xfrm>
          <a:prstGeom prst="roundRect">
            <a:avLst/>
          </a:prstGeom>
          <a:solidFill>
            <a:srgbClr val="FFFFFF"/>
          </a:solidFill>
          <a:ln w="10160">
            <a:solidFill>
              <a:srgbClr val="E7E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32688" y="2670048"/>
            <a:ext cx="50292" cy="960120"/>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 y="2761488"/>
            <a:ext cx="1700784" cy="182880"/>
          </a:xfrm>
          <a:prstGeom prst="rect">
            <a:avLst/>
          </a:prstGeom>
          <a:noFill/>
        </p:spPr>
        <p:txBody>
          <a:bodyPr wrap="square" lIns="0" rIns="0" tIns="0" bIns="0" anchor="t">
            <a:spAutoFit/>
          </a:bodyPr>
          <a:lstStyle/>
          <a:p>
            <a:pPr algn="l">
              <a:lnSpc>
                <a:spcPct val="100000"/>
              </a:lnSpc>
              <a:spcBef>
                <a:spcPts val="0"/>
              </a:spcBef>
              <a:spcAft>
                <a:spcPts val="0"/>
              </a:spcAft>
            </a:pPr>
            <a:r>
              <a:rPr sz="950" b="1" i="0">
                <a:solidFill>
                  <a:srgbClr val="617087"/>
                </a:solidFill>
                <a:latin typeface="Aptos"/>
              </a:rPr>
              <a:t>P_FEAS</a:t>
            </a:r>
          </a:p>
        </p:txBody>
      </p:sp>
      <p:sp>
        <p:nvSpPr>
          <p:cNvPr id="13" name="TextBox 12"/>
          <p:cNvSpPr txBox="1"/>
          <p:nvPr/>
        </p:nvSpPr>
        <p:spPr>
          <a:xfrm>
            <a:off x="1097280" y="2980944"/>
            <a:ext cx="1700784" cy="320040"/>
          </a:xfrm>
          <a:prstGeom prst="rect">
            <a:avLst/>
          </a:prstGeom>
          <a:noFill/>
        </p:spPr>
        <p:txBody>
          <a:bodyPr wrap="square" lIns="0" rIns="0" tIns="0" bIns="0" anchor="t">
            <a:spAutoFit/>
          </a:bodyPr>
          <a:lstStyle/>
          <a:p>
            <a:pPr algn="l">
              <a:lnSpc>
                <a:spcPct val="100000"/>
              </a:lnSpc>
              <a:spcBef>
                <a:spcPts val="0"/>
              </a:spcBef>
              <a:spcAft>
                <a:spcPts val="0"/>
              </a:spcAft>
            </a:pPr>
            <a:r>
              <a:rPr sz="1950" b="1" i="0">
                <a:solidFill>
                  <a:srgbClr val="14213D"/>
                </a:solidFill>
                <a:latin typeface="Aptos"/>
              </a:rPr>
              <a:t>14.6970%</a:t>
            </a:r>
          </a:p>
        </p:txBody>
      </p:sp>
      <p:sp>
        <p:nvSpPr>
          <p:cNvPr id="14" name="TextBox 13"/>
          <p:cNvSpPr txBox="1"/>
          <p:nvPr/>
        </p:nvSpPr>
        <p:spPr>
          <a:xfrm>
            <a:off x="2953512" y="2916936"/>
            <a:ext cx="310896" cy="292608"/>
          </a:xfrm>
          <a:prstGeom prst="rect">
            <a:avLst/>
          </a:prstGeom>
          <a:noFill/>
        </p:spPr>
        <p:txBody>
          <a:bodyPr wrap="square" lIns="0" rIns="0" tIns="0" bIns="0" anchor="t">
            <a:spAutoFit/>
          </a:bodyPr>
          <a:lstStyle/>
          <a:p>
            <a:pPr algn="ctr">
              <a:lnSpc>
                <a:spcPct val="100000"/>
              </a:lnSpc>
              <a:spcBef>
                <a:spcPts val="0"/>
              </a:spcBef>
              <a:spcAft>
                <a:spcPts val="0"/>
              </a:spcAft>
            </a:pPr>
            <a:r>
              <a:rPr sz="2200" b="1" i="0">
                <a:solidFill>
                  <a:srgbClr val="14213D"/>
                </a:solidFill>
                <a:latin typeface="Aptos"/>
              </a:rPr>
              <a:t>×</a:t>
            </a:r>
          </a:p>
        </p:txBody>
      </p:sp>
      <p:sp>
        <p:nvSpPr>
          <p:cNvPr id="15" name="Rounded Rectangle 14"/>
          <p:cNvSpPr/>
          <p:nvPr/>
        </p:nvSpPr>
        <p:spPr>
          <a:xfrm>
            <a:off x="3246120" y="2670048"/>
            <a:ext cx="2231136" cy="960120"/>
          </a:xfrm>
          <a:prstGeom prst="roundRect">
            <a:avLst/>
          </a:prstGeom>
          <a:solidFill>
            <a:srgbClr val="FFFFFF"/>
          </a:solidFill>
          <a:ln w="10160">
            <a:solidFill>
              <a:srgbClr val="E7E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46120" y="2670048"/>
            <a:ext cx="50292" cy="960120"/>
          </a:xfrm>
          <a:prstGeom prst="rect">
            <a:avLst/>
          </a:prstGeom>
          <a:solidFill>
            <a:srgbClr val="D14D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410712" y="2761488"/>
            <a:ext cx="1938528" cy="182880"/>
          </a:xfrm>
          <a:prstGeom prst="rect">
            <a:avLst/>
          </a:prstGeom>
          <a:noFill/>
        </p:spPr>
        <p:txBody>
          <a:bodyPr wrap="square" lIns="0" rIns="0" tIns="0" bIns="0" anchor="t">
            <a:spAutoFit/>
          </a:bodyPr>
          <a:lstStyle/>
          <a:p>
            <a:pPr algn="l">
              <a:lnSpc>
                <a:spcPct val="100000"/>
              </a:lnSpc>
              <a:spcBef>
                <a:spcPts val="0"/>
              </a:spcBef>
              <a:spcAft>
                <a:spcPts val="0"/>
              </a:spcAft>
            </a:pPr>
            <a:r>
              <a:rPr sz="950" b="1" i="0">
                <a:solidFill>
                  <a:srgbClr val="617087"/>
                </a:solidFill>
                <a:latin typeface="Aptos"/>
              </a:rPr>
              <a:t>P_OPT | FEAS</a:t>
            </a:r>
          </a:p>
        </p:txBody>
      </p:sp>
      <p:sp>
        <p:nvSpPr>
          <p:cNvPr id="18" name="TextBox 17"/>
          <p:cNvSpPr txBox="1"/>
          <p:nvPr/>
        </p:nvSpPr>
        <p:spPr>
          <a:xfrm>
            <a:off x="3410712" y="2980944"/>
            <a:ext cx="1938528" cy="320040"/>
          </a:xfrm>
          <a:prstGeom prst="rect">
            <a:avLst/>
          </a:prstGeom>
          <a:noFill/>
        </p:spPr>
        <p:txBody>
          <a:bodyPr wrap="square" lIns="0" rIns="0" tIns="0" bIns="0" anchor="t">
            <a:spAutoFit/>
          </a:bodyPr>
          <a:lstStyle/>
          <a:p>
            <a:pPr algn="l">
              <a:lnSpc>
                <a:spcPct val="100000"/>
              </a:lnSpc>
              <a:spcBef>
                <a:spcPts val="0"/>
              </a:spcBef>
              <a:spcAft>
                <a:spcPts val="0"/>
              </a:spcAft>
            </a:pPr>
            <a:r>
              <a:rPr sz="1950" b="1" i="0">
                <a:solidFill>
                  <a:srgbClr val="14213D"/>
                </a:solidFill>
                <a:latin typeface="Aptos"/>
              </a:rPr>
              <a:t>0.2435%</a:t>
            </a:r>
          </a:p>
        </p:txBody>
      </p:sp>
      <p:sp>
        <p:nvSpPr>
          <p:cNvPr id="19" name="TextBox 18"/>
          <p:cNvSpPr txBox="1"/>
          <p:nvPr/>
        </p:nvSpPr>
        <p:spPr>
          <a:xfrm>
            <a:off x="2395728" y="3794760"/>
            <a:ext cx="310896" cy="274320"/>
          </a:xfrm>
          <a:prstGeom prst="rect">
            <a:avLst/>
          </a:prstGeom>
          <a:noFill/>
        </p:spPr>
        <p:txBody>
          <a:bodyPr wrap="square" lIns="0" rIns="0" tIns="0" bIns="0" anchor="t">
            <a:spAutoFit/>
          </a:bodyPr>
          <a:lstStyle/>
          <a:p>
            <a:pPr algn="ctr">
              <a:lnSpc>
                <a:spcPct val="100000"/>
              </a:lnSpc>
              <a:spcBef>
                <a:spcPts val="0"/>
              </a:spcBef>
              <a:spcAft>
                <a:spcPts val="0"/>
              </a:spcAft>
            </a:pPr>
            <a:r>
              <a:rPr sz="2200" b="1" i="0">
                <a:solidFill>
                  <a:srgbClr val="14213D"/>
                </a:solidFill>
                <a:latin typeface="Aptos"/>
              </a:rPr>
              <a:t>=</a:t>
            </a:r>
          </a:p>
        </p:txBody>
      </p:sp>
      <p:sp>
        <p:nvSpPr>
          <p:cNvPr id="20" name="Rounded Rectangle 19"/>
          <p:cNvSpPr/>
          <p:nvPr/>
        </p:nvSpPr>
        <p:spPr>
          <a:xfrm>
            <a:off x="2743200" y="3685032"/>
            <a:ext cx="2231136" cy="1078992"/>
          </a:xfrm>
          <a:prstGeom prst="roundRect">
            <a:avLst/>
          </a:prstGeom>
          <a:solidFill>
            <a:srgbClr val="FFFFFF"/>
          </a:solidFill>
          <a:ln w="10160">
            <a:solidFill>
              <a:srgbClr val="E7E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743200" y="3685032"/>
            <a:ext cx="50292" cy="1078992"/>
          </a:xfrm>
          <a:prstGeom prst="rect">
            <a:avLst/>
          </a:prstGeom>
          <a:solidFill>
            <a:srgbClr val="2063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907792" y="3776472"/>
            <a:ext cx="1938528" cy="182880"/>
          </a:xfrm>
          <a:prstGeom prst="rect">
            <a:avLst/>
          </a:prstGeom>
          <a:noFill/>
        </p:spPr>
        <p:txBody>
          <a:bodyPr wrap="square" lIns="0" rIns="0" tIns="0" bIns="0" anchor="t">
            <a:spAutoFit/>
          </a:bodyPr>
          <a:lstStyle/>
          <a:p>
            <a:pPr algn="l">
              <a:lnSpc>
                <a:spcPct val="100000"/>
              </a:lnSpc>
              <a:spcBef>
                <a:spcPts val="0"/>
              </a:spcBef>
              <a:spcAft>
                <a:spcPts val="0"/>
              </a:spcAft>
            </a:pPr>
            <a:r>
              <a:rPr sz="950" b="1" i="0">
                <a:solidFill>
                  <a:srgbClr val="617087"/>
                </a:solidFill>
                <a:latin typeface="Aptos"/>
              </a:rPr>
              <a:t>P_OPT</a:t>
            </a:r>
          </a:p>
        </p:txBody>
      </p:sp>
      <p:sp>
        <p:nvSpPr>
          <p:cNvPr id="23" name="TextBox 22"/>
          <p:cNvSpPr txBox="1"/>
          <p:nvPr/>
        </p:nvSpPr>
        <p:spPr>
          <a:xfrm>
            <a:off x="2907792" y="3995928"/>
            <a:ext cx="1938528" cy="320040"/>
          </a:xfrm>
          <a:prstGeom prst="rect">
            <a:avLst/>
          </a:prstGeom>
          <a:noFill/>
        </p:spPr>
        <p:txBody>
          <a:bodyPr wrap="square" lIns="0" rIns="0" tIns="0" bIns="0" anchor="t">
            <a:spAutoFit/>
          </a:bodyPr>
          <a:lstStyle/>
          <a:p>
            <a:pPr algn="l">
              <a:lnSpc>
                <a:spcPct val="100000"/>
              </a:lnSpc>
              <a:spcBef>
                <a:spcPts val="0"/>
              </a:spcBef>
              <a:spcAft>
                <a:spcPts val="0"/>
              </a:spcAft>
            </a:pPr>
            <a:r>
              <a:rPr sz="1950" b="1" i="0">
                <a:solidFill>
                  <a:srgbClr val="14213D"/>
                </a:solidFill>
                <a:latin typeface="Aptos"/>
              </a:rPr>
              <a:t>0.03579%</a:t>
            </a:r>
          </a:p>
        </p:txBody>
      </p:sp>
      <p:sp>
        <p:nvSpPr>
          <p:cNvPr id="24" name="TextBox 23"/>
          <p:cNvSpPr txBox="1"/>
          <p:nvPr/>
        </p:nvSpPr>
        <p:spPr>
          <a:xfrm>
            <a:off x="2907792" y="4562856"/>
            <a:ext cx="1938528" cy="128016"/>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617087"/>
                </a:solidFill>
                <a:latin typeface="Aptos"/>
              </a:rPr>
              <a:t>same-depth total success</a:t>
            </a:r>
          </a:p>
        </p:txBody>
      </p:sp>
      <p:sp>
        <p:nvSpPr>
          <p:cNvPr id="25" name="Rounded Rectangle 24"/>
          <p:cNvSpPr/>
          <p:nvPr/>
        </p:nvSpPr>
        <p:spPr>
          <a:xfrm>
            <a:off x="6236208" y="1883664"/>
            <a:ext cx="5303520" cy="3337560"/>
          </a:xfrm>
          <a:prstGeom prst="roundRect">
            <a:avLst/>
          </a:prstGeom>
          <a:solidFill>
            <a:srgbClr val="FAE9EC"/>
          </a:solidFill>
          <a:ln w="17780">
            <a:solidFill>
              <a:srgbClr val="D14D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73952" y="2130552"/>
            <a:ext cx="4800600" cy="310896"/>
          </a:xfrm>
          <a:prstGeom prst="rect">
            <a:avLst/>
          </a:prstGeom>
          <a:noFill/>
        </p:spPr>
        <p:txBody>
          <a:bodyPr wrap="square" lIns="0" rIns="0" tIns="0" bIns="0" anchor="t">
            <a:spAutoFit/>
          </a:bodyPr>
          <a:lstStyle/>
          <a:p>
            <a:pPr algn="ctr">
              <a:lnSpc>
                <a:spcPct val="100000"/>
              </a:lnSpc>
              <a:spcBef>
                <a:spcPts val="0"/>
              </a:spcBef>
              <a:spcAft>
                <a:spcPts val="0"/>
              </a:spcAft>
            </a:pPr>
            <a:r>
              <a:rPr sz="1600" b="1" i="0">
                <a:solidFill>
                  <a:srgbClr val="D14D5A"/>
                </a:solidFill>
                <a:latin typeface="Aptos"/>
              </a:rPr>
              <a:t>GLOBAL-GROVER · p=110</a:t>
            </a:r>
          </a:p>
        </p:txBody>
      </p:sp>
      <p:sp>
        <p:nvSpPr>
          <p:cNvPr id="27" name="Rounded Rectangle 26"/>
          <p:cNvSpPr/>
          <p:nvPr/>
        </p:nvSpPr>
        <p:spPr>
          <a:xfrm>
            <a:off x="6510528" y="2670048"/>
            <a:ext cx="1993392" cy="960120"/>
          </a:xfrm>
          <a:prstGeom prst="roundRect">
            <a:avLst/>
          </a:prstGeom>
          <a:solidFill>
            <a:srgbClr val="FFFFFF"/>
          </a:solidFill>
          <a:ln w="10160">
            <a:solidFill>
              <a:srgbClr val="E7E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510528" y="2670048"/>
            <a:ext cx="50292" cy="960120"/>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675120" y="2761488"/>
            <a:ext cx="1700784" cy="182880"/>
          </a:xfrm>
          <a:prstGeom prst="rect">
            <a:avLst/>
          </a:prstGeom>
          <a:noFill/>
        </p:spPr>
        <p:txBody>
          <a:bodyPr wrap="square" lIns="0" rIns="0" tIns="0" bIns="0" anchor="t">
            <a:spAutoFit/>
          </a:bodyPr>
          <a:lstStyle/>
          <a:p>
            <a:pPr algn="l">
              <a:lnSpc>
                <a:spcPct val="100000"/>
              </a:lnSpc>
              <a:spcBef>
                <a:spcPts val="0"/>
              </a:spcBef>
              <a:spcAft>
                <a:spcPts val="0"/>
              </a:spcAft>
            </a:pPr>
            <a:r>
              <a:rPr sz="950" b="1" i="0">
                <a:solidFill>
                  <a:srgbClr val="617087"/>
                </a:solidFill>
                <a:latin typeface="Aptos"/>
              </a:rPr>
              <a:t>P_FEAS</a:t>
            </a:r>
          </a:p>
        </p:txBody>
      </p:sp>
      <p:sp>
        <p:nvSpPr>
          <p:cNvPr id="30" name="TextBox 29"/>
          <p:cNvSpPr txBox="1"/>
          <p:nvPr/>
        </p:nvSpPr>
        <p:spPr>
          <a:xfrm>
            <a:off x="6675120" y="2980944"/>
            <a:ext cx="1700784" cy="320040"/>
          </a:xfrm>
          <a:prstGeom prst="rect">
            <a:avLst/>
          </a:prstGeom>
          <a:noFill/>
        </p:spPr>
        <p:txBody>
          <a:bodyPr wrap="square" lIns="0" rIns="0" tIns="0" bIns="0" anchor="t">
            <a:spAutoFit/>
          </a:bodyPr>
          <a:lstStyle/>
          <a:p>
            <a:pPr algn="l">
              <a:lnSpc>
                <a:spcPct val="100000"/>
              </a:lnSpc>
              <a:spcBef>
                <a:spcPts val="0"/>
              </a:spcBef>
              <a:spcAft>
                <a:spcPts val="0"/>
              </a:spcAft>
            </a:pPr>
            <a:r>
              <a:rPr sz="1950" b="1" i="0">
                <a:solidFill>
                  <a:srgbClr val="14213D"/>
                </a:solidFill>
                <a:latin typeface="Aptos"/>
              </a:rPr>
              <a:t>2.1946%</a:t>
            </a:r>
          </a:p>
        </p:txBody>
      </p:sp>
      <p:sp>
        <p:nvSpPr>
          <p:cNvPr id="31" name="TextBox 30"/>
          <p:cNvSpPr txBox="1"/>
          <p:nvPr/>
        </p:nvSpPr>
        <p:spPr>
          <a:xfrm>
            <a:off x="8531352" y="2916936"/>
            <a:ext cx="310896" cy="292608"/>
          </a:xfrm>
          <a:prstGeom prst="rect">
            <a:avLst/>
          </a:prstGeom>
          <a:noFill/>
        </p:spPr>
        <p:txBody>
          <a:bodyPr wrap="square" lIns="0" rIns="0" tIns="0" bIns="0" anchor="t">
            <a:spAutoFit/>
          </a:bodyPr>
          <a:lstStyle/>
          <a:p>
            <a:pPr algn="ctr">
              <a:lnSpc>
                <a:spcPct val="100000"/>
              </a:lnSpc>
              <a:spcBef>
                <a:spcPts val="0"/>
              </a:spcBef>
              <a:spcAft>
                <a:spcPts val="0"/>
              </a:spcAft>
            </a:pPr>
            <a:r>
              <a:rPr sz="2200" b="1" i="0">
                <a:solidFill>
                  <a:srgbClr val="14213D"/>
                </a:solidFill>
                <a:latin typeface="Aptos"/>
              </a:rPr>
              <a:t>×</a:t>
            </a:r>
          </a:p>
        </p:txBody>
      </p:sp>
      <p:sp>
        <p:nvSpPr>
          <p:cNvPr id="32" name="Rounded Rectangle 31"/>
          <p:cNvSpPr/>
          <p:nvPr/>
        </p:nvSpPr>
        <p:spPr>
          <a:xfrm>
            <a:off x="8823960" y="2670048"/>
            <a:ext cx="2231136" cy="960120"/>
          </a:xfrm>
          <a:prstGeom prst="roundRect">
            <a:avLst/>
          </a:prstGeom>
          <a:solidFill>
            <a:srgbClr val="FFFFFF"/>
          </a:solidFill>
          <a:ln w="10160">
            <a:solidFill>
              <a:srgbClr val="E7E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823960" y="2670048"/>
            <a:ext cx="50292" cy="960120"/>
          </a:xfrm>
          <a:prstGeom prst="rect">
            <a:avLst/>
          </a:prstGeom>
          <a:solidFill>
            <a:srgbClr val="D14D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988552" y="2761488"/>
            <a:ext cx="1938528" cy="182880"/>
          </a:xfrm>
          <a:prstGeom prst="rect">
            <a:avLst/>
          </a:prstGeom>
          <a:noFill/>
        </p:spPr>
        <p:txBody>
          <a:bodyPr wrap="square" lIns="0" rIns="0" tIns="0" bIns="0" anchor="t">
            <a:spAutoFit/>
          </a:bodyPr>
          <a:lstStyle/>
          <a:p>
            <a:pPr algn="l">
              <a:lnSpc>
                <a:spcPct val="100000"/>
              </a:lnSpc>
              <a:spcBef>
                <a:spcPts val="0"/>
              </a:spcBef>
              <a:spcAft>
                <a:spcPts val="0"/>
              </a:spcAft>
            </a:pPr>
            <a:r>
              <a:rPr sz="950" b="1" i="0">
                <a:solidFill>
                  <a:srgbClr val="617087"/>
                </a:solidFill>
                <a:latin typeface="Aptos"/>
              </a:rPr>
              <a:t>P_OPT | FEAS</a:t>
            </a:r>
          </a:p>
        </p:txBody>
      </p:sp>
      <p:sp>
        <p:nvSpPr>
          <p:cNvPr id="35" name="TextBox 34"/>
          <p:cNvSpPr txBox="1"/>
          <p:nvPr/>
        </p:nvSpPr>
        <p:spPr>
          <a:xfrm>
            <a:off x="8988552" y="2980944"/>
            <a:ext cx="1938528" cy="320040"/>
          </a:xfrm>
          <a:prstGeom prst="rect">
            <a:avLst/>
          </a:prstGeom>
          <a:noFill/>
        </p:spPr>
        <p:txBody>
          <a:bodyPr wrap="square" lIns="0" rIns="0" tIns="0" bIns="0" anchor="t">
            <a:spAutoFit/>
          </a:bodyPr>
          <a:lstStyle/>
          <a:p>
            <a:pPr algn="l">
              <a:lnSpc>
                <a:spcPct val="100000"/>
              </a:lnSpc>
              <a:spcBef>
                <a:spcPts val="0"/>
              </a:spcBef>
              <a:spcAft>
                <a:spcPts val="0"/>
              </a:spcAft>
            </a:pPr>
            <a:r>
              <a:rPr sz="1950" b="1" i="0">
                <a:solidFill>
                  <a:srgbClr val="14213D"/>
                </a:solidFill>
                <a:latin typeface="Aptos"/>
              </a:rPr>
              <a:t>4.6923%</a:t>
            </a:r>
          </a:p>
        </p:txBody>
      </p:sp>
      <p:sp>
        <p:nvSpPr>
          <p:cNvPr id="36" name="TextBox 35"/>
          <p:cNvSpPr txBox="1"/>
          <p:nvPr/>
        </p:nvSpPr>
        <p:spPr>
          <a:xfrm>
            <a:off x="7973568" y="3794760"/>
            <a:ext cx="310896" cy="274320"/>
          </a:xfrm>
          <a:prstGeom prst="rect">
            <a:avLst/>
          </a:prstGeom>
          <a:noFill/>
        </p:spPr>
        <p:txBody>
          <a:bodyPr wrap="square" lIns="0" rIns="0" tIns="0" bIns="0" anchor="t">
            <a:spAutoFit/>
          </a:bodyPr>
          <a:lstStyle/>
          <a:p>
            <a:pPr algn="ctr">
              <a:lnSpc>
                <a:spcPct val="100000"/>
              </a:lnSpc>
              <a:spcBef>
                <a:spcPts val="0"/>
              </a:spcBef>
              <a:spcAft>
                <a:spcPts val="0"/>
              </a:spcAft>
            </a:pPr>
            <a:r>
              <a:rPr sz="2200" b="1" i="0">
                <a:solidFill>
                  <a:srgbClr val="14213D"/>
                </a:solidFill>
                <a:latin typeface="Aptos"/>
              </a:rPr>
              <a:t>=</a:t>
            </a:r>
          </a:p>
        </p:txBody>
      </p:sp>
      <p:sp>
        <p:nvSpPr>
          <p:cNvPr id="37" name="Rounded Rectangle 36"/>
          <p:cNvSpPr/>
          <p:nvPr/>
        </p:nvSpPr>
        <p:spPr>
          <a:xfrm>
            <a:off x="8321040" y="3685032"/>
            <a:ext cx="2231136" cy="1078992"/>
          </a:xfrm>
          <a:prstGeom prst="roundRect">
            <a:avLst/>
          </a:prstGeom>
          <a:solidFill>
            <a:srgbClr val="FFFFFF"/>
          </a:solidFill>
          <a:ln w="10160">
            <a:solidFill>
              <a:srgbClr val="E7E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321040" y="3685032"/>
            <a:ext cx="50292" cy="1078992"/>
          </a:xfrm>
          <a:prstGeom prst="rect">
            <a:avLst/>
          </a:prstGeom>
          <a:solidFill>
            <a:srgbClr val="D14D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485632" y="3776472"/>
            <a:ext cx="1938528" cy="182880"/>
          </a:xfrm>
          <a:prstGeom prst="rect">
            <a:avLst/>
          </a:prstGeom>
          <a:noFill/>
        </p:spPr>
        <p:txBody>
          <a:bodyPr wrap="square" lIns="0" rIns="0" tIns="0" bIns="0" anchor="t">
            <a:spAutoFit/>
          </a:bodyPr>
          <a:lstStyle/>
          <a:p>
            <a:pPr algn="l">
              <a:lnSpc>
                <a:spcPct val="100000"/>
              </a:lnSpc>
              <a:spcBef>
                <a:spcPts val="0"/>
              </a:spcBef>
              <a:spcAft>
                <a:spcPts val="0"/>
              </a:spcAft>
            </a:pPr>
            <a:r>
              <a:rPr sz="950" b="1" i="0">
                <a:solidFill>
                  <a:srgbClr val="617087"/>
                </a:solidFill>
                <a:latin typeface="Aptos"/>
              </a:rPr>
              <a:t>P_OPT</a:t>
            </a:r>
          </a:p>
        </p:txBody>
      </p:sp>
      <p:sp>
        <p:nvSpPr>
          <p:cNvPr id="40" name="TextBox 39"/>
          <p:cNvSpPr txBox="1"/>
          <p:nvPr/>
        </p:nvSpPr>
        <p:spPr>
          <a:xfrm>
            <a:off x="8485632" y="3995928"/>
            <a:ext cx="1938528" cy="320040"/>
          </a:xfrm>
          <a:prstGeom prst="rect">
            <a:avLst/>
          </a:prstGeom>
          <a:noFill/>
        </p:spPr>
        <p:txBody>
          <a:bodyPr wrap="square" lIns="0" rIns="0" tIns="0" bIns="0" anchor="t">
            <a:spAutoFit/>
          </a:bodyPr>
          <a:lstStyle/>
          <a:p>
            <a:pPr algn="l">
              <a:lnSpc>
                <a:spcPct val="100000"/>
              </a:lnSpc>
              <a:spcBef>
                <a:spcPts val="0"/>
              </a:spcBef>
              <a:spcAft>
                <a:spcPts val="0"/>
              </a:spcAft>
            </a:pPr>
            <a:r>
              <a:rPr sz="1950" b="1" i="0">
                <a:solidFill>
                  <a:srgbClr val="14213D"/>
                </a:solidFill>
                <a:latin typeface="Aptos"/>
              </a:rPr>
              <a:t>0.10298%</a:t>
            </a:r>
          </a:p>
        </p:txBody>
      </p:sp>
      <p:sp>
        <p:nvSpPr>
          <p:cNvPr id="41" name="TextBox 40"/>
          <p:cNvSpPr txBox="1"/>
          <p:nvPr/>
        </p:nvSpPr>
        <p:spPr>
          <a:xfrm>
            <a:off x="8485632" y="4562856"/>
            <a:ext cx="1938528" cy="128016"/>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617087"/>
                </a:solidFill>
                <a:latin typeface="Aptos"/>
              </a:rPr>
              <a:t>2.88× Penalty-X at p=110</a:t>
            </a:r>
          </a:p>
        </p:txBody>
      </p:sp>
      <p:sp>
        <p:nvSpPr>
          <p:cNvPr id="42" name="Rounded Rectangle 41"/>
          <p:cNvSpPr/>
          <p:nvPr/>
        </p:nvSpPr>
        <p:spPr>
          <a:xfrm>
            <a:off x="658368" y="5431536"/>
            <a:ext cx="10881360" cy="713232"/>
          </a:xfrm>
          <a:prstGeom prst="round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96112" y="5486400"/>
            <a:ext cx="10405872" cy="566928"/>
          </a:xfrm>
          <a:prstGeom prst="rect">
            <a:avLst/>
          </a:prstGeom>
          <a:noFill/>
        </p:spPr>
        <p:txBody>
          <a:bodyPr wrap="square" lIns="0" rIns="0" tIns="0" bIns="0" anchor="t">
            <a:spAutoFit/>
          </a:bodyPr>
          <a:lstStyle/>
          <a:p>
            <a:pPr algn="ctr">
              <a:lnSpc>
                <a:spcPct val="100000"/>
              </a:lnSpc>
              <a:spcBef>
                <a:spcPts val="0"/>
              </a:spcBef>
              <a:spcAft>
                <a:spcPts val="0"/>
              </a:spcAft>
            </a:pPr>
            <a:r>
              <a:rPr sz="1550" b="1" i="0">
                <a:solidFill>
                  <a:srgbClr val="FFFFFF"/>
                </a:solidFill>
                <a:latin typeface="Aptos"/>
              </a:rPr>
              <a:t>Global-Grover is 19.3× stronger conditionally, but has 6.7× less feasible mass. It wins at p=110, yet its best never exceeds Penalty-X’s earlier 0.2833% peak.</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548640" y="292608"/>
            <a:ext cx="11064240" cy="530352"/>
          </a:xfrm>
          <a:prstGeom prst="rect">
            <a:avLst/>
          </a:prstGeom>
          <a:noFill/>
        </p:spPr>
        <p:txBody>
          <a:bodyPr wrap="square" lIns="0" rIns="0" tIns="0" bIns="0" anchor="t">
            <a:spAutoFit/>
          </a:bodyPr>
          <a:lstStyle/>
          <a:p>
            <a:pPr algn="l">
              <a:lnSpc>
                <a:spcPct val="100000"/>
              </a:lnSpc>
              <a:spcBef>
                <a:spcPts val="0"/>
              </a:spcBef>
              <a:spcAft>
                <a:spcPts val="0"/>
              </a:spcAft>
            </a:pPr>
            <a:r>
              <a:rPr sz="2900" b="1" i="0">
                <a:solidFill>
                  <a:srgbClr val="14213D"/>
                </a:solidFill>
                <a:latin typeface="Aptos"/>
              </a:rPr>
              <a:t>Deeper is not automatically better</a:t>
            </a:r>
          </a:p>
        </p:txBody>
      </p:sp>
      <p:sp>
        <p:nvSpPr>
          <p:cNvPr id="3" name="Rectangle 2"/>
          <p:cNvSpPr/>
          <p:nvPr/>
        </p:nvSpPr>
        <p:spPr>
          <a:xfrm>
            <a:off x="548640" y="896112"/>
            <a:ext cx="658368" cy="41148"/>
          </a:xfrm>
          <a:prstGeom prst="rect">
            <a:avLst/>
          </a:prstGeom>
          <a:solidFill>
            <a:srgbClr val="2063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a:off x="502920" y="6528816"/>
            <a:ext cx="11183112" cy="0"/>
          </a:xfrm>
          <a:prstGeom prst="line">
            <a:avLst/>
          </a:prstGeom>
          <a:ln w="8890">
            <a:solidFill>
              <a:srgbClr val="E7ECF3"/>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30352" y="6574536"/>
            <a:ext cx="2194560" cy="164592"/>
          </a:xfrm>
          <a:prstGeom prst="rect">
            <a:avLst/>
          </a:prstGeom>
          <a:noFill/>
        </p:spPr>
        <p:txBody>
          <a:bodyPr wrap="square" lIns="0" rIns="0" tIns="0" bIns="0" anchor="t">
            <a:spAutoFit/>
          </a:bodyPr>
          <a:lstStyle/>
          <a:p>
            <a:pPr algn="l">
              <a:lnSpc>
                <a:spcPct val="100000"/>
              </a:lnSpc>
              <a:spcBef>
                <a:spcPts val="0"/>
              </a:spcBef>
              <a:spcAft>
                <a:spcPts val="0"/>
              </a:spcAft>
            </a:pPr>
            <a:r>
              <a:rPr sz="950" b="1" i="0">
                <a:solidFill>
                  <a:srgbClr val="617087"/>
                </a:solidFill>
                <a:latin typeface="Aptos"/>
              </a:rPr>
              <a:t>DEPTH</a:t>
            </a:r>
          </a:p>
        </p:txBody>
      </p:sp>
      <p:sp>
        <p:nvSpPr>
          <p:cNvPr id="6" name="TextBox 5"/>
          <p:cNvSpPr txBox="1"/>
          <p:nvPr/>
        </p:nvSpPr>
        <p:spPr>
          <a:xfrm>
            <a:off x="11173968" y="6556248"/>
            <a:ext cx="457200" cy="182880"/>
          </a:xfrm>
          <a:prstGeom prst="rect">
            <a:avLst/>
          </a:prstGeom>
          <a:noFill/>
        </p:spPr>
        <p:txBody>
          <a:bodyPr wrap="square" lIns="0" rIns="0" tIns="0" bIns="0" anchor="t">
            <a:spAutoFit/>
          </a:bodyPr>
          <a:lstStyle/>
          <a:p>
            <a:pPr algn="r">
              <a:lnSpc>
                <a:spcPct val="100000"/>
              </a:lnSpc>
              <a:spcBef>
                <a:spcPts val="0"/>
              </a:spcBef>
              <a:spcAft>
                <a:spcPts val="0"/>
              </a:spcAft>
            </a:pPr>
            <a:r>
              <a:rPr sz="1000" b="1" i="0">
                <a:solidFill>
                  <a:srgbClr val="617087"/>
                </a:solidFill>
                <a:latin typeface="Aptos"/>
              </a:rPr>
              <a:t>10</a:t>
            </a:r>
          </a:p>
        </p:txBody>
      </p:sp>
      <p:sp>
        <p:nvSpPr>
          <p:cNvPr id="7" name="Rounded Rectangle 6"/>
          <p:cNvSpPr/>
          <p:nvPr/>
        </p:nvSpPr>
        <p:spPr>
          <a:xfrm>
            <a:off x="658368" y="1078992"/>
            <a:ext cx="6766560" cy="4526280"/>
          </a:xfrm>
          <a:prstGeom prst="roundRect">
            <a:avLst/>
          </a:prstGeom>
          <a:solidFill>
            <a:srgbClr val="FFFFFF"/>
          </a:solidFill>
          <a:ln w="10160">
            <a:solidFill>
              <a:srgbClr val="E7E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298448"/>
            <a:ext cx="6291072" cy="292608"/>
          </a:xfrm>
          <a:prstGeom prst="rect">
            <a:avLst/>
          </a:prstGeom>
          <a:noFill/>
        </p:spPr>
        <p:txBody>
          <a:bodyPr wrap="square" lIns="0" rIns="0" tIns="0" bIns="0" anchor="t">
            <a:spAutoFit/>
          </a:bodyPr>
          <a:lstStyle/>
          <a:p>
            <a:pPr algn="ctr">
              <a:lnSpc>
                <a:spcPct val="100000"/>
              </a:lnSpc>
              <a:spcBef>
                <a:spcPts val="0"/>
              </a:spcBef>
              <a:spcAft>
                <a:spcPts val="0"/>
              </a:spcAft>
            </a:pPr>
            <a:r>
              <a:rPr sz="1200" b="1" i="0">
                <a:solidFill>
                  <a:srgbClr val="20639B"/>
                </a:solidFill>
                <a:latin typeface="Aptos"/>
              </a:rPr>
              <a:t>ZOOM: p = 90…110</a:t>
            </a:r>
          </a:p>
        </p:txBody>
      </p:sp>
      <p:graphicFrame>
        <p:nvGraphicFramePr>
          <p:cNvPr id="9" name="Chart 8"/>
          <p:cNvGraphicFramePr>
            <a:graphicFrameLocks noGrp="1"/>
          </p:cNvGraphicFramePr>
          <p:nvPr/>
        </p:nvGraphicFramePr>
        <p:xfrm>
          <a:off x="877824" y="1691640"/>
          <a:ext cx="6336792" cy="3511296"/>
        </p:xfrm>
        <a:graphic>
          <a:graphicData uri="http://schemas.openxmlformats.org/drawingml/2006/chart">
            <c:chart xmlns:c="http://schemas.openxmlformats.org/drawingml/2006/chart" r:id="rId2"/>
          </a:graphicData>
        </a:graphic>
      </p:graphicFrame>
      <p:sp>
        <p:nvSpPr>
          <p:cNvPr id="10" name="Rounded Rectangle 9"/>
          <p:cNvSpPr/>
          <p:nvPr/>
        </p:nvSpPr>
        <p:spPr>
          <a:xfrm>
            <a:off x="7708392" y="1078992"/>
            <a:ext cx="3822191" cy="914400"/>
          </a:xfrm>
          <a:prstGeom prst="roundRect">
            <a:avLst/>
          </a:prstGeom>
          <a:solidFill>
            <a:srgbClr val="FFFFFF"/>
          </a:solidFill>
          <a:ln w="10160">
            <a:solidFill>
              <a:srgbClr val="E7E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08392" y="1078992"/>
            <a:ext cx="50292" cy="914400"/>
          </a:xfrm>
          <a:prstGeom prst="rect">
            <a:avLst/>
          </a:prstGeom>
          <a:solidFill>
            <a:srgbClr val="D14D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72983" y="1170432"/>
            <a:ext cx="3529584" cy="182880"/>
          </a:xfrm>
          <a:prstGeom prst="rect">
            <a:avLst/>
          </a:prstGeom>
          <a:noFill/>
        </p:spPr>
        <p:txBody>
          <a:bodyPr wrap="square" lIns="0" rIns="0" tIns="0" bIns="0" anchor="t">
            <a:spAutoFit/>
          </a:bodyPr>
          <a:lstStyle/>
          <a:p>
            <a:pPr algn="l">
              <a:lnSpc>
                <a:spcPct val="100000"/>
              </a:lnSpc>
              <a:spcBef>
                <a:spcPts val="0"/>
              </a:spcBef>
              <a:spcAft>
                <a:spcPts val="0"/>
              </a:spcAft>
            </a:pPr>
            <a:r>
              <a:rPr sz="950" b="1" i="0">
                <a:solidFill>
                  <a:srgbClr val="617087"/>
                </a:solidFill>
                <a:latin typeface="Aptos"/>
              </a:rPr>
              <a:t>OBSERVED NEAR P≈100</a:t>
            </a:r>
          </a:p>
        </p:txBody>
      </p:sp>
      <p:sp>
        <p:nvSpPr>
          <p:cNvPr id="13" name="TextBox 12"/>
          <p:cNvSpPr txBox="1"/>
          <p:nvPr/>
        </p:nvSpPr>
        <p:spPr>
          <a:xfrm>
            <a:off x="7872983" y="1389888"/>
            <a:ext cx="3529584" cy="320040"/>
          </a:xfrm>
          <a:prstGeom prst="rect">
            <a:avLst/>
          </a:prstGeom>
          <a:noFill/>
        </p:spPr>
        <p:txBody>
          <a:bodyPr wrap="square" lIns="0" rIns="0" tIns="0" bIns="0" anchor="t">
            <a:spAutoFit/>
          </a:bodyPr>
          <a:lstStyle/>
          <a:p>
            <a:pPr algn="l">
              <a:lnSpc>
                <a:spcPct val="100000"/>
              </a:lnSpc>
              <a:spcBef>
                <a:spcPts val="0"/>
              </a:spcBef>
              <a:spcAft>
                <a:spcPts val="0"/>
              </a:spcAft>
            </a:pPr>
            <a:r>
              <a:rPr sz="1950" b="1" i="0">
                <a:solidFill>
                  <a:srgbClr val="14213D"/>
                </a:solidFill>
                <a:latin typeface="Aptos"/>
              </a:rPr>
              <a:t>No sharp transition</a:t>
            </a:r>
          </a:p>
        </p:txBody>
      </p:sp>
      <p:sp>
        <p:nvSpPr>
          <p:cNvPr id="14" name="TextBox 13"/>
          <p:cNvSpPr txBox="1"/>
          <p:nvPr/>
        </p:nvSpPr>
        <p:spPr>
          <a:xfrm>
            <a:off x="7872983" y="1792223"/>
            <a:ext cx="3529584" cy="128016"/>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617087"/>
                </a:solidFill>
                <a:latin typeface="Aptos"/>
              </a:rPr>
              <a:t>trajectories remain non-monotonic</a:t>
            </a:r>
          </a:p>
        </p:txBody>
      </p:sp>
      <p:sp>
        <p:nvSpPr>
          <p:cNvPr id="15" name="Rounded Rectangle 14"/>
          <p:cNvSpPr/>
          <p:nvPr/>
        </p:nvSpPr>
        <p:spPr>
          <a:xfrm>
            <a:off x="7708392" y="2157984"/>
            <a:ext cx="3822191" cy="914400"/>
          </a:xfrm>
          <a:prstGeom prst="roundRect">
            <a:avLst/>
          </a:prstGeom>
          <a:solidFill>
            <a:srgbClr val="FFFFFF"/>
          </a:solidFill>
          <a:ln w="10160">
            <a:solidFill>
              <a:srgbClr val="E7E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08392" y="2157984"/>
            <a:ext cx="50292" cy="914400"/>
          </a:xfrm>
          <a:prstGeom prst="rect">
            <a:avLst/>
          </a:prstGeom>
          <a:solidFill>
            <a:srgbClr val="2063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72983" y="2249424"/>
            <a:ext cx="3529584" cy="182880"/>
          </a:xfrm>
          <a:prstGeom prst="rect">
            <a:avLst/>
          </a:prstGeom>
          <a:noFill/>
        </p:spPr>
        <p:txBody>
          <a:bodyPr wrap="square" lIns="0" rIns="0" tIns="0" bIns="0" anchor="t">
            <a:spAutoFit/>
          </a:bodyPr>
          <a:lstStyle/>
          <a:p>
            <a:pPr algn="l">
              <a:lnSpc>
                <a:spcPct val="100000"/>
              </a:lnSpc>
              <a:spcBef>
                <a:spcPts val="0"/>
              </a:spcBef>
              <a:spcAft>
                <a:spcPts val="0"/>
              </a:spcAft>
            </a:pPr>
            <a:r>
              <a:rPr sz="950" b="1" i="0">
                <a:solidFill>
                  <a:srgbClr val="617087"/>
                </a:solidFill>
                <a:latin typeface="Aptos"/>
              </a:rPr>
              <a:t>P=90…110 DIRECTION CHANGES</a:t>
            </a:r>
          </a:p>
        </p:txBody>
      </p:sp>
      <p:sp>
        <p:nvSpPr>
          <p:cNvPr id="18" name="TextBox 17"/>
          <p:cNvSpPr txBox="1"/>
          <p:nvPr/>
        </p:nvSpPr>
        <p:spPr>
          <a:xfrm>
            <a:off x="7872983" y="2468879"/>
            <a:ext cx="3529584" cy="320040"/>
          </a:xfrm>
          <a:prstGeom prst="rect">
            <a:avLst/>
          </a:prstGeom>
          <a:noFill/>
        </p:spPr>
        <p:txBody>
          <a:bodyPr wrap="square" lIns="0" rIns="0" tIns="0" bIns="0" anchor="t">
            <a:spAutoFit/>
          </a:bodyPr>
          <a:lstStyle/>
          <a:p>
            <a:pPr algn="l">
              <a:lnSpc>
                <a:spcPct val="100000"/>
              </a:lnSpc>
              <a:spcBef>
                <a:spcPts val="0"/>
              </a:spcBef>
              <a:spcAft>
                <a:spcPts val="0"/>
              </a:spcAft>
            </a:pPr>
            <a:r>
              <a:rPr sz="1950" b="1" i="0">
                <a:solidFill>
                  <a:srgbClr val="14213D"/>
                </a:solidFill>
                <a:latin typeface="Aptos"/>
              </a:rPr>
              <a:t>6 vs 9</a:t>
            </a:r>
          </a:p>
        </p:txBody>
      </p:sp>
      <p:sp>
        <p:nvSpPr>
          <p:cNvPr id="19" name="TextBox 18"/>
          <p:cNvSpPr txBox="1"/>
          <p:nvPr/>
        </p:nvSpPr>
        <p:spPr>
          <a:xfrm>
            <a:off x="7872983" y="2871215"/>
            <a:ext cx="3529584" cy="128016"/>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617087"/>
                </a:solidFill>
                <a:latin typeface="Aptos"/>
              </a:rPr>
              <a:t>Penalty-X vs Global-Grover</a:t>
            </a:r>
          </a:p>
        </p:txBody>
      </p:sp>
      <p:sp>
        <p:nvSpPr>
          <p:cNvPr id="20" name="Rounded Rectangle 19"/>
          <p:cNvSpPr/>
          <p:nvPr/>
        </p:nvSpPr>
        <p:spPr>
          <a:xfrm>
            <a:off x="7708392" y="3236976"/>
            <a:ext cx="3822191" cy="914400"/>
          </a:xfrm>
          <a:prstGeom prst="roundRect">
            <a:avLst/>
          </a:prstGeom>
          <a:solidFill>
            <a:srgbClr val="FFFFFF"/>
          </a:solidFill>
          <a:ln w="10160">
            <a:solidFill>
              <a:srgbClr val="E7E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08392" y="3236976"/>
            <a:ext cx="50292" cy="914400"/>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872983" y="3328416"/>
            <a:ext cx="3529584" cy="182880"/>
          </a:xfrm>
          <a:prstGeom prst="rect">
            <a:avLst/>
          </a:prstGeom>
          <a:noFill/>
        </p:spPr>
        <p:txBody>
          <a:bodyPr wrap="square" lIns="0" rIns="0" tIns="0" bIns="0" anchor="t">
            <a:spAutoFit/>
          </a:bodyPr>
          <a:lstStyle/>
          <a:p>
            <a:pPr algn="l">
              <a:lnSpc>
                <a:spcPct val="100000"/>
              </a:lnSpc>
              <a:spcBef>
                <a:spcPts val="0"/>
              </a:spcBef>
              <a:spcAft>
                <a:spcPts val="0"/>
              </a:spcAft>
            </a:pPr>
            <a:r>
              <a:rPr sz="950" b="1" i="0">
                <a:solidFill>
                  <a:srgbClr val="617087"/>
                </a:solidFill>
                <a:latin typeface="Aptos"/>
              </a:rPr>
              <a:t>AT P=110</a:t>
            </a:r>
          </a:p>
        </p:txBody>
      </p:sp>
      <p:sp>
        <p:nvSpPr>
          <p:cNvPr id="23" name="TextBox 22"/>
          <p:cNvSpPr txBox="1"/>
          <p:nvPr/>
        </p:nvSpPr>
        <p:spPr>
          <a:xfrm>
            <a:off x="7872983" y="3547872"/>
            <a:ext cx="3529584" cy="320040"/>
          </a:xfrm>
          <a:prstGeom prst="rect">
            <a:avLst/>
          </a:prstGeom>
          <a:noFill/>
        </p:spPr>
        <p:txBody>
          <a:bodyPr wrap="square" lIns="0" rIns="0" tIns="0" bIns="0" anchor="t">
            <a:spAutoFit/>
          </a:bodyPr>
          <a:lstStyle/>
          <a:p>
            <a:pPr algn="l">
              <a:lnSpc>
                <a:spcPct val="100000"/>
              </a:lnSpc>
              <a:spcBef>
                <a:spcPts val="0"/>
              </a:spcBef>
              <a:spcAft>
                <a:spcPts val="0"/>
              </a:spcAft>
            </a:pPr>
            <a:r>
              <a:rPr sz="1950" b="1" i="0">
                <a:solidFill>
                  <a:srgbClr val="14213D"/>
                </a:solidFill>
                <a:latin typeface="Aptos"/>
              </a:rPr>
              <a:t>220 parameters</a:t>
            </a:r>
          </a:p>
        </p:txBody>
      </p:sp>
      <p:sp>
        <p:nvSpPr>
          <p:cNvPr id="24" name="TextBox 23"/>
          <p:cNvSpPr txBox="1"/>
          <p:nvPr/>
        </p:nvSpPr>
        <p:spPr>
          <a:xfrm>
            <a:off x="7872983" y="3950208"/>
            <a:ext cx="3529584" cy="128016"/>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617087"/>
                </a:solidFill>
                <a:latin typeface="Aptos"/>
              </a:rPr>
              <a:t>504 COBYLA evaluations</a:t>
            </a:r>
          </a:p>
        </p:txBody>
      </p:sp>
      <p:sp>
        <p:nvSpPr>
          <p:cNvPr id="25" name="Rounded Rectangle 24"/>
          <p:cNvSpPr/>
          <p:nvPr/>
        </p:nvSpPr>
        <p:spPr>
          <a:xfrm>
            <a:off x="7708392" y="4315968"/>
            <a:ext cx="3822191" cy="914400"/>
          </a:xfrm>
          <a:prstGeom prst="roundRect">
            <a:avLst/>
          </a:prstGeom>
          <a:solidFill>
            <a:srgbClr val="FFFFFF"/>
          </a:solidFill>
          <a:ln w="10160">
            <a:solidFill>
              <a:srgbClr val="E7E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08392" y="4315968"/>
            <a:ext cx="50292" cy="914400"/>
          </a:xfrm>
          <a:prstGeom prst="rect">
            <a:avLst/>
          </a:prstGeom>
          <a:solidFill>
            <a:srgbClr val="E9B9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72983" y="4407407"/>
            <a:ext cx="3529584" cy="182880"/>
          </a:xfrm>
          <a:prstGeom prst="rect">
            <a:avLst/>
          </a:prstGeom>
          <a:noFill/>
        </p:spPr>
        <p:txBody>
          <a:bodyPr wrap="square" lIns="0" rIns="0" tIns="0" bIns="0" anchor="t">
            <a:spAutoFit/>
          </a:bodyPr>
          <a:lstStyle/>
          <a:p>
            <a:pPr algn="l">
              <a:lnSpc>
                <a:spcPct val="100000"/>
              </a:lnSpc>
              <a:spcBef>
                <a:spcPts val="0"/>
              </a:spcBef>
              <a:spcAft>
                <a:spcPts val="0"/>
              </a:spcAft>
            </a:pPr>
            <a:r>
              <a:rPr sz="950" b="1" i="0">
                <a:solidFill>
                  <a:srgbClr val="617087"/>
                </a:solidFill>
                <a:latin typeface="Aptos"/>
              </a:rPr>
              <a:t>OPTIMIZATION STATUS</a:t>
            </a:r>
          </a:p>
        </p:txBody>
      </p:sp>
      <p:sp>
        <p:nvSpPr>
          <p:cNvPr id="28" name="TextBox 27"/>
          <p:cNvSpPr txBox="1"/>
          <p:nvPr/>
        </p:nvSpPr>
        <p:spPr>
          <a:xfrm>
            <a:off x="7872983" y="4626864"/>
            <a:ext cx="3529584" cy="320040"/>
          </a:xfrm>
          <a:prstGeom prst="rect">
            <a:avLst/>
          </a:prstGeom>
          <a:noFill/>
        </p:spPr>
        <p:txBody>
          <a:bodyPr wrap="square" lIns="0" rIns="0" tIns="0" bIns="0" anchor="t">
            <a:spAutoFit/>
          </a:bodyPr>
          <a:lstStyle/>
          <a:p>
            <a:pPr algn="l">
              <a:lnSpc>
                <a:spcPct val="100000"/>
              </a:lnSpc>
              <a:spcBef>
                <a:spcPts val="0"/>
              </a:spcBef>
              <a:spcAft>
                <a:spcPts val="0"/>
              </a:spcAft>
            </a:pPr>
            <a:r>
              <a:rPr sz="1950" b="1" i="0">
                <a:solidFill>
                  <a:srgbClr val="14213D"/>
                </a:solidFill>
                <a:latin typeface="Aptos"/>
              </a:rPr>
              <a:t>All 220 cells</a:t>
            </a:r>
          </a:p>
        </p:txBody>
      </p:sp>
      <p:sp>
        <p:nvSpPr>
          <p:cNvPr id="29" name="TextBox 28"/>
          <p:cNvSpPr txBox="1"/>
          <p:nvPr/>
        </p:nvSpPr>
        <p:spPr>
          <a:xfrm>
            <a:off x="7872983" y="5029200"/>
            <a:ext cx="3529584" cy="128016"/>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617087"/>
                </a:solidFill>
                <a:latin typeface="Aptos"/>
              </a:rPr>
              <a:t>budget-limited; p_opt &lt; 10%</a:t>
            </a:r>
          </a:p>
        </p:txBody>
      </p:sp>
      <p:sp>
        <p:nvSpPr>
          <p:cNvPr id="30" name="Rounded Rectangle 29"/>
          <p:cNvSpPr/>
          <p:nvPr/>
        </p:nvSpPr>
        <p:spPr>
          <a:xfrm>
            <a:off x="658368" y="5760720"/>
            <a:ext cx="10872216" cy="438912"/>
          </a:xfrm>
          <a:prstGeom prst="roundRect">
            <a:avLst/>
          </a:prstGeom>
          <a:solidFill>
            <a:srgbClr val="FFF5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77824" y="5769864"/>
            <a:ext cx="10433304" cy="384048"/>
          </a:xfrm>
          <a:prstGeom prst="rect">
            <a:avLst/>
          </a:prstGeom>
          <a:noFill/>
        </p:spPr>
        <p:txBody>
          <a:bodyPr wrap="square" lIns="0" rIns="0" tIns="0" bIns="0" anchor="t">
            <a:spAutoFit/>
          </a:bodyPr>
          <a:lstStyle/>
          <a:p>
            <a:pPr algn="ctr">
              <a:lnSpc>
                <a:spcPct val="100000"/>
              </a:lnSpc>
              <a:spcBef>
                <a:spcPts val="0"/>
              </a:spcBef>
              <a:spcAft>
                <a:spcPts val="0"/>
              </a:spcAft>
            </a:pPr>
            <a:r>
              <a:rPr sz="1350" b="1" i="0">
                <a:solidFill>
                  <a:srgbClr val="14213D"/>
                </a:solidFill>
                <a:latin typeface="Aptos"/>
              </a:rPr>
              <a:t>Within this instance and finite budget, depth to 110 reveals no sharp Grover-scale success transition; ansatz and optimizer difficulty cannot be separated.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548640" y="292608"/>
            <a:ext cx="11064240" cy="530352"/>
          </a:xfrm>
          <a:prstGeom prst="rect">
            <a:avLst/>
          </a:prstGeom>
          <a:noFill/>
        </p:spPr>
        <p:txBody>
          <a:bodyPr wrap="square" lIns="0" rIns="0" tIns="0" bIns="0" anchor="t">
            <a:spAutoFit/>
          </a:bodyPr>
          <a:lstStyle/>
          <a:p>
            <a:pPr algn="l">
              <a:lnSpc>
                <a:spcPct val="100000"/>
              </a:lnSpc>
              <a:spcBef>
                <a:spcPts val="0"/>
              </a:spcBef>
              <a:spcAft>
                <a:spcPts val="0"/>
              </a:spcAft>
            </a:pPr>
            <a:r>
              <a:rPr sz="2900" b="1" i="0">
                <a:solidFill>
                  <a:srgbClr val="14213D"/>
                </a:solidFill>
                <a:latin typeface="Aptos"/>
              </a:rPr>
              <a:t>Scientific computing and validation</a:t>
            </a:r>
          </a:p>
        </p:txBody>
      </p:sp>
      <p:sp>
        <p:nvSpPr>
          <p:cNvPr id="3" name="Rectangle 2"/>
          <p:cNvSpPr/>
          <p:nvPr/>
        </p:nvSpPr>
        <p:spPr>
          <a:xfrm>
            <a:off x="548640" y="896112"/>
            <a:ext cx="658368" cy="41148"/>
          </a:xfrm>
          <a:prstGeom prst="rect">
            <a:avLst/>
          </a:prstGeom>
          <a:solidFill>
            <a:srgbClr val="2063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a:off x="502920" y="6528816"/>
            <a:ext cx="11183112" cy="0"/>
          </a:xfrm>
          <a:prstGeom prst="line">
            <a:avLst/>
          </a:prstGeom>
          <a:ln w="8890">
            <a:solidFill>
              <a:srgbClr val="E7ECF3"/>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30352" y="6574536"/>
            <a:ext cx="2194560" cy="164592"/>
          </a:xfrm>
          <a:prstGeom prst="rect">
            <a:avLst/>
          </a:prstGeom>
          <a:noFill/>
        </p:spPr>
        <p:txBody>
          <a:bodyPr wrap="square" lIns="0" rIns="0" tIns="0" bIns="0" anchor="t">
            <a:spAutoFit/>
          </a:bodyPr>
          <a:lstStyle/>
          <a:p>
            <a:pPr algn="l">
              <a:lnSpc>
                <a:spcPct val="100000"/>
              </a:lnSpc>
              <a:spcBef>
                <a:spcPts val="0"/>
              </a:spcBef>
              <a:spcAft>
                <a:spcPts val="0"/>
              </a:spcAft>
            </a:pPr>
            <a:r>
              <a:rPr sz="950" b="1" i="0">
                <a:solidFill>
                  <a:srgbClr val="617087"/>
                </a:solidFill>
                <a:latin typeface="Aptos"/>
              </a:rPr>
              <a:t>VERIFICATION</a:t>
            </a:r>
          </a:p>
        </p:txBody>
      </p:sp>
      <p:sp>
        <p:nvSpPr>
          <p:cNvPr id="6" name="TextBox 5"/>
          <p:cNvSpPr txBox="1"/>
          <p:nvPr/>
        </p:nvSpPr>
        <p:spPr>
          <a:xfrm>
            <a:off x="11173968" y="6556248"/>
            <a:ext cx="457200" cy="182880"/>
          </a:xfrm>
          <a:prstGeom prst="rect">
            <a:avLst/>
          </a:prstGeom>
          <a:noFill/>
        </p:spPr>
        <p:txBody>
          <a:bodyPr wrap="square" lIns="0" rIns="0" tIns="0" bIns="0" anchor="t">
            <a:spAutoFit/>
          </a:bodyPr>
          <a:lstStyle/>
          <a:p>
            <a:pPr algn="r">
              <a:lnSpc>
                <a:spcPct val="100000"/>
              </a:lnSpc>
              <a:spcBef>
                <a:spcPts val="0"/>
              </a:spcBef>
              <a:spcAft>
                <a:spcPts val="0"/>
              </a:spcAft>
            </a:pPr>
            <a:r>
              <a:rPr sz="1000" b="1" i="0">
                <a:solidFill>
                  <a:srgbClr val="617087"/>
                </a:solidFill>
                <a:latin typeface="Aptos"/>
              </a:rPr>
              <a:t>11</a:t>
            </a:r>
          </a:p>
        </p:txBody>
      </p:sp>
      <p:sp>
        <p:nvSpPr>
          <p:cNvPr id="7" name="Rounded Rectangle 6"/>
          <p:cNvSpPr/>
          <p:nvPr/>
        </p:nvSpPr>
        <p:spPr>
          <a:xfrm>
            <a:off x="694944" y="1170432"/>
            <a:ext cx="1664208" cy="493776"/>
          </a:xfrm>
          <a:prstGeom prst="roundRect">
            <a:avLst/>
          </a:prstGeom>
          <a:solidFill>
            <a:srgbClr val="E7F2FA"/>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0664" y="1261872"/>
            <a:ext cx="1572768" cy="292608"/>
          </a:xfrm>
          <a:prstGeom prst="rect">
            <a:avLst/>
          </a:prstGeom>
          <a:noFill/>
        </p:spPr>
        <p:txBody>
          <a:bodyPr wrap="square" lIns="0" rIns="0" tIns="0" bIns="0" anchor="ctr">
            <a:spAutoFit/>
          </a:bodyPr>
          <a:lstStyle/>
          <a:p>
            <a:pPr algn="ctr">
              <a:lnSpc>
                <a:spcPct val="100000"/>
              </a:lnSpc>
              <a:spcBef>
                <a:spcPts val="0"/>
              </a:spcBef>
              <a:spcAft>
                <a:spcPts val="0"/>
              </a:spcAft>
            </a:pPr>
            <a:r>
              <a:rPr sz="1400" b="1" i="0">
                <a:solidFill>
                  <a:srgbClr val="20639B"/>
                </a:solidFill>
                <a:latin typeface="Aptos"/>
              </a:rPr>
              <a:t>Model</a:t>
            </a:r>
          </a:p>
        </p:txBody>
      </p:sp>
      <p:sp>
        <p:nvSpPr>
          <p:cNvPr id="9" name="Chevron 8"/>
          <p:cNvSpPr/>
          <p:nvPr/>
        </p:nvSpPr>
        <p:spPr>
          <a:xfrm>
            <a:off x="2340864" y="1325880"/>
            <a:ext cx="201168" cy="182880"/>
          </a:xfrm>
          <a:prstGeom prst="chevron">
            <a:avLst/>
          </a:prstGeom>
          <a:solidFill>
            <a:srgbClr val="E7EC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523744" y="1170432"/>
            <a:ext cx="1664208" cy="493776"/>
          </a:xfrm>
          <a:prstGeom prst="roundRect">
            <a:avLst/>
          </a:prstGeom>
          <a:solidFill>
            <a:srgbClr val="E7F2FA"/>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569463" y="1261872"/>
            <a:ext cx="1572768" cy="292608"/>
          </a:xfrm>
          <a:prstGeom prst="rect">
            <a:avLst/>
          </a:prstGeom>
          <a:noFill/>
        </p:spPr>
        <p:txBody>
          <a:bodyPr wrap="square" lIns="0" rIns="0" tIns="0" bIns="0" anchor="ctr">
            <a:spAutoFit/>
          </a:bodyPr>
          <a:lstStyle/>
          <a:p>
            <a:pPr algn="ctr">
              <a:lnSpc>
                <a:spcPct val="100000"/>
              </a:lnSpc>
              <a:spcBef>
                <a:spcPts val="0"/>
              </a:spcBef>
              <a:spcAft>
                <a:spcPts val="0"/>
              </a:spcAft>
            </a:pPr>
            <a:r>
              <a:rPr sz="1400" b="1" i="0">
                <a:solidFill>
                  <a:srgbClr val="20639B"/>
                </a:solidFill>
                <a:latin typeface="Aptos"/>
              </a:rPr>
              <a:t>Simulate</a:t>
            </a:r>
          </a:p>
        </p:txBody>
      </p:sp>
      <p:sp>
        <p:nvSpPr>
          <p:cNvPr id="12" name="Chevron 11"/>
          <p:cNvSpPr/>
          <p:nvPr/>
        </p:nvSpPr>
        <p:spPr>
          <a:xfrm>
            <a:off x="4169664" y="1325880"/>
            <a:ext cx="201168" cy="182880"/>
          </a:xfrm>
          <a:prstGeom prst="chevron">
            <a:avLst/>
          </a:prstGeom>
          <a:solidFill>
            <a:srgbClr val="E7EC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52544" y="1170432"/>
            <a:ext cx="1664208" cy="493776"/>
          </a:xfrm>
          <a:prstGeom prst="roundRect">
            <a:avLst/>
          </a:prstGeom>
          <a:solidFill>
            <a:srgbClr val="E7F2FA"/>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98264" y="1261872"/>
            <a:ext cx="1572768" cy="292608"/>
          </a:xfrm>
          <a:prstGeom prst="rect">
            <a:avLst/>
          </a:prstGeom>
          <a:noFill/>
        </p:spPr>
        <p:txBody>
          <a:bodyPr wrap="square" lIns="0" rIns="0" tIns="0" bIns="0" anchor="ctr">
            <a:spAutoFit/>
          </a:bodyPr>
          <a:lstStyle/>
          <a:p>
            <a:pPr algn="ctr">
              <a:lnSpc>
                <a:spcPct val="100000"/>
              </a:lnSpc>
              <a:spcBef>
                <a:spcPts val="0"/>
              </a:spcBef>
              <a:spcAft>
                <a:spcPts val="0"/>
              </a:spcAft>
            </a:pPr>
            <a:r>
              <a:rPr sz="1400" b="1" i="0">
                <a:solidFill>
                  <a:srgbClr val="20639B"/>
                </a:solidFill>
                <a:latin typeface="Aptos"/>
              </a:rPr>
              <a:t>Optimize</a:t>
            </a:r>
          </a:p>
        </p:txBody>
      </p:sp>
      <p:sp>
        <p:nvSpPr>
          <p:cNvPr id="15" name="Chevron 14"/>
          <p:cNvSpPr/>
          <p:nvPr/>
        </p:nvSpPr>
        <p:spPr>
          <a:xfrm>
            <a:off x="5998464" y="1325880"/>
            <a:ext cx="201168" cy="182880"/>
          </a:xfrm>
          <a:prstGeom prst="chevron">
            <a:avLst/>
          </a:prstGeom>
          <a:solidFill>
            <a:srgbClr val="E7EC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181344" y="1170432"/>
            <a:ext cx="1664208" cy="493776"/>
          </a:xfrm>
          <a:prstGeom prst="roundRect">
            <a:avLst/>
          </a:prstGeom>
          <a:solidFill>
            <a:srgbClr val="E4F5F2"/>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27064" y="1261872"/>
            <a:ext cx="1572768" cy="292608"/>
          </a:xfrm>
          <a:prstGeom prst="rect">
            <a:avLst/>
          </a:prstGeom>
          <a:noFill/>
        </p:spPr>
        <p:txBody>
          <a:bodyPr wrap="square" lIns="0" rIns="0" tIns="0" bIns="0" anchor="ctr">
            <a:spAutoFit/>
          </a:bodyPr>
          <a:lstStyle/>
          <a:p>
            <a:pPr algn="ctr">
              <a:lnSpc>
                <a:spcPct val="100000"/>
              </a:lnSpc>
              <a:spcBef>
                <a:spcPts val="0"/>
              </a:spcBef>
              <a:spcAft>
                <a:spcPts val="0"/>
              </a:spcAft>
            </a:pPr>
            <a:r>
              <a:rPr sz="1400" b="1" i="0">
                <a:solidFill>
                  <a:srgbClr val="2A9D8F"/>
                </a:solidFill>
                <a:latin typeface="Aptos"/>
              </a:rPr>
              <a:t>Save</a:t>
            </a:r>
          </a:p>
        </p:txBody>
      </p:sp>
      <p:sp>
        <p:nvSpPr>
          <p:cNvPr id="18" name="Chevron 17"/>
          <p:cNvSpPr/>
          <p:nvPr/>
        </p:nvSpPr>
        <p:spPr>
          <a:xfrm>
            <a:off x="7827264" y="1325880"/>
            <a:ext cx="201168" cy="182880"/>
          </a:xfrm>
          <a:prstGeom prst="chevron">
            <a:avLst/>
          </a:prstGeom>
          <a:solidFill>
            <a:srgbClr val="E7EC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010144" y="1170432"/>
            <a:ext cx="1664208" cy="493776"/>
          </a:xfrm>
          <a:prstGeom prst="roundRect">
            <a:avLst/>
          </a:prstGeom>
          <a:solidFill>
            <a:srgbClr val="E4F5F2"/>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55864" y="1261872"/>
            <a:ext cx="1572768" cy="292608"/>
          </a:xfrm>
          <a:prstGeom prst="rect">
            <a:avLst/>
          </a:prstGeom>
          <a:noFill/>
        </p:spPr>
        <p:txBody>
          <a:bodyPr wrap="square" lIns="0" rIns="0" tIns="0" bIns="0" anchor="ctr">
            <a:spAutoFit/>
          </a:bodyPr>
          <a:lstStyle/>
          <a:p>
            <a:pPr algn="ctr">
              <a:lnSpc>
                <a:spcPct val="100000"/>
              </a:lnSpc>
              <a:spcBef>
                <a:spcPts val="0"/>
              </a:spcBef>
              <a:spcAft>
                <a:spcPts val="0"/>
              </a:spcAft>
            </a:pPr>
            <a:r>
              <a:rPr sz="1400" b="1" i="0">
                <a:solidFill>
                  <a:srgbClr val="2A9D8F"/>
                </a:solidFill>
                <a:latin typeface="Aptos"/>
              </a:rPr>
              <a:t>Validate</a:t>
            </a:r>
          </a:p>
        </p:txBody>
      </p:sp>
      <p:sp>
        <p:nvSpPr>
          <p:cNvPr id="21" name="Chevron 20"/>
          <p:cNvSpPr/>
          <p:nvPr/>
        </p:nvSpPr>
        <p:spPr>
          <a:xfrm>
            <a:off x="9656064" y="1325880"/>
            <a:ext cx="201168" cy="182880"/>
          </a:xfrm>
          <a:prstGeom prst="chevron">
            <a:avLst/>
          </a:prstGeom>
          <a:solidFill>
            <a:srgbClr val="E7EC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838944" y="1170432"/>
            <a:ext cx="1664208" cy="493776"/>
          </a:xfrm>
          <a:prstGeom prst="roundRect">
            <a:avLst/>
          </a:prstGeom>
          <a:solidFill>
            <a:srgbClr val="FFF5D6"/>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884664" y="1261872"/>
            <a:ext cx="1572768" cy="292608"/>
          </a:xfrm>
          <a:prstGeom prst="rect">
            <a:avLst/>
          </a:prstGeom>
          <a:noFill/>
        </p:spPr>
        <p:txBody>
          <a:bodyPr wrap="square" lIns="0" rIns="0" tIns="0" bIns="0" anchor="ctr">
            <a:spAutoFit/>
          </a:bodyPr>
          <a:lstStyle/>
          <a:p>
            <a:pPr algn="ctr">
              <a:lnSpc>
                <a:spcPct val="100000"/>
              </a:lnSpc>
              <a:spcBef>
                <a:spcPts val="0"/>
              </a:spcBef>
              <a:spcAft>
                <a:spcPts val="0"/>
              </a:spcAft>
            </a:pPr>
            <a:r>
              <a:rPr sz="1400" b="1" i="0">
                <a:solidFill>
                  <a:srgbClr val="14213D"/>
                </a:solidFill>
                <a:latin typeface="Aptos"/>
              </a:rPr>
              <a:t>Plot</a:t>
            </a:r>
          </a:p>
        </p:txBody>
      </p:sp>
      <p:sp>
        <p:nvSpPr>
          <p:cNvPr id="24" name="Rounded Rectangle 23"/>
          <p:cNvSpPr/>
          <p:nvPr/>
        </p:nvSpPr>
        <p:spPr>
          <a:xfrm>
            <a:off x="658368" y="1965960"/>
            <a:ext cx="5266944" cy="3364992"/>
          </a:xfrm>
          <a:prstGeom prst="roundRect">
            <a:avLst/>
          </a:prstGeom>
          <a:solidFill>
            <a:srgbClr val="FFFFFF"/>
          </a:solidFill>
          <a:ln w="10160">
            <a:solidFill>
              <a:srgbClr val="E7E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96112" y="2212848"/>
            <a:ext cx="4782312" cy="274320"/>
          </a:xfrm>
          <a:prstGeom prst="rect">
            <a:avLst/>
          </a:prstGeom>
          <a:noFill/>
        </p:spPr>
        <p:txBody>
          <a:bodyPr wrap="square" lIns="0" rIns="0" tIns="0" bIns="0" anchor="t">
            <a:spAutoFit/>
          </a:bodyPr>
          <a:lstStyle/>
          <a:p>
            <a:pPr algn="l">
              <a:lnSpc>
                <a:spcPct val="100000"/>
              </a:lnSpc>
              <a:spcBef>
                <a:spcPts val="0"/>
              </a:spcBef>
              <a:spcAft>
                <a:spcPts val="0"/>
              </a:spcAft>
            </a:pPr>
            <a:r>
              <a:rPr sz="1200" b="1" i="0">
                <a:solidFill>
                  <a:srgbClr val="20639B"/>
                </a:solidFill>
                <a:latin typeface="Aptos"/>
              </a:rPr>
              <a:t>REPRODUCIBLE COMPUTING STACK</a:t>
            </a:r>
          </a:p>
        </p:txBody>
      </p:sp>
      <p:sp>
        <p:nvSpPr>
          <p:cNvPr id="26" name="Oval 25"/>
          <p:cNvSpPr/>
          <p:nvPr/>
        </p:nvSpPr>
        <p:spPr>
          <a:xfrm>
            <a:off x="923544" y="2743200"/>
            <a:ext cx="109728" cy="109728"/>
          </a:xfrm>
          <a:prstGeom prst="ellipse">
            <a:avLst/>
          </a:prstGeom>
          <a:solidFill>
            <a:srgbClr val="2063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115568" y="2633472"/>
            <a:ext cx="4535424" cy="347472"/>
          </a:xfrm>
          <a:prstGeom prst="rect">
            <a:avLst/>
          </a:prstGeom>
          <a:noFill/>
        </p:spPr>
        <p:txBody>
          <a:bodyPr wrap="square" lIns="0" rIns="0" tIns="0" bIns="0" anchor="t">
            <a:spAutoFit/>
          </a:bodyPr>
          <a:lstStyle/>
          <a:p>
            <a:pPr algn="l">
              <a:lnSpc>
                <a:spcPct val="100000"/>
              </a:lnSpc>
              <a:spcBef>
                <a:spcPts val="0"/>
              </a:spcBef>
              <a:spcAft>
                <a:spcPts val="0"/>
              </a:spcAft>
            </a:pPr>
            <a:r>
              <a:rPr sz="1600" b="0" i="0">
                <a:solidFill>
                  <a:srgbClr val="24324A"/>
                </a:solidFill>
                <a:latin typeface="Aptos"/>
              </a:rPr>
              <a:t>Python + NumPy exact statevectors</a:t>
            </a:r>
          </a:p>
        </p:txBody>
      </p:sp>
      <p:sp>
        <p:nvSpPr>
          <p:cNvPr id="28" name="Oval 27"/>
          <p:cNvSpPr/>
          <p:nvPr/>
        </p:nvSpPr>
        <p:spPr>
          <a:xfrm>
            <a:off x="923544" y="3154680"/>
            <a:ext cx="109728" cy="109728"/>
          </a:xfrm>
          <a:prstGeom prst="ellipse">
            <a:avLst/>
          </a:prstGeom>
          <a:solidFill>
            <a:srgbClr val="2063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115568" y="3044952"/>
            <a:ext cx="4535424" cy="347472"/>
          </a:xfrm>
          <a:prstGeom prst="rect">
            <a:avLst/>
          </a:prstGeom>
          <a:noFill/>
        </p:spPr>
        <p:txBody>
          <a:bodyPr wrap="square" lIns="0" rIns="0" tIns="0" bIns="0" anchor="t">
            <a:spAutoFit/>
          </a:bodyPr>
          <a:lstStyle/>
          <a:p>
            <a:pPr algn="l">
              <a:lnSpc>
                <a:spcPct val="100000"/>
              </a:lnSpc>
              <a:spcBef>
                <a:spcPts val="0"/>
              </a:spcBef>
              <a:spcAft>
                <a:spcPts val="0"/>
              </a:spcAft>
            </a:pPr>
            <a:r>
              <a:rPr sz="1600" b="0" i="0">
                <a:solidFill>
                  <a:srgbClr val="24324A"/>
                </a:solidFill>
                <a:latin typeface="Aptos"/>
              </a:rPr>
              <a:t>SciPy COBYLA parameter optimization</a:t>
            </a:r>
          </a:p>
        </p:txBody>
      </p:sp>
      <p:sp>
        <p:nvSpPr>
          <p:cNvPr id="30" name="Oval 29"/>
          <p:cNvSpPr/>
          <p:nvPr/>
        </p:nvSpPr>
        <p:spPr>
          <a:xfrm>
            <a:off x="923544" y="3566160"/>
            <a:ext cx="109728" cy="109728"/>
          </a:xfrm>
          <a:prstGeom prst="ellipse">
            <a:avLst/>
          </a:prstGeom>
          <a:solidFill>
            <a:srgbClr val="2063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115568" y="3456432"/>
            <a:ext cx="4535424" cy="347472"/>
          </a:xfrm>
          <a:prstGeom prst="rect">
            <a:avLst/>
          </a:prstGeom>
          <a:noFill/>
        </p:spPr>
        <p:txBody>
          <a:bodyPr wrap="square" lIns="0" rIns="0" tIns="0" bIns="0" anchor="t">
            <a:spAutoFit/>
          </a:bodyPr>
          <a:lstStyle/>
          <a:p>
            <a:pPr algn="l">
              <a:lnSpc>
                <a:spcPct val="100000"/>
              </a:lnSpc>
              <a:spcBef>
                <a:spcPts val="0"/>
              </a:spcBef>
              <a:spcAft>
                <a:spcPts val="0"/>
              </a:spcAft>
            </a:pPr>
            <a:r>
              <a:rPr sz="1600" b="0" i="0">
                <a:solidFill>
                  <a:srgbClr val="24324A"/>
                </a:solidFill>
                <a:latin typeface="Aptos"/>
              </a:rPr>
              <a:t>NetworkX exact path reference</a:t>
            </a:r>
          </a:p>
        </p:txBody>
      </p:sp>
      <p:sp>
        <p:nvSpPr>
          <p:cNvPr id="32" name="Oval 31"/>
          <p:cNvSpPr/>
          <p:nvPr/>
        </p:nvSpPr>
        <p:spPr>
          <a:xfrm>
            <a:off x="923544" y="3977640"/>
            <a:ext cx="109728" cy="109728"/>
          </a:xfrm>
          <a:prstGeom prst="ellipse">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115568" y="3867912"/>
            <a:ext cx="4535424" cy="347472"/>
          </a:xfrm>
          <a:prstGeom prst="rect">
            <a:avLst/>
          </a:prstGeom>
          <a:noFill/>
        </p:spPr>
        <p:txBody>
          <a:bodyPr wrap="square" lIns="0" rIns="0" tIns="0" bIns="0" anchor="t">
            <a:spAutoFit/>
          </a:bodyPr>
          <a:lstStyle/>
          <a:p>
            <a:pPr algn="l">
              <a:lnSpc>
                <a:spcPct val="100000"/>
              </a:lnSpc>
              <a:spcBef>
                <a:spcPts val="0"/>
              </a:spcBef>
              <a:spcAft>
                <a:spcPts val="0"/>
              </a:spcAft>
            </a:pPr>
            <a:r>
              <a:rPr sz="1600" b="0" i="0">
                <a:solidFill>
                  <a:srgbClr val="24324A"/>
                </a:solidFill>
                <a:latin typeface="Aptos"/>
              </a:rPr>
              <a:t>Explicit QUBO construction and Ising mapping</a:t>
            </a:r>
          </a:p>
        </p:txBody>
      </p:sp>
      <p:sp>
        <p:nvSpPr>
          <p:cNvPr id="34" name="Oval 33"/>
          <p:cNvSpPr/>
          <p:nvPr/>
        </p:nvSpPr>
        <p:spPr>
          <a:xfrm>
            <a:off x="923544" y="4389120"/>
            <a:ext cx="109728" cy="109728"/>
          </a:xfrm>
          <a:prstGeom prst="ellipse">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115568" y="4279392"/>
            <a:ext cx="4535424" cy="347472"/>
          </a:xfrm>
          <a:prstGeom prst="rect">
            <a:avLst/>
          </a:prstGeom>
          <a:noFill/>
        </p:spPr>
        <p:txBody>
          <a:bodyPr wrap="square" lIns="0" rIns="0" tIns="0" bIns="0" anchor="t">
            <a:spAutoFit/>
          </a:bodyPr>
          <a:lstStyle/>
          <a:p>
            <a:pPr algn="l">
              <a:lnSpc>
                <a:spcPct val="100000"/>
              </a:lnSpc>
              <a:spcBef>
                <a:spcPts val="0"/>
              </a:spcBef>
              <a:spcAft>
                <a:spcPts val="0"/>
              </a:spcAft>
            </a:pPr>
            <a:r>
              <a:rPr sz="1600" b="0" i="0">
                <a:solidFill>
                  <a:srgbClr val="24324A"/>
                </a:solidFill>
                <a:latin typeface="Aptos"/>
              </a:rPr>
              <a:t>CSV / JSON checkpoints and canonical tables</a:t>
            </a:r>
          </a:p>
        </p:txBody>
      </p:sp>
      <p:sp>
        <p:nvSpPr>
          <p:cNvPr id="36" name="Oval 35"/>
          <p:cNvSpPr/>
          <p:nvPr/>
        </p:nvSpPr>
        <p:spPr>
          <a:xfrm>
            <a:off x="923544" y="4800600"/>
            <a:ext cx="109728" cy="109728"/>
          </a:xfrm>
          <a:prstGeom prst="ellipse">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115568" y="4690872"/>
            <a:ext cx="4535424" cy="347472"/>
          </a:xfrm>
          <a:prstGeom prst="rect">
            <a:avLst/>
          </a:prstGeom>
          <a:noFill/>
        </p:spPr>
        <p:txBody>
          <a:bodyPr wrap="square" lIns="0" rIns="0" tIns="0" bIns="0" anchor="t">
            <a:spAutoFit/>
          </a:bodyPr>
          <a:lstStyle/>
          <a:p>
            <a:pPr algn="l">
              <a:lnSpc>
                <a:spcPct val="100000"/>
              </a:lnSpc>
              <a:spcBef>
                <a:spcPts val="0"/>
              </a:spcBef>
              <a:spcAft>
                <a:spcPts val="0"/>
              </a:spcAft>
            </a:pPr>
            <a:r>
              <a:rPr sz="1600" b="0" i="0">
                <a:solidFill>
                  <a:srgbClr val="24324A"/>
                </a:solidFill>
                <a:latin typeface="Aptos"/>
              </a:rPr>
              <a:t>Matplotlib figures + CLI scripts + Git</a:t>
            </a:r>
          </a:p>
        </p:txBody>
      </p:sp>
      <p:sp>
        <p:nvSpPr>
          <p:cNvPr id="38" name="Rounded Rectangle 37"/>
          <p:cNvSpPr/>
          <p:nvPr/>
        </p:nvSpPr>
        <p:spPr>
          <a:xfrm>
            <a:off x="6181344" y="1965960"/>
            <a:ext cx="5358384" cy="3364992"/>
          </a:xfrm>
          <a:prstGeom prst="round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37376" y="2212848"/>
            <a:ext cx="4846320" cy="274320"/>
          </a:xfrm>
          <a:prstGeom prst="rect">
            <a:avLst/>
          </a:prstGeom>
          <a:noFill/>
        </p:spPr>
        <p:txBody>
          <a:bodyPr wrap="square" lIns="0" rIns="0" tIns="0" bIns="0" anchor="t">
            <a:spAutoFit/>
          </a:bodyPr>
          <a:lstStyle/>
          <a:p>
            <a:pPr algn="l">
              <a:lnSpc>
                <a:spcPct val="100000"/>
              </a:lnSpc>
              <a:spcBef>
                <a:spcPts val="0"/>
              </a:spcBef>
              <a:spcAft>
                <a:spcPts val="0"/>
              </a:spcAft>
            </a:pPr>
            <a:r>
              <a:rPr sz="1200" b="1" i="0">
                <a:solidFill>
                  <a:srgbClr val="E9B949"/>
                </a:solidFill>
                <a:latin typeface="Aptos"/>
              </a:rPr>
              <a:t>CURRENT VERIFICATION</a:t>
            </a:r>
          </a:p>
        </p:txBody>
      </p:sp>
      <p:sp>
        <p:nvSpPr>
          <p:cNvPr id="40" name="Oval 39"/>
          <p:cNvSpPr/>
          <p:nvPr/>
        </p:nvSpPr>
        <p:spPr>
          <a:xfrm>
            <a:off x="6400800" y="2660904"/>
            <a:ext cx="146304" cy="146304"/>
          </a:xfrm>
          <a:prstGeom prst="ellipse">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656832" y="2578608"/>
            <a:ext cx="4480560" cy="310896"/>
          </a:xfrm>
          <a:prstGeom prst="rect">
            <a:avLst/>
          </a:prstGeom>
          <a:noFill/>
        </p:spPr>
        <p:txBody>
          <a:bodyPr wrap="square" lIns="0" rIns="0" tIns="0" bIns="0" anchor="t">
            <a:spAutoFit/>
          </a:bodyPr>
          <a:lstStyle/>
          <a:p>
            <a:pPr algn="l">
              <a:lnSpc>
                <a:spcPct val="100000"/>
              </a:lnSpc>
              <a:spcBef>
                <a:spcPts val="0"/>
              </a:spcBef>
              <a:spcAft>
                <a:spcPts val="0"/>
              </a:spcAft>
            </a:pPr>
            <a:r>
              <a:rPr sz="1650" b="1" i="0">
                <a:solidFill>
                  <a:srgbClr val="FFFFFF"/>
                </a:solidFill>
                <a:latin typeface="Aptos"/>
              </a:rPr>
              <a:t>167 tests passing</a:t>
            </a:r>
          </a:p>
        </p:txBody>
      </p:sp>
      <p:sp>
        <p:nvSpPr>
          <p:cNvPr id="42" name="Oval 41"/>
          <p:cNvSpPr/>
          <p:nvPr/>
        </p:nvSpPr>
        <p:spPr>
          <a:xfrm>
            <a:off x="6400800" y="3072384"/>
            <a:ext cx="146304" cy="146304"/>
          </a:xfrm>
          <a:prstGeom prst="ellipse">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656832" y="2990088"/>
            <a:ext cx="4480560" cy="310896"/>
          </a:xfrm>
          <a:prstGeom prst="rect">
            <a:avLst/>
          </a:prstGeom>
          <a:noFill/>
        </p:spPr>
        <p:txBody>
          <a:bodyPr wrap="square" lIns="0" rIns="0" tIns="0" bIns="0" anchor="t">
            <a:spAutoFit/>
          </a:bodyPr>
          <a:lstStyle/>
          <a:p>
            <a:pPr algn="l">
              <a:lnSpc>
                <a:spcPct val="100000"/>
              </a:lnSpc>
              <a:spcBef>
                <a:spcPts val="0"/>
              </a:spcBef>
              <a:spcAft>
                <a:spcPts val="0"/>
              </a:spcAft>
            </a:pPr>
            <a:r>
              <a:rPr sz="1650" b="0" i="0">
                <a:solidFill>
                  <a:srgbClr val="FFFFFF"/>
                </a:solidFill>
                <a:latin typeface="Aptos"/>
              </a:rPr>
              <a:t>23 visualization checks passing</a:t>
            </a:r>
          </a:p>
        </p:txBody>
      </p:sp>
      <p:sp>
        <p:nvSpPr>
          <p:cNvPr id="44" name="Oval 43"/>
          <p:cNvSpPr/>
          <p:nvPr/>
        </p:nvSpPr>
        <p:spPr>
          <a:xfrm>
            <a:off x="6400800" y="3483864"/>
            <a:ext cx="146304" cy="146304"/>
          </a:xfrm>
          <a:prstGeom prst="ellipse">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656832" y="3401568"/>
            <a:ext cx="4480560" cy="310896"/>
          </a:xfrm>
          <a:prstGeom prst="rect">
            <a:avLst/>
          </a:prstGeom>
          <a:noFill/>
        </p:spPr>
        <p:txBody>
          <a:bodyPr wrap="square" lIns="0" rIns="0" tIns="0" bIns="0" anchor="t">
            <a:spAutoFit/>
          </a:bodyPr>
          <a:lstStyle/>
          <a:p>
            <a:pPr algn="l">
              <a:lnSpc>
                <a:spcPct val="100000"/>
              </a:lnSpc>
              <a:spcBef>
                <a:spcPts val="0"/>
              </a:spcBef>
              <a:spcAft>
                <a:spcPts val="0"/>
              </a:spcAft>
            </a:pPr>
            <a:r>
              <a:rPr sz="1650" b="1" i="0">
                <a:solidFill>
                  <a:srgbClr val="FFFFFF"/>
                </a:solidFill>
                <a:latin typeface="Aptos"/>
              </a:rPr>
              <a:t>43 / 43 depth-artifact checks</a:t>
            </a:r>
          </a:p>
        </p:txBody>
      </p:sp>
      <p:sp>
        <p:nvSpPr>
          <p:cNvPr id="46" name="Oval 45"/>
          <p:cNvSpPr/>
          <p:nvPr/>
        </p:nvSpPr>
        <p:spPr>
          <a:xfrm>
            <a:off x="6400800" y="3895344"/>
            <a:ext cx="146304" cy="146304"/>
          </a:xfrm>
          <a:prstGeom prst="ellipse">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656832" y="3813048"/>
            <a:ext cx="4480560" cy="310896"/>
          </a:xfrm>
          <a:prstGeom prst="rect">
            <a:avLst/>
          </a:prstGeom>
          <a:noFill/>
        </p:spPr>
        <p:txBody>
          <a:bodyPr wrap="square" lIns="0" rIns="0" tIns="0" bIns="0" anchor="t">
            <a:spAutoFit/>
          </a:bodyPr>
          <a:lstStyle/>
          <a:p>
            <a:pPr algn="l">
              <a:lnSpc>
                <a:spcPct val="100000"/>
              </a:lnSpc>
              <a:spcBef>
                <a:spcPts val="0"/>
              </a:spcBef>
              <a:spcAft>
                <a:spcPts val="0"/>
              </a:spcAft>
            </a:pPr>
            <a:r>
              <a:rPr sz="1650" b="0" i="0">
                <a:solidFill>
                  <a:srgbClr val="FFFFFF"/>
                </a:solidFill>
                <a:latin typeface="Aptos"/>
              </a:rPr>
              <a:t>43 / 43 CVaR-artifact checks</a:t>
            </a:r>
          </a:p>
        </p:txBody>
      </p:sp>
      <p:sp>
        <p:nvSpPr>
          <p:cNvPr id="48" name="Oval 47"/>
          <p:cNvSpPr/>
          <p:nvPr/>
        </p:nvSpPr>
        <p:spPr>
          <a:xfrm>
            <a:off x="6400800" y="4306824"/>
            <a:ext cx="146304" cy="146304"/>
          </a:xfrm>
          <a:prstGeom prst="ellipse">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656832" y="4224528"/>
            <a:ext cx="4480560" cy="310896"/>
          </a:xfrm>
          <a:prstGeom prst="rect">
            <a:avLst/>
          </a:prstGeom>
          <a:noFill/>
        </p:spPr>
        <p:txBody>
          <a:bodyPr wrap="square" lIns="0" rIns="0" tIns="0" bIns="0" anchor="t">
            <a:spAutoFit/>
          </a:bodyPr>
          <a:lstStyle/>
          <a:p>
            <a:pPr algn="l">
              <a:lnSpc>
                <a:spcPct val="100000"/>
              </a:lnSpc>
              <a:spcBef>
                <a:spcPts val="0"/>
              </a:spcBef>
              <a:spcAft>
                <a:spcPts val="0"/>
              </a:spcAft>
            </a:pPr>
            <a:r>
              <a:rPr sz="1650" b="1" i="0">
                <a:solidFill>
                  <a:srgbClr val="FFFFFF"/>
                </a:solidFill>
                <a:latin typeface="Aptos"/>
              </a:rPr>
              <a:t>max QUBO–Ising error = 0</a:t>
            </a:r>
          </a:p>
        </p:txBody>
      </p:sp>
      <p:sp>
        <p:nvSpPr>
          <p:cNvPr id="50" name="Oval 49"/>
          <p:cNvSpPr/>
          <p:nvPr/>
        </p:nvSpPr>
        <p:spPr>
          <a:xfrm>
            <a:off x="6400800" y="4718304"/>
            <a:ext cx="146304" cy="146304"/>
          </a:xfrm>
          <a:prstGeom prst="ellipse">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656832" y="4636008"/>
            <a:ext cx="4480560" cy="310896"/>
          </a:xfrm>
          <a:prstGeom prst="rect">
            <a:avLst/>
          </a:prstGeom>
          <a:noFill/>
        </p:spPr>
        <p:txBody>
          <a:bodyPr wrap="square" lIns="0" rIns="0" tIns="0" bIns="0" anchor="t">
            <a:spAutoFit/>
          </a:bodyPr>
          <a:lstStyle/>
          <a:p>
            <a:pPr algn="l">
              <a:lnSpc>
                <a:spcPct val="100000"/>
              </a:lnSpc>
              <a:spcBef>
                <a:spcPts val="0"/>
              </a:spcBef>
              <a:spcAft>
                <a:spcPts val="0"/>
              </a:spcAft>
            </a:pPr>
            <a:r>
              <a:rPr sz="1650" b="1" i="0">
                <a:solidFill>
                  <a:srgbClr val="FFFFFF"/>
                </a:solidFill>
                <a:latin typeface="Aptos"/>
              </a:rPr>
              <a:t>route 0→1→2→4→5→6, cost 10</a:t>
            </a:r>
          </a:p>
        </p:txBody>
      </p:sp>
      <p:sp>
        <p:nvSpPr>
          <p:cNvPr id="52" name="Rounded Rectangle 51"/>
          <p:cNvSpPr/>
          <p:nvPr/>
        </p:nvSpPr>
        <p:spPr>
          <a:xfrm>
            <a:off x="658368" y="5522976"/>
            <a:ext cx="10881360" cy="667512"/>
          </a:xfrm>
          <a:prstGeom prst="roundRect">
            <a:avLst/>
          </a:prstGeom>
          <a:solidFill>
            <a:srgbClr val="E4F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77824" y="5660136"/>
            <a:ext cx="10442448" cy="347472"/>
          </a:xfrm>
          <a:prstGeom prst="rect">
            <a:avLst/>
          </a:prstGeom>
          <a:noFill/>
        </p:spPr>
        <p:txBody>
          <a:bodyPr wrap="square" lIns="0" rIns="0" tIns="0" bIns="0" anchor="t">
            <a:spAutoFit/>
          </a:bodyPr>
          <a:lstStyle/>
          <a:p>
            <a:pPr algn="ctr">
              <a:lnSpc>
                <a:spcPct val="100000"/>
              </a:lnSpc>
              <a:spcBef>
                <a:spcPts val="0"/>
              </a:spcBef>
              <a:spcAft>
                <a:spcPts val="0"/>
              </a:spcAft>
            </a:pPr>
            <a:r>
              <a:rPr sz="1550" b="1" i="0">
                <a:solidFill>
                  <a:srgbClr val="277A55"/>
                </a:solidFill>
                <a:latin typeface="Aptos"/>
              </a:rPr>
              <a:t>Smoke checks: src/main.py · Penalty-X command · course-final command · read-only visualization replay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548640" y="292608"/>
            <a:ext cx="11064240" cy="530352"/>
          </a:xfrm>
          <a:prstGeom prst="rect">
            <a:avLst/>
          </a:prstGeom>
          <a:noFill/>
        </p:spPr>
        <p:txBody>
          <a:bodyPr wrap="square" lIns="0" rIns="0" tIns="0" bIns="0" anchor="t">
            <a:spAutoFit/>
          </a:bodyPr>
          <a:lstStyle/>
          <a:p>
            <a:pPr algn="l">
              <a:lnSpc>
                <a:spcPct val="100000"/>
              </a:lnSpc>
              <a:spcBef>
                <a:spcPts val="0"/>
              </a:spcBef>
              <a:spcAft>
                <a:spcPts val="0"/>
              </a:spcAft>
            </a:pPr>
            <a:r>
              <a:rPr sz="2900" b="1" i="0">
                <a:solidFill>
                  <a:srgbClr val="14213D"/>
                </a:solidFill>
                <a:latin typeface="Aptos"/>
              </a:rPr>
              <a:t>Takeaways and limitations</a:t>
            </a:r>
          </a:p>
        </p:txBody>
      </p:sp>
      <p:sp>
        <p:nvSpPr>
          <p:cNvPr id="3" name="Rectangle 2"/>
          <p:cNvSpPr/>
          <p:nvPr/>
        </p:nvSpPr>
        <p:spPr>
          <a:xfrm>
            <a:off x="548640" y="896112"/>
            <a:ext cx="658368" cy="41148"/>
          </a:xfrm>
          <a:prstGeom prst="rect">
            <a:avLst/>
          </a:prstGeom>
          <a:solidFill>
            <a:srgbClr val="2063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a:off x="502920" y="6528816"/>
            <a:ext cx="11183112" cy="0"/>
          </a:xfrm>
          <a:prstGeom prst="line">
            <a:avLst/>
          </a:prstGeom>
          <a:ln w="8890">
            <a:solidFill>
              <a:srgbClr val="E7ECF3"/>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30352" y="6574536"/>
            <a:ext cx="2194560" cy="164592"/>
          </a:xfrm>
          <a:prstGeom prst="rect">
            <a:avLst/>
          </a:prstGeom>
          <a:noFill/>
        </p:spPr>
        <p:txBody>
          <a:bodyPr wrap="square" lIns="0" rIns="0" tIns="0" bIns="0" anchor="t">
            <a:spAutoFit/>
          </a:bodyPr>
          <a:lstStyle/>
          <a:p>
            <a:pPr algn="l">
              <a:lnSpc>
                <a:spcPct val="100000"/>
              </a:lnSpc>
              <a:spcBef>
                <a:spcPts val="0"/>
              </a:spcBef>
              <a:spcAft>
                <a:spcPts val="0"/>
              </a:spcAft>
            </a:pPr>
            <a:r>
              <a:rPr sz="950" b="1" i="0">
                <a:solidFill>
                  <a:srgbClr val="617087"/>
                </a:solidFill>
                <a:latin typeface="Aptos"/>
              </a:rPr>
              <a:t>CONCLUSION</a:t>
            </a:r>
          </a:p>
        </p:txBody>
      </p:sp>
      <p:sp>
        <p:nvSpPr>
          <p:cNvPr id="6" name="TextBox 5"/>
          <p:cNvSpPr txBox="1"/>
          <p:nvPr/>
        </p:nvSpPr>
        <p:spPr>
          <a:xfrm>
            <a:off x="11173968" y="6556248"/>
            <a:ext cx="457200" cy="182880"/>
          </a:xfrm>
          <a:prstGeom prst="rect">
            <a:avLst/>
          </a:prstGeom>
          <a:noFill/>
        </p:spPr>
        <p:txBody>
          <a:bodyPr wrap="square" lIns="0" rIns="0" tIns="0" bIns="0" anchor="t">
            <a:spAutoFit/>
          </a:bodyPr>
          <a:lstStyle/>
          <a:p>
            <a:pPr algn="r">
              <a:lnSpc>
                <a:spcPct val="100000"/>
              </a:lnSpc>
              <a:spcBef>
                <a:spcPts val="0"/>
              </a:spcBef>
              <a:spcAft>
                <a:spcPts val="0"/>
              </a:spcAft>
            </a:pPr>
            <a:r>
              <a:rPr sz="1000" b="1" i="0">
                <a:solidFill>
                  <a:srgbClr val="617087"/>
                </a:solidFill>
                <a:latin typeface="Aptos"/>
              </a:rPr>
              <a:t>12</a:t>
            </a:r>
          </a:p>
        </p:txBody>
      </p:sp>
      <p:sp>
        <p:nvSpPr>
          <p:cNvPr id="7" name="TextBox 6"/>
          <p:cNvSpPr txBox="1"/>
          <p:nvPr/>
        </p:nvSpPr>
        <p:spPr>
          <a:xfrm>
            <a:off x="658368" y="1078992"/>
            <a:ext cx="6583680" cy="274320"/>
          </a:xfrm>
          <a:prstGeom prst="rect">
            <a:avLst/>
          </a:prstGeom>
          <a:noFill/>
        </p:spPr>
        <p:txBody>
          <a:bodyPr wrap="square" lIns="0" rIns="0" tIns="0" bIns="0" anchor="t">
            <a:spAutoFit/>
          </a:bodyPr>
          <a:lstStyle/>
          <a:p>
            <a:pPr algn="l">
              <a:lnSpc>
                <a:spcPct val="100000"/>
              </a:lnSpc>
              <a:spcBef>
                <a:spcPts val="0"/>
              </a:spcBef>
              <a:spcAft>
                <a:spcPts val="0"/>
              </a:spcAft>
            </a:pPr>
            <a:r>
              <a:rPr sz="1200" b="1" i="0">
                <a:solidFill>
                  <a:srgbClr val="20639B"/>
                </a:solidFill>
                <a:latin typeface="Aptos"/>
              </a:rPr>
              <a:t>FIVE TAKEAWAYS</a:t>
            </a:r>
          </a:p>
        </p:txBody>
      </p:sp>
      <p:sp>
        <p:nvSpPr>
          <p:cNvPr id="8" name="Oval 7"/>
          <p:cNvSpPr/>
          <p:nvPr/>
        </p:nvSpPr>
        <p:spPr>
          <a:xfrm>
            <a:off x="713232" y="1572768"/>
            <a:ext cx="365760" cy="365760"/>
          </a:xfrm>
          <a:prstGeom prst="ellipse">
            <a:avLst/>
          </a:prstGeom>
          <a:solidFill>
            <a:srgbClr val="2063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1618488"/>
            <a:ext cx="292608" cy="256032"/>
          </a:xfrm>
          <a:prstGeom prst="rect">
            <a:avLst/>
          </a:prstGeom>
          <a:noFill/>
        </p:spPr>
        <p:txBody>
          <a:bodyPr wrap="square" lIns="0" rIns="0" tIns="0" bIns="0" anchor="t">
            <a:spAutoFit/>
          </a:bodyPr>
          <a:lstStyle/>
          <a:p>
            <a:pPr algn="ctr">
              <a:lnSpc>
                <a:spcPct val="100000"/>
              </a:lnSpc>
              <a:spcBef>
                <a:spcPts val="0"/>
              </a:spcBef>
              <a:spcAft>
                <a:spcPts val="0"/>
              </a:spcAft>
            </a:pPr>
            <a:r>
              <a:rPr sz="1400" b="1" i="0">
                <a:solidFill>
                  <a:srgbClr val="FFFFFF"/>
                </a:solidFill>
                <a:latin typeface="Aptos"/>
              </a:rPr>
              <a:t>1</a:t>
            </a:r>
          </a:p>
        </p:txBody>
      </p:sp>
      <p:sp>
        <p:nvSpPr>
          <p:cNvPr id="10" name="TextBox 9"/>
          <p:cNvSpPr txBox="1"/>
          <p:nvPr/>
        </p:nvSpPr>
        <p:spPr>
          <a:xfrm>
            <a:off x="1188720" y="1536192"/>
            <a:ext cx="5806440" cy="530352"/>
          </a:xfrm>
          <a:prstGeom prst="rect">
            <a:avLst/>
          </a:prstGeom>
          <a:noFill/>
        </p:spPr>
        <p:txBody>
          <a:bodyPr wrap="square" lIns="0" rIns="0" tIns="0" bIns="0" anchor="t">
            <a:spAutoFit/>
          </a:bodyPr>
          <a:lstStyle/>
          <a:p>
            <a:pPr algn="l">
              <a:lnSpc>
                <a:spcPct val="100000"/>
              </a:lnSpc>
              <a:spcBef>
                <a:spcPts val="0"/>
              </a:spcBef>
              <a:spcAft>
                <a:spcPts val="0"/>
              </a:spcAft>
            </a:pPr>
            <a:r>
              <a:rPr sz="1700" b="1" i="0">
                <a:solidFill>
                  <a:srgbClr val="24324A"/>
                </a:solidFill>
                <a:latin typeface="Aptos"/>
              </a:rPr>
              <a:t>Complete pipeline: graph → QUBO → Ising → QAOA → decoded routes.</a:t>
            </a:r>
          </a:p>
        </p:txBody>
      </p:sp>
      <p:sp>
        <p:nvSpPr>
          <p:cNvPr id="11" name="Oval 10"/>
          <p:cNvSpPr/>
          <p:nvPr/>
        </p:nvSpPr>
        <p:spPr>
          <a:xfrm>
            <a:off x="713232" y="2286000"/>
            <a:ext cx="365760" cy="365760"/>
          </a:xfrm>
          <a:prstGeom prst="ellipse">
            <a:avLst/>
          </a:prstGeom>
          <a:solidFill>
            <a:srgbClr val="2063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2331720"/>
            <a:ext cx="292608" cy="256032"/>
          </a:xfrm>
          <a:prstGeom prst="rect">
            <a:avLst/>
          </a:prstGeom>
          <a:noFill/>
        </p:spPr>
        <p:txBody>
          <a:bodyPr wrap="square" lIns="0" rIns="0" tIns="0" bIns="0" anchor="t">
            <a:spAutoFit/>
          </a:bodyPr>
          <a:lstStyle/>
          <a:p>
            <a:pPr algn="ctr">
              <a:lnSpc>
                <a:spcPct val="100000"/>
              </a:lnSpc>
              <a:spcBef>
                <a:spcPts val="0"/>
              </a:spcBef>
              <a:spcAft>
                <a:spcPts val="0"/>
              </a:spcAft>
            </a:pPr>
            <a:r>
              <a:rPr sz="1400" b="1" i="0">
                <a:solidFill>
                  <a:srgbClr val="FFFFFF"/>
                </a:solidFill>
                <a:latin typeface="Aptos"/>
              </a:rPr>
              <a:t>2</a:t>
            </a:r>
          </a:p>
        </p:txBody>
      </p:sp>
      <p:sp>
        <p:nvSpPr>
          <p:cNvPr id="13" name="TextBox 12"/>
          <p:cNvSpPr txBox="1"/>
          <p:nvPr/>
        </p:nvSpPr>
        <p:spPr>
          <a:xfrm>
            <a:off x="1188720" y="2249424"/>
            <a:ext cx="5806440" cy="530352"/>
          </a:xfrm>
          <a:prstGeom prst="rect">
            <a:avLst/>
          </a:prstGeom>
          <a:noFill/>
        </p:spPr>
        <p:txBody>
          <a:bodyPr wrap="square" lIns="0" rIns="0" tIns="0" bIns="0" anchor="t">
            <a:spAutoFit/>
          </a:bodyPr>
          <a:lstStyle/>
          <a:p>
            <a:pPr algn="l">
              <a:lnSpc>
                <a:spcPct val="100000"/>
              </a:lnSpc>
              <a:spcBef>
                <a:spcPts val="0"/>
              </a:spcBef>
              <a:spcAft>
                <a:spcPts val="0"/>
              </a:spcAft>
            </a:pPr>
            <a:r>
              <a:rPr sz="1700" b="0" i="0">
                <a:solidFill>
                  <a:srgbClr val="24324A"/>
                </a:solidFill>
                <a:latin typeface="Aptos"/>
              </a:rPr>
              <a:t>Penalty-X and Global-Grover create different probability distributions.</a:t>
            </a:r>
          </a:p>
        </p:txBody>
      </p:sp>
      <p:sp>
        <p:nvSpPr>
          <p:cNvPr id="14" name="Oval 13"/>
          <p:cNvSpPr/>
          <p:nvPr/>
        </p:nvSpPr>
        <p:spPr>
          <a:xfrm>
            <a:off x="713232" y="2999232"/>
            <a:ext cx="365760" cy="365760"/>
          </a:xfrm>
          <a:prstGeom prst="ellipse">
            <a:avLst/>
          </a:prstGeom>
          <a:solidFill>
            <a:srgbClr val="2063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9808" y="3044952"/>
            <a:ext cx="292608" cy="256032"/>
          </a:xfrm>
          <a:prstGeom prst="rect">
            <a:avLst/>
          </a:prstGeom>
          <a:noFill/>
        </p:spPr>
        <p:txBody>
          <a:bodyPr wrap="square" lIns="0" rIns="0" tIns="0" bIns="0" anchor="t">
            <a:spAutoFit/>
          </a:bodyPr>
          <a:lstStyle/>
          <a:p>
            <a:pPr algn="ctr">
              <a:lnSpc>
                <a:spcPct val="100000"/>
              </a:lnSpc>
              <a:spcBef>
                <a:spcPts val="0"/>
              </a:spcBef>
              <a:spcAft>
                <a:spcPts val="0"/>
              </a:spcAft>
            </a:pPr>
            <a:r>
              <a:rPr sz="1400" b="1" i="0">
                <a:solidFill>
                  <a:srgbClr val="FFFFFF"/>
                </a:solidFill>
                <a:latin typeface="Aptos"/>
              </a:rPr>
              <a:t>3</a:t>
            </a:r>
          </a:p>
        </p:txBody>
      </p:sp>
      <p:sp>
        <p:nvSpPr>
          <p:cNvPr id="16" name="TextBox 15"/>
          <p:cNvSpPr txBox="1"/>
          <p:nvPr/>
        </p:nvSpPr>
        <p:spPr>
          <a:xfrm>
            <a:off x="1188720" y="2962656"/>
            <a:ext cx="5806440" cy="530352"/>
          </a:xfrm>
          <a:prstGeom prst="rect">
            <a:avLst/>
          </a:prstGeom>
          <a:noFill/>
        </p:spPr>
        <p:txBody>
          <a:bodyPr wrap="square" lIns="0" rIns="0" tIns="0" bIns="0" anchor="t">
            <a:spAutoFit/>
          </a:bodyPr>
          <a:lstStyle/>
          <a:p>
            <a:pPr algn="l">
              <a:lnSpc>
                <a:spcPct val="100000"/>
              </a:lnSpc>
              <a:spcBef>
                <a:spcPts val="0"/>
              </a:spcBef>
              <a:spcAft>
                <a:spcPts val="0"/>
              </a:spcAft>
            </a:pPr>
            <a:r>
              <a:rPr sz="1700" b="0" i="0">
                <a:solidFill>
                  <a:srgbClr val="24324A"/>
                </a:solidFill>
                <a:latin typeface="Aptos"/>
              </a:rPr>
              <a:t>Penalty-X puts substantially more mass on feasible routes.</a:t>
            </a:r>
          </a:p>
        </p:txBody>
      </p:sp>
      <p:sp>
        <p:nvSpPr>
          <p:cNvPr id="17" name="Oval 16"/>
          <p:cNvSpPr/>
          <p:nvPr/>
        </p:nvSpPr>
        <p:spPr>
          <a:xfrm>
            <a:off x="713232" y="3712463"/>
            <a:ext cx="365760" cy="365760"/>
          </a:xfrm>
          <a:prstGeom prst="ellipse">
            <a:avLst/>
          </a:prstGeom>
          <a:solidFill>
            <a:srgbClr val="D14D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3758183"/>
            <a:ext cx="292608" cy="256032"/>
          </a:xfrm>
          <a:prstGeom prst="rect">
            <a:avLst/>
          </a:prstGeom>
          <a:noFill/>
        </p:spPr>
        <p:txBody>
          <a:bodyPr wrap="square" lIns="0" rIns="0" tIns="0" bIns="0" anchor="t">
            <a:spAutoFit/>
          </a:bodyPr>
          <a:lstStyle/>
          <a:p>
            <a:pPr algn="ctr">
              <a:lnSpc>
                <a:spcPct val="100000"/>
              </a:lnSpc>
              <a:spcBef>
                <a:spcPts val="0"/>
              </a:spcBef>
              <a:spcAft>
                <a:spcPts val="0"/>
              </a:spcAft>
            </a:pPr>
            <a:r>
              <a:rPr sz="1400" b="1" i="0">
                <a:solidFill>
                  <a:srgbClr val="FFFFFF"/>
                </a:solidFill>
                <a:latin typeface="Aptos"/>
              </a:rPr>
              <a:t>4</a:t>
            </a:r>
          </a:p>
        </p:txBody>
      </p:sp>
      <p:sp>
        <p:nvSpPr>
          <p:cNvPr id="19" name="TextBox 18"/>
          <p:cNvSpPr txBox="1"/>
          <p:nvPr/>
        </p:nvSpPr>
        <p:spPr>
          <a:xfrm>
            <a:off x="1188720" y="3675887"/>
            <a:ext cx="5806440" cy="530352"/>
          </a:xfrm>
          <a:prstGeom prst="rect">
            <a:avLst/>
          </a:prstGeom>
          <a:noFill/>
        </p:spPr>
        <p:txBody>
          <a:bodyPr wrap="square" lIns="0" rIns="0" tIns="0" bIns="0" anchor="t">
            <a:spAutoFit/>
          </a:bodyPr>
          <a:lstStyle/>
          <a:p>
            <a:pPr algn="l">
              <a:lnSpc>
                <a:spcPct val="100000"/>
              </a:lnSpc>
              <a:spcBef>
                <a:spcPts val="0"/>
              </a:spcBef>
              <a:spcAft>
                <a:spcPts val="0"/>
              </a:spcAft>
            </a:pPr>
            <a:r>
              <a:rPr sz="1700" b="0" i="0">
                <a:solidFill>
                  <a:srgbClr val="24324A"/>
                </a:solidFill>
                <a:latin typeface="Aptos"/>
              </a:rPr>
              <a:t>Global-Grover has stronger conditional optimum concentration at 89/110 depths.</a:t>
            </a:r>
          </a:p>
        </p:txBody>
      </p:sp>
      <p:sp>
        <p:nvSpPr>
          <p:cNvPr id="20" name="Oval 19"/>
          <p:cNvSpPr/>
          <p:nvPr/>
        </p:nvSpPr>
        <p:spPr>
          <a:xfrm>
            <a:off x="713232" y="4425696"/>
            <a:ext cx="365760" cy="365760"/>
          </a:xfrm>
          <a:prstGeom prst="ellipse">
            <a:avLst/>
          </a:prstGeom>
          <a:solidFill>
            <a:srgbClr val="D14D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9808" y="4471416"/>
            <a:ext cx="292608" cy="256032"/>
          </a:xfrm>
          <a:prstGeom prst="rect">
            <a:avLst/>
          </a:prstGeom>
          <a:noFill/>
        </p:spPr>
        <p:txBody>
          <a:bodyPr wrap="square" lIns="0" rIns="0" tIns="0" bIns="0" anchor="t">
            <a:spAutoFit/>
          </a:bodyPr>
          <a:lstStyle/>
          <a:p>
            <a:pPr algn="ctr">
              <a:lnSpc>
                <a:spcPct val="100000"/>
              </a:lnSpc>
              <a:spcBef>
                <a:spcPts val="0"/>
              </a:spcBef>
              <a:spcAft>
                <a:spcPts val="0"/>
              </a:spcAft>
            </a:pPr>
            <a:r>
              <a:rPr sz="1400" b="1" i="0">
                <a:solidFill>
                  <a:srgbClr val="FFFFFF"/>
                </a:solidFill>
                <a:latin typeface="Aptos"/>
              </a:rPr>
              <a:t>5</a:t>
            </a:r>
          </a:p>
        </p:txBody>
      </p:sp>
      <p:sp>
        <p:nvSpPr>
          <p:cNvPr id="22" name="TextBox 21"/>
          <p:cNvSpPr txBox="1"/>
          <p:nvPr/>
        </p:nvSpPr>
        <p:spPr>
          <a:xfrm>
            <a:off x="1188720" y="4389120"/>
            <a:ext cx="5806440" cy="530352"/>
          </a:xfrm>
          <a:prstGeom prst="rect">
            <a:avLst/>
          </a:prstGeom>
          <a:noFill/>
        </p:spPr>
        <p:txBody>
          <a:bodyPr wrap="square" lIns="0" rIns="0" tIns="0" bIns="0" anchor="t">
            <a:spAutoFit/>
          </a:bodyPr>
          <a:lstStyle/>
          <a:p>
            <a:pPr algn="l">
              <a:lnSpc>
                <a:spcPct val="100000"/>
              </a:lnSpc>
              <a:spcBef>
                <a:spcPts val="0"/>
              </a:spcBef>
              <a:spcAft>
                <a:spcPts val="0"/>
              </a:spcAft>
            </a:pPr>
            <a:r>
              <a:rPr sz="1700" b="1" i="0">
                <a:solidFill>
                  <a:srgbClr val="24324A"/>
                </a:solidFill>
                <a:latin typeface="Aptos"/>
              </a:rPr>
              <a:t>Conditional concentration alone does not determine total success.</a:t>
            </a:r>
          </a:p>
        </p:txBody>
      </p:sp>
      <p:sp>
        <p:nvSpPr>
          <p:cNvPr id="23" name="Rounded Rectangle 22"/>
          <p:cNvSpPr/>
          <p:nvPr/>
        </p:nvSpPr>
        <p:spPr>
          <a:xfrm>
            <a:off x="7424927" y="1078992"/>
            <a:ext cx="4114800" cy="4023360"/>
          </a:xfrm>
          <a:prstGeom prst="roundRect">
            <a:avLst/>
          </a:prstGeom>
          <a:solidFill>
            <a:srgbClr val="FFFFFF"/>
          </a:solidFill>
          <a:ln w="10160">
            <a:solidFill>
              <a:srgbClr val="E7E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99248" y="1344168"/>
            <a:ext cx="3584448" cy="274320"/>
          </a:xfrm>
          <a:prstGeom prst="rect">
            <a:avLst/>
          </a:prstGeom>
          <a:noFill/>
        </p:spPr>
        <p:txBody>
          <a:bodyPr wrap="square" lIns="0" rIns="0" tIns="0" bIns="0" anchor="t">
            <a:spAutoFit/>
          </a:bodyPr>
          <a:lstStyle/>
          <a:p>
            <a:pPr algn="l">
              <a:lnSpc>
                <a:spcPct val="100000"/>
              </a:lnSpc>
              <a:spcBef>
                <a:spcPts val="0"/>
              </a:spcBef>
              <a:spcAft>
                <a:spcPts val="0"/>
              </a:spcAft>
            </a:pPr>
            <a:r>
              <a:rPr sz="1200" b="1" i="0">
                <a:solidFill>
                  <a:srgbClr val="D14D5A"/>
                </a:solidFill>
                <a:latin typeface="Aptos"/>
              </a:rPr>
              <a:t>LIMITATIONS</a:t>
            </a:r>
          </a:p>
        </p:txBody>
      </p:sp>
      <p:sp>
        <p:nvSpPr>
          <p:cNvPr id="25" name="Oval 24"/>
          <p:cNvSpPr/>
          <p:nvPr/>
        </p:nvSpPr>
        <p:spPr>
          <a:xfrm>
            <a:off x="7708392" y="1883664"/>
            <a:ext cx="109728" cy="109728"/>
          </a:xfrm>
          <a:prstGeom prst="ellipse">
            <a:avLst/>
          </a:prstGeom>
          <a:solidFill>
            <a:srgbClr val="D14D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00416" y="1773936"/>
            <a:ext cx="3346704" cy="347472"/>
          </a:xfrm>
          <a:prstGeom prst="rect">
            <a:avLst/>
          </a:prstGeom>
          <a:noFill/>
        </p:spPr>
        <p:txBody>
          <a:bodyPr wrap="square" lIns="0" rIns="0" tIns="0" bIns="0" anchor="t">
            <a:spAutoFit/>
          </a:bodyPr>
          <a:lstStyle/>
          <a:p>
            <a:pPr algn="l">
              <a:lnSpc>
                <a:spcPct val="100000"/>
              </a:lnSpc>
              <a:spcBef>
                <a:spcPts val="0"/>
              </a:spcBef>
              <a:spcAft>
                <a:spcPts val="0"/>
              </a:spcAft>
            </a:pPr>
            <a:r>
              <a:rPr sz="1550" b="0" i="0">
                <a:solidFill>
                  <a:srgbClr val="24324A"/>
                </a:solidFill>
                <a:latin typeface="Aptos"/>
              </a:rPr>
              <a:t>one fixed 7-node instance</a:t>
            </a:r>
          </a:p>
        </p:txBody>
      </p:sp>
      <p:sp>
        <p:nvSpPr>
          <p:cNvPr id="27" name="Oval 26"/>
          <p:cNvSpPr/>
          <p:nvPr/>
        </p:nvSpPr>
        <p:spPr>
          <a:xfrm>
            <a:off x="7708392" y="2313432"/>
            <a:ext cx="109728" cy="109728"/>
          </a:xfrm>
          <a:prstGeom prst="ellipse">
            <a:avLst/>
          </a:prstGeom>
          <a:solidFill>
            <a:srgbClr val="D14D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0416" y="2203704"/>
            <a:ext cx="3346704" cy="347472"/>
          </a:xfrm>
          <a:prstGeom prst="rect">
            <a:avLst/>
          </a:prstGeom>
          <a:noFill/>
        </p:spPr>
        <p:txBody>
          <a:bodyPr wrap="square" lIns="0" rIns="0" tIns="0" bIns="0" anchor="t">
            <a:spAutoFit/>
          </a:bodyPr>
          <a:lstStyle/>
          <a:p>
            <a:pPr algn="l">
              <a:lnSpc>
                <a:spcPct val="100000"/>
              </a:lnSpc>
              <a:spcBef>
                <a:spcPts val="0"/>
              </a:spcBef>
              <a:spcAft>
                <a:spcPts val="0"/>
              </a:spcAft>
            </a:pPr>
            <a:r>
              <a:rPr sz="1550" b="0" i="0">
                <a:solidFill>
                  <a:srgbClr val="24324A"/>
                </a:solidFill>
                <a:latin typeface="Aptos"/>
              </a:rPr>
              <a:t>ideal simulator; no QPU evidence</a:t>
            </a:r>
          </a:p>
        </p:txBody>
      </p:sp>
      <p:sp>
        <p:nvSpPr>
          <p:cNvPr id="29" name="Oval 28"/>
          <p:cNvSpPr/>
          <p:nvPr/>
        </p:nvSpPr>
        <p:spPr>
          <a:xfrm>
            <a:off x="7708392" y="2743200"/>
            <a:ext cx="109728" cy="109728"/>
          </a:xfrm>
          <a:prstGeom prst="ellipse">
            <a:avLst/>
          </a:prstGeom>
          <a:solidFill>
            <a:srgbClr val="D14D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00416" y="2633472"/>
            <a:ext cx="3346704" cy="347472"/>
          </a:xfrm>
          <a:prstGeom prst="rect">
            <a:avLst/>
          </a:prstGeom>
          <a:noFill/>
        </p:spPr>
        <p:txBody>
          <a:bodyPr wrap="square" lIns="0" rIns="0" tIns="0" bIns="0" anchor="t">
            <a:spAutoFit/>
          </a:bodyPr>
          <a:lstStyle/>
          <a:p>
            <a:pPr algn="l">
              <a:lnSpc>
                <a:spcPct val="100000"/>
              </a:lnSpc>
              <a:spcBef>
                <a:spcPts val="0"/>
              </a:spcBef>
              <a:spcAft>
                <a:spcPts val="0"/>
              </a:spcAft>
            </a:pPr>
            <a:r>
              <a:rPr sz="1550" b="0" i="0">
                <a:solidFill>
                  <a:srgbClr val="24324A"/>
                </a:solidFill>
                <a:latin typeface="Aptos"/>
              </a:rPr>
              <a:t>finite, exhausted optimizer budgets</a:t>
            </a:r>
          </a:p>
        </p:txBody>
      </p:sp>
      <p:sp>
        <p:nvSpPr>
          <p:cNvPr id="31" name="Oval 30"/>
          <p:cNvSpPr/>
          <p:nvPr/>
        </p:nvSpPr>
        <p:spPr>
          <a:xfrm>
            <a:off x="7708392" y="3172968"/>
            <a:ext cx="109728" cy="109728"/>
          </a:xfrm>
          <a:prstGeom prst="ellipse">
            <a:avLst/>
          </a:prstGeom>
          <a:solidFill>
            <a:srgbClr val="D14D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00416" y="3063239"/>
            <a:ext cx="3346704" cy="347472"/>
          </a:xfrm>
          <a:prstGeom prst="rect">
            <a:avLst/>
          </a:prstGeom>
          <a:noFill/>
        </p:spPr>
        <p:txBody>
          <a:bodyPr wrap="square" lIns="0" rIns="0" tIns="0" bIns="0" anchor="t">
            <a:spAutoFit/>
          </a:bodyPr>
          <a:lstStyle/>
          <a:p>
            <a:pPr algn="l">
              <a:lnSpc>
                <a:spcPct val="100000"/>
              </a:lnSpc>
              <a:spcBef>
                <a:spcPts val="0"/>
              </a:spcBef>
              <a:spcAft>
                <a:spcPts val="0"/>
              </a:spcAft>
            </a:pPr>
            <a:r>
              <a:rPr sz="1550" b="0" i="0">
                <a:solidFill>
                  <a:srgbClr val="24324A"/>
                </a:solidFill>
                <a:latin typeface="Aptos"/>
              </a:rPr>
              <a:t>high-depth optimization is difficult</a:t>
            </a:r>
          </a:p>
        </p:txBody>
      </p:sp>
      <p:sp>
        <p:nvSpPr>
          <p:cNvPr id="33" name="Oval 32"/>
          <p:cNvSpPr/>
          <p:nvPr/>
        </p:nvSpPr>
        <p:spPr>
          <a:xfrm>
            <a:off x="7708392" y="3602736"/>
            <a:ext cx="109728" cy="109728"/>
          </a:xfrm>
          <a:prstGeom prst="ellipse">
            <a:avLst/>
          </a:prstGeom>
          <a:solidFill>
            <a:srgbClr val="D14D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900416" y="3493008"/>
            <a:ext cx="3346704" cy="347472"/>
          </a:xfrm>
          <a:prstGeom prst="rect">
            <a:avLst/>
          </a:prstGeom>
          <a:noFill/>
        </p:spPr>
        <p:txBody>
          <a:bodyPr wrap="square" lIns="0" rIns="0" tIns="0" bIns="0" anchor="t">
            <a:spAutoFit/>
          </a:bodyPr>
          <a:lstStyle/>
          <a:p>
            <a:pPr algn="l">
              <a:lnSpc>
                <a:spcPct val="100000"/>
              </a:lnSpc>
              <a:spcBef>
                <a:spcPts val="0"/>
              </a:spcBef>
              <a:spcAft>
                <a:spcPts val="0"/>
              </a:spcAft>
            </a:pPr>
            <a:r>
              <a:rPr sz="1550" b="0" i="0">
                <a:solidFill>
                  <a:srgbClr val="24324A"/>
                </a:solidFill>
                <a:latin typeface="Aptos"/>
              </a:rPr>
              <a:t>experiment-specific Global-Grover</a:t>
            </a:r>
          </a:p>
        </p:txBody>
      </p:sp>
      <p:sp>
        <p:nvSpPr>
          <p:cNvPr id="35" name="Oval 34"/>
          <p:cNvSpPr/>
          <p:nvPr/>
        </p:nvSpPr>
        <p:spPr>
          <a:xfrm>
            <a:off x="7708392" y="4032503"/>
            <a:ext cx="109728" cy="109728"/>
          </a:xfrm>
          <a:prstGeom prst="ellipse">
            <a:avLst/>
          </a:prstGeom>
          <a:solidFill>
            <a:srgbClr val="D14D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900416" y="3922775"/>
            <a:ext cx="3346704" cy="347472"/>
          </a:xfrm>
          <a:prstGeom prst="rect">
            <a:avLst/>
          </a:prstGeom>
          <a:noFill/>
        </p:spPr>
        <p:txBody>
          <a:bodyPr wrap="square" lIns="0" rIns="0" tIns="0" bIns="0" anchor="t">
            <a:spAutoFit/>
          </a:bodyPr>
          <a:lstStyle/>
          <a:p>
            <a:pPr algn="l">
              <a:lnSpc>
                <a:spcPct val="100000"/>
              </a:lnSpc>
              <a:spcBef>
                <a:spcPts val="0"/>
              </a:spcBef>
              <a:spcAft>
                <a:spcPts val="0"/>
              </a:spcAft>
            </a:pPr>
            <a:r>
              <a:rPr sz="1550" b="0" i="0">
                <a:solidFill>
                  <a:srgbClr val="24324A"/>
                </a:solidFill>
                <a:latin typeface="Aptos"/>
              </a:rPr>
              <a:t>CVaR limited to tested protocol</a:t>
            </a:r>
          </a:p>
        </p:txBody>
      </p:sp>
      <p:sp>
        <p:nvSpPr>
          <p:cNvPr id="37" name="Oval 36"/>
          <p:cNvSpPr/>
          <p:nvPr/>
        </p:nvSpPr>
        <p:spPr>
          <a:xfrm>
            <a:off x="7708392" y="4462272"/>
            <a:ext cx="109728" cy="109728"/>
          </a:xfrm>
          <a:prstGeom prst="ellipse">
            <a:avLst/>
          </a:prstGeom>
          <a:solidFill>
            <a:srgbClr val="D14D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900416" y="4352544"/>
            <a:ext cx="3346704" cy="347472"/>
          </a:xfrm>
          <a:prstGeom prst="rect">
            <a:avLst/>
          </a:prstGeom>
          <a:noFill/>
        </p:spPr>
        <p:txBody>
          <a:bodyPr wrap="square" lIns="0" rIns="0" tIns="0" bIns="0" anchor="t">
            <a:spAutoFit/>
          </a:bodyPr>
          <a:lstStyle/>
          <a:p>
            <a:pPr algn="l">
              <a:lnSpc>
                <a:spcPct val="100000"/>
              </a:lnSpc>
              <a:spcBef>
                <a:spcPts val="0"/>
              </a:spcBef>
              <a:spcAft>
                <a:spcPts val="0"/>
              </a:spcAft>
            </a:pPr>
            <a:r>
              <a:rPr sz="1550" b="0" i="0">
                <a:solidFill>
                  <a:srgbClr val="24324A"/>
                </a:solidFill>
                <a:latin typeface="Aptos"/>
              </a:rPr>
              <a:t>no quantum-advantage claim</a:t>
            </a:r>
          </a:p>
        </p:txBody>
      </p:sp>
      <p:sp>
        <p:nvSpPr>
          <p:cNvPr id="39" name="Rounded Rectangle 38"/>
          <p:cNvSpPr/>
          <p:nvPr/>
        </p:nvSpPr>
        <p:spPr>
          <a:xfrm>
            <a:off x="658368" y="5321808"/>
            <a:ext cx="10881360" cy="786384"/>
          </a:xfrm>
          <a:prstGeom prst="round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0" name="Picture 39" descr="eq_identity_final.png"/>
          <p:cNvPicPr>
            <a:picLocks noChangeAspect="1"/>
          </p:cNvPicPr>
          <p:nvPr/>
        </p:nvPicPr>
        <p:blipFill>
          <a:blip r:embed="rId2"/>
          <a:stretch>
            <a:fillRect/>
          </a:stretch>
        </p:blipFill>
        <p:spPr>
          <a:xfrm>
            <a:off x="896112" y="5513832"/>
            <a:ext cx="3694176" cy="429768"/>
          </a:xfrm>
          <a:prstGeom prst="rect">
            <a:avLst/>
          </a:prstGeom>
        </p:spPr>
      </p:pic>
      <p:sp>
        <p:nvSpPr>
          <p:cNvPr id="41" name="TextBox 40"/>
          <p:cNvSpPr txBox="1"/>
          <p:nvPr/>
        </p:nvSpPr>
        <p:spPr>
          <a:xfrm>
            <a:off x="4727448" y="5413248"/>
            <a:ext cx="6547104" cy="621792"/>
          </a:xfrm>
          <a:prstGeom prst="rect">
            <a:avLst/>
          </a:prstGeom>
          <a:noFill/>
        </p:spPr>
        <p:txBody>
          <a:bodyPr wrap="square" lIns="0" rIns="0" tIns="0" bIns="0" anchor="t">
            <a:spAutoFit/>
          </a:bodyPr>
          <a:lstStyle/>
          <a:p>
            <a:pPr algn="ctr">
              <a:lnSpc>
                <a:spcPct val="100000"/>
              </a:lnSpc>
              <a:spcBef>
                <a:spcPts val="0"/>
              </a:spcBef>
              <a:spcAft>
                <a:spcPts val="0"/>
              </a:spcAft>
            </a:pPr>
            <a:r>
              <a:rPr sz="1450" b="1" i="0">
                <a:solidFill>
                  <a:srgbClr val="FFFFFF"/>
                </a:solidFill>
                <a:latin typeface="Aptos"/>
              </a:rPr>
              <a:t>Feasibility, optimal concentration, and optimization difficulty are separate effects — a mixer can improve one without improving the others.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548640" y="292608"/>
            <a:ext cx="11064240" cy="530352"/>
          </a:xfrm>
          <a:prstGeom prst="rect">
            <a:avLst/>
          </a:prstGeom>
          <a:noFill/>
        </p:spPr>
        <p:txBody>
          <a:bodyPr wrap="square" lIns="0" rIns="0" tIns="0" bIns="0" anchor="t">
            <a:spAutoFit/>
          </a:bodyPr>
          <a:lstStyle/>
          <a:p>
            <a:pPr algn="l">
              <a:lnSpc>
                <a:spcPct val="100000"/>
              </a:lnSpc>
              <a:spcBef>
                <a:spcPts val="0"/>
              </a:spcBef>
              <a:spcAft>
                <a:spcPts val="0"/>
              </a:spcAft>
            </a:pPr>
            <a:r>
              <a:rPr sz="2900" b="1" i="0">
                <a:solidFill>
                  <a:srgbClr val="14213D"/>
                </a:solidFill>
                <a:latin typeface="Aptos"/>
              </a:rPr>
              <a:t>Backup A — Why subtract bᵥ?</a:t>
            </a:r>
          </a:p>
        </p:txBody>
      </p:sp>
      <p:sp>
        <p:nvSpPr>
          <p:cNvPr id="3" name="Rectangle 2"/>
          <p:cNvSpPr/>
          <p:nvPr/>
        </p:nvSpPr>
        <p:spPr>
          <a:xfrm>
            <a:off x="548640" y="896112"/>
            <a:ext cx="658368" cy="41148"/>
          </a:xfrm>
          <a:prstGeom prst="rect">
            <a:avLst/>
          </a:prstGeom>
          <a:solidFill>
            <a:srgbClr val="2063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a:off x="502920" y="6528816"/>
            <a:ext cx="11183112" cy="0"/>
          </a:xfrm>
          <a:prstGeom prst="line">
            <a:avLst/>
          </a:prstGeom>
          <a:ln w="8890">
            <a:solidFill>
              <a:srgbClr val="E7ECF3"/>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30352" y="6574536"/>
            <a:ext cx="2194560" cy="164592"/>
          </a:xfrm>
          <a:prstGeom prst="rect">
            <a:avLst/>
          </a:prstGeom>
          <a:noFill/>
        </p:spPr>
        <p:txBody>
          <a:bodyPr wrap="square" lIns="0" rIns="0" tIns="0" bIns="0" anchor="t">
            <a:spAutoFit/>
          </a:bodyPr>
          <a:lstStyle/>
          <a:p>
            <a:pPr algn="l">
              <a:lnSpc>
                <a:spcPct val="100000"/>
              </a:lnSpc>
              <a:spcBef>
                <a:spcPts val="0"/>
              </a:spcBef>
              <a:spcAft>
                <a:spcPts val="0"/>
              </a:spcAft>
            </a:pPr>
            <a:r>
              <a:rPr sz="950" b="1" i="0">
                <a:solidFill>
                  <a:srgbClr val="617087"/>
                </a:solidFill>
                <a:latin typeface="Aptos"/>
              </a:rPr>
              <a:t>BACKUP</a:t>
            </a:r>
          </a:p>
        </p:txBody>
      </p:sp>
      <p:sp>
        <p:nvSpPr>
          <p:cNvPr id="6" name="TextBox 5"/>
          <p:cNvSpPr txBox="1"/>
          <p:nvPr/>
        </p:nvSpPr>
        <p:spPr>
          <a:xfrm>
            <a:off x="11173968" y="6556248"/>
            <a:ext cx="457200" cy="182880"/>
          </a:xfrm>
          <a:prstGeom prst="rect">
            <a:avLst/>
          </a:prstGeom>
          <a:noFill/>
        </p:spPr>
        <p:txBody>
          <a:bodyPr wrap="square" lIns="0" rIns="0" tIns="0" bIns="0" anchor="t">
            <a:spAutoFit/>
          </a:bodyPr>
          <a:lstStyle/>
          <a:p>
            <a:pPr algn="r">
              <a:lnSpc>
                <a:spcPct val="100000"/>
              </a:lnSpc>
              <a:spcBef>
                <a:spcPts val="0"/>
              </a:spcBef>
              <a:spcAft>
                <a:spcPts val="0"/>
              </a:spcAft>
            </a:pPr>
            <a:r>
              <a:rPr sz="1000" b="1" i="0">
                <a:solidFill>
                  <a:srgbClr val="617087"/>
                </a:solidFill>
                <a:latin typeface="Aptos"/>
              </a:rPr>
              <a:t>13</a:t>
            </a:r>
          </a:p>
        </p:txBody>
      </p:sp>
      <p:pic>
        <p:nvPicPr>
          <p:cNvPr id="7" name="Picture 6" descr="eq_backup_flow.png"/>
          <p:cNvPicPr>
            <a:picLocks noChangeAspect="1"/>
          </p:cNvPicPr>
          <p:nvPr/>
        </p:nvPicPr>
        <p:blipFill>
          <a:blip r:embed="rId2"/>
          <a:stretch>
            <a:fillRect/>
          </a:stretch>
        </p:blipFill>
        <p:spPr>
          <a:xfrm>
            <a:off x="1005840" y="1170432"/>
            <a:ext cx="10195560" cy="658368"/>
          </a:xfrm>
          <a:prstGeom prst="rect">
            <a:avLst/>
          </a:prstGeom>
        </p:spPr>
      </p:pic>
      <p:sp>
        <p:nvSpPr>
          <p:cNvPr id="8" name="Rounded Rectangle 7"/>
          <p:cNvSpPr/>
          <p:nvPr/>
        </p:nvSpPr>
        <p:spPr>
          <a:xfrm>
            <a:off x="749808" y="2057400"/>
            <a:ext cx="2788920" cy="1408176"/>
          </a:xfrm>
          <a:prstGeom prst="roundRect">
            <a:avLst/>
          </a:prstGeom>
          <a:solidFill>
            <a:srgbClr val="FFFFFF"/>
          </a:solidFill>
          <a:ln w="16510">
            <a:solidFill>
              <a:srgbClr val="2063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267712"/>
            <a:ext cx="2459736" cy="228600"/>
          </a:xfrm>
          <a:prstGeom prst="rect">
            <a:avLst/>
          </a:prstGeom>
          <a:noFill/>
        </p:spPr>
        <p:txBody>
          <a:bodyPr wrap="square" lIns="0" rIns="0" tIns="0" bIns="0" anchor="t">
            <a:spAutoFit/>
          </a:bodyPr>
          <a:lstStyle/>
          <a:p>
            <a:pPr algn="ctr">
              <a:lnSpc>
                <a:spcPct val="100000"/>
              </a:lnSpc>
              <a:spcBef>
                <a:spcPts val="0"/>
              </a:spcBef>
              <a:spcAft>
                <a:spcPts val="0"/>
              </a:spcAft>
            </a:pPr>
            <a:r>
              <a:rPr sz="1200" b="1" i="0">
                <a:solidFill>
                  <a:srgbClr val="20639B"/>
                </a:solidFill>
                <a:latin typeface="Aptos"/>
              </a:rPr>
              <a:t>SOURCE</a:t>
            </a:r>
          </a:p>
        </p:txBody>
      </p:sp>
      <p:sp>
        <p:nvSpPr>
          <p:cNvPr id="10" name="TextBox 9"/>
          <p:cNvSpPr txBox="1"/>
          <p:nvPr/>
        </p:nvSpPr>
        <p:spPr>
          <a:xfrm>
            <a:off x="914400" y="2633472"/>
            <a:ext cx="2459736" cy="274320"/>
          </a:xfrm>
          <a:prstGeom prst="rect">
            <a:avLst/>
          </a:prstGeom>
          <a:noFill/>
        </p:spPr>
        <p:txBody>
          <a:bodyPr wrap="square" lIns="0" rIns="0" tIns="0" bIns="0" anchor="t">
            <a:spAutoFit/>
          </a:bodyPr>
          <a:lstStyle/>
          <a:p>
            <a:pPr algn="ctr">
              <a:lnSpc>
                <a:spcPct val="100000"/>
              </a:lnSpc>
              <a:spcBef>
                <a:spcPts val="0"/>
              </a:spcBef>
              <a:spcAft>
                <a:spcPts val="0"/>
              </a:spcAft>
            </a:pPr>
            <a:r>
              <a:rPr sz="2100" b="1" i="0">
                <a:solidFill>
                  <a:srgbClr val="14213D"/>
                </a:solidFill>
                <a:latin typeface="Aptos"/>
              </a:rPr>
              <a:t>b=+1</a:t>
            </a:r>
          </a:p>
        </p:txBody>
      </p:sp>
      <p:sp>
        <p:nvSpPr>
          <p:cNvPr id="11" name="TextBox 10"/>
          <p:cNvSpPr txBox="1"/>
          <p:nvPr/>
        </p:nvSpPr>
        <p:spPr>
          <a:xfrm>
            <a:off x="914400" y="2999232"/>
            <a:ext cx="2459736" cy="365760"/>
          </a:xfrm>
          <a:prstGeom prst="rect">
            <a:avLst/>
          </a:prstGeom>
          <a:noFill/>
        </p:spPr>
        <p:txBody>
          <a:bodyPr wrap="square" lIns="0" rIns="0" tIns="0" bIns="0" anchor="t">
            <a:spAutoFit/>
          </a:bodyPr>
          <a:lstStyle/>
          <a:p>
            <a:pPr algn="ctr">
              <a:lnSpc>
                <a:spcPct val="100000"/>
              </a:lnSpc>
              <a:spcBef>
                <a:spcPts val="0"/>
              </a:spcBef>
              <a:spcAft>
                <a:spcPts val="0"/>
              </a:spcAft>
            </a:pPr>
            <a:r>
              <a:rPr sz="1400" b="0" i="0">
                <a:solidFill>
                  <a:srgbClr val="617087"/>
                </a:solidFill>
                <a:latin typeface="Aptos"/>
              </a:rPr>
              <a:t>one more outgoing
than incoming</a:t>
            </a:r>
          </a:p>
        </p:txBody>
      </p:sp>
      <p:sp>
        <p:nvSpPr>
          <p:cNvPr id="12" name="Rounded Rectangle 11"/>
          <p:cNvSpPr/>
          <p:nvPr/>
        </p:nvSpPr>
        <p:spPr>
          <a:xfrm>
            <a:off x="4315968" y="2057400"/>
            <a:ext cx="2788920" cy="1408176"/>
          </a:xfrm>
          <a:prstGeom prst="roundRect">
            <a:avLst/>
          </a:prstGeom>
          <a:solidFill>
            <a:srgbClr val="FFFFFF"/>
          </a:solidFill>
          <a:ln w="16510">
            <a:solidFill>
              <a:srgbClr val="2A9D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80559" y="2267712"/>
            <a:ext cx="2459736" cy="228600"/>
          </a:xfrm>
          <a:prstGeom prst="rect">
            <a:avLst/>
          </a:prstGeom>
          <a:noFill/>
        </p:spPr>
        <p:txBody>
          <a:bodyPr wrap="square" lIns="0" rIns="0" tIns="0" bIns="0" anchor="t">
            <a:spAutoFit/>
          </a:bodyPr>
          <a:lstStyle/>
          <a:p>
            <a:pPr algn="ctr">
              <a:lnSpc>
                <a:spcPct val="100000"/>
              </a:lnSpc>
              <a:spcBef>
                <a:spcPts val="0"/>
              </a:spcBef>
              <a:spcAft>
                <a:spcPts val="0"/>
              </a:spcAft>
            </a:pPr>
            <a:r>
              <a:rPr sz="1200" b="1" i="0">
                <a:solidFill>
                  <a:srgbClr val="2A9D8F"/>
                </a:solidFill>
                <a:latin typeface="Aptos"/>
              </a:rPr>
              <a:t>INTERMEDIATE</a:t>
            </a:r>
          </a:p>
        </p:txBody>
      </p:sp>
      <p:sp>
        <p:nvSpPr>
          <p:cNvPr id="14" name="TextBox 13"/>
          <p:cNvSpPr txBox="1"/>
          <p:nvPr/>
        </p:nvSpPr>
        <p:spPr>
          <a:xfrm>
            <a:off x="4480559" y="2633472"/>
            <a:ext cx="2459736" cy="274320"/>
          </a:xfrm>
          <a:prstGeom prst="rect">
            <a:avLst/>
          </a:prstGeom>
          <a:noFill/>
        </p:spPr>
        <p:txBody>
          <a:bodyPr wrap="square" lIns="0" rIns="0" tIns="0" bIns="0" anchor="t">
            <a:spAutoFit/>
          </a:bodyPr>
          <a:lstStyle/>
          <a:p>
            <a:pPr algn="ctr">
              <a:lnSpc>
                <a:spcPct val="100000"/>
              </a:lnSpc>
              <a:spcBef>
                <a:spcPts val="0"/>
              </a:spcBef>
              <a:spcAft>
                <a:spcPts val="0"/>
              </a:spcAft>
            </a:pPr>
            <a:r>
              <a:rPr sz="2100" b="1" i="0">
                <a:solidFill>
                  <a:srgbClr val="14213D"/>
                </a:solidFill>
                <a:latin typeface="Aptos"/>
              </a:rPr>
              <a:t>b=0</a:t>
            </a:r>
          </a:p>
        </p:txBody>
      </p:sp>
      <p:sp>
        <p:nvSpPr>
          <p:cNvPr id="15" name="TextBox 14"/>
          <p:cNvSpPr txBox="1"/>
          <p:nvPr/>
        </p:nvSpPr>
        <p:spPr>
          <a:xfrm>
            <a:off x="4480559" y="2999232"/>
            <a:ext cx="2459736" cy="365760"/>
          </a:xfrm>
          <a:prstGeom prst="rect">
            <a:avLst/>
          </a:prstGeom>
          <a:noFill/>
        </p:spPr>
        <p:txBody>
          <a:bodyPr wrap="square" lIns="0" rIns="0" tIns="0" bIns="0" anchor="t">
            <a:spAutoFit/>
          </a:bodyPr>
          <a:lstStyle/>
          <a:p>
            <a:pPr algn="ctr">
              <a:lnSpc>
                <a:spcPct val="100000"/>
              </a:lnSpc>
              <a:spcBef>
                <a:spcPts val="0"/>
              </a:spcBef>
              <a:spcAft>
                <a:spcPts val="0"/>
              </a:spcAft>
            </a:pPr>
            <a:r>
              <a:rPr sz="1400" b="0" i="0">
                <a:solidFill>
                  <a:srgbClr val="617087"/>
                </a:solidFill>
                <a:latin typeface="Aptos"/>
              </a:rPr>
              <a:t>incoming equals
outgoing</a:t>
            </a:r>
          </a:p>
        </p:txBody>
      </p:sp>
      <p:sp>
        <p:nvSpPr>
          <p:cNvPr id="16" name="Rounded Rectangle 15"/>
          <p:cNvSpPr/>
          <p:nvPr/>
        </p:nvSpPr>
        <p:spPr>
          <a:xfrm>
            <a:off x="7882127" y="2057400"/>
            <a:ext cx="2788920" cy="1408176"/>
          </a:xfrm>
          <a:prstGeom prst="roundRect">
            <a:avLst/>
          </a:prstGeom>
          <a:solidFill>
            <a:srgbClr val="FFFFFF"/>
          </a:solidFill>
          <a:ln w="16510">
            <a:solidFill>
              <a:srgbClr val="D14D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46719" y="2267712"/>
            <a:ext cx="2459736" cy="228600"/>
          </a:xfrm>
          <a:prstGeom prst="rect">
            <a:avLst/>
          </a:prstGeom>
          <a:noFill/>
        </p:spPr>
        <p:txBody>
          <a:bodyPr wrap="square" lIns="0" rIns="0" tIns="0" bIns="0" anchor="t">
            <a:spAutoFit/>
          </a:bodyPr>
          <a:lstStyle/>
          <a:p>
            <a:pPr algn="ctr">
              <a:lnSpc>
                <a:spcPct val="100000"/>
              </a:lnSpc>
              <a:spcBef>
                <a:spcPts val="0"/>
              </a:spcBef>
              <a:spcAft>
                <a:spcPts val="0"/>
              </a:spcAft>
            </a:pPr>
            <a:r>
              <a:rPr sz="1200" b="1" i="0">
                <a:solidFill>
                  <a:srgbClr val="D14D5A"/>
                </a:solidFill>
                <a:latin typeface="Aptos"/>
              </a:rPr>
              <a:t>TARGET</a:t>
            </a:r>
          </a:p>
        </p:txBody>
      </p:sp>
      <p:sp>
        <p:nvSpPr>
          <p:cNvPr id="18" name="TextBox 17"/>
          <p:cNvSpPr txBox="1"/>
          <p:nvPr/>
        </p:nvSpPr>
        <p:spPr>
          <a:xfrm>
            <a:off x="8046719" y="2633472"/>
            <a:ext cx="2459736" cy="274320"/>
          </a:xfrm>
          <a:prstGeom prst="rect">
            <a:avLst/>
          </a:prstGeom>
          <a:noFill/>
        </p:spPr>
        <p:txBody>
          <a:bodyPr wrap="square" lIns="0" rIns="0" tIns="0" bIns="0" anchor="t">
            <a:spAutoFit/>
          </a:bodyPr>
          <a:lstStyle/>
          <a:p>
            <a:pPr algn="ctr">
              <a:lnSpc>
                <a:spcPct val="100000"/>
              </a:lnSpc>
              <a:spcBef>
                <a:spcPts val="0"/>
              </a:spcBef>
              <a:spcAft>
                <a:spcPts val="0"/>
              </a:spcAft>
            </a:pPr>
            <a:r>
              <a:rPr sz="2100" b="1" i="0">
                <a:solidFill>
                  <a:srgbClr val="14213D"/>
                </a:solidFill>
                <a:latin typeface="Aptos"/>
              </a:rPr>
              <a:t>b=−1</a:t>
            </a:r>
          </a:p>
        </p:txBody>
      </p:sp>
      <p:sp>
        <p:nvSpPr>
          <p:cNvPr id="19" name="TextBox 18"/>
          <p:cNvSpPr txBox="1"/>
          <p:nvPr/>
        </p:nvSpPr>
        <p:spPr>
          <a:xfrm>
            <a:off x="8046719" y="2999232"/>
            <a:ext cx="2459736" cy="365760"/>
          </a:xfrm>
          <a:prstGeom prst="rect">
            <a:avLst/>
          </a:prstGeom>
          <a:noFill/>
        </p:spPr>
        <p:txBody>
          <a:bodyPr wrap="square" lIns="0" rIns="0" tIns="0" bIns="0" anchor="t">
            <a:spAutoFit/>
          </a:bodyPr>
          <a:lstStyle/>
          <a:p>
            <a:pPr algn="ctr">
              <a:lnSpc>
                <a:spcPct val="100000"/>
              </a:lnSpc>
              <a:spcBef>
                <a:spcPts val="0"/>
              </a:spcBef>
              <a:spcAft>
                <a:spcPts val="0"/>
              </a:spcAft>
            </a:pPr>
            <a:r>
              <a:rPr sz="1400" b="0" i="0">
                <a:solidFill>
                  <a:srgbClr val="617087"/>
                </a:solidFill>
                <a:latin typeface="Aptos"/>
              </a:rPr>
              <a:t>one more incoming
than outgoing</a:t>
            </a:r>
          </a:p>
        </p:txBody>
      </p:sp>
      <p:sp>
        <p:nvSpPr>
          <p:cNvPr id="20" name="Rounded Rectangle 19"/>
          <p:cNvSpPr/>
          <p:nvPr/>
        </p:nvSpPr>
        <p:spPr>
          <a:xfrm>
            <a:off x="749808" y="3803904"/>
            <a:ext cx="5074920" cy="1755648"/>
          </a:xfrm>
          <a:prstGeom prst="roundRect">
            <a:avLst/>
          </a:prstGeom>
          <a:solidFill>
            <a:srgbClr val="E4F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05840" y="4050791"/>
            <a:ext cx="4572000" cy="274320"/>
          </a:xfrm>
          <a:prstGeom prst="rect">
            <a:avLst/>
          </a:prstGeom>
          <a:noFill/>
        </p:spPr>
        <p:txBody>
          <a:bodyPr wrap="square" lIns="0" rIns="0" tIns="0" bIns="0" anchor="t">
            <a:spAutoFit/>
          </a:bodyPr>
          <a:lstStyle/>
          <a:p>
            <a:pPr algn="ctr">
              <a:lnSpc>
                <a:spcPct val="100000"/>
              </a:lnSpc>
              <a:spcBef>
                <a:spcPts val="0"/>
              </a:spcBef>
              <a:spcAft>
                <a:spcPts val="0"/>
              </a:spcAft>
            </a:pPr>
            <a:r>
              <a:rPr sz="1700" b="1" i="0">
                <a:solidFill>
                  <a:srgbClr val="277A55"/>
                </a:solidFill>
                <a:latin typeface="Aptos"/>
              </a:rPr>
              <a:t>VALID: 0→1→2→4→5→6</a:t>
            </a:r>
          </a:p>
        </p:txBody>
      </p:sp>
      <p:sp>
        <p:nvSpPr>
          <p:cNvPr id="22" name="TextBox 21"/>
          <p:cNvSpPr txBox="1"/>
          <p:nvPr/>
        </p:nvSpPr>
        <p:spPr>
          <a:xfrm>
            <a:off x="1005840" y="4462272"/>
            <a:ext cx="4572000" cy="768096"/>
          </a:xfrm>
          <a:prstGeom prst="rect">
            <a:avLst/>
          </a:prstGeom>
          <a:noFill/>
        </p:spPr>
        <p:txBody>
          <a:bodyPr wrap="square" lIns="0" rIns="0" tIns="0" bIns="0" anchor="t">
            <a:spAutoFit/>
          </a:bodyPr>
          <a:lstStyle/>
          <a:p>
            <a:pPr algn="ctr">
              <a:lnSpc>
                <a:spcPct val="100000"/>
              </a:lnSpc>
              <a:spcBef>
                <a:spcPts val="0"/>
              </a:spcBef>
              <a:spcAft>
                <a:spcPts val="0"/>
              </a:spcAft>
            </a:pPr>
            <a:r>
              <a:rPr sz="1500" b="0" i="0">
                <a:solidFill>
                  <a:srgbClr val="24324A"/>
                </a:solidFill>
                <a:latin typeface="Aptos Mono"/>
              </a:rPr>
              <a:t>source: +1−(+1)=0
node 2: (1−1)−0=0
target: −1−(−1)=0</a:t>
            </a:r>
          </a:p>
        </p:txBody>
      </p:sp>
      <p:sp>
        <p:nvSpPr>
          <p:cNvPr id="23" name="Rounded Rectangle 22"/>
          <p:cNvSpPr/>
          <p:nvPr/>
        </p:nvSpPr>
        <p:spPr>
          <a:xfrm>
            <a:off x="6181344" y="3803904"/>
            <a:ext cx="5074920" cy="1755648"/>
          </a:xfrm>
          <a:prstGeom prst="roundRect">
            <a:avLst/>
          </a:prstGeom>
          <a:solidFill>
            <a:srgbClr val="FAE9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4050791"/>
            <a:ext cx="4572000" cy="274320"/>
          </a:xfrm>
          <a:prstGeom prst="rect">
            <a:avLst/>
          </a:prstGeom>
          <a:noFill/>
        </p:spPr>
        <p:txBody>
          <a:bodyPr wrap="square" lIns="0" rIns="0" tIns="0" bIns="0" anchor="t">
            <a:spAutoFit/>
          </a:bodyPr>
          <a:lstStyle/>
          <a:p>
            <a:pPr algn="ctr">
              <a:lnSpc>
                <a:spcPct val="100000"/>
              </a:lnSpc>
              <a:spcBef>
                <a:spcPts val="0"/>
              </a:spcBef>
              <a:spcAft>
                <a:spcPts val="0"/>
              </a:spcAft>
            </a:pPr>
            <a:r>
              <a:rPr sz="1700" b="1" i="0">
                <a:solidFill>
                  <a:srgbClr val="B42318"/>
                </a:solidFill>
                <a:latin typeface="Aptos"/>
              </a:rPr>
              <a:t>INVALID: select only 0→1</a:t>
            </a:r>
          </a:p>
        </p:txBody>
      </p:sp>
      <p:sp>
        <p:nvSpPr>
          <p:cNvPr id="25" name="TextBox 24"/>
          <p:cNvSpPr txBox="1"/>
          <p:nvPr/>
        </p:nvSpPr>
        <p:spPr>
          <a:xfrm>
            <a:off x="6437376" y="4462272"/>
            <a:ext cx="4572000" cy="768096"/>
          </a:xfrm>
          <a:prstGeom prst="rect">
            <a:avLst/>
          </a:prstGeom>
          <a:noFill/>
        </p:spPr>
        <p:txBody>
          <a:bodyPr wrap="square" lIns="0" rIns="0" tIns="0" bIns="0" anchor="t">
            <a:spAutoFit/>
          </a:bodyPr>
          <a:lstStyle/>
          <a:p>
            <a:pPr algn="ctr">
              <a:lnSpc>
                <a:spcPct val="100000"/>
              </a:lnSpc>
              <a:spcBef>
                <a:spcPts val="0"/>
              </a:spcBef>
              <a:spcAft>
                <a:spcPts val="0"/>
              </a:spcAft>
            </a:pPr>
            <a:r>
              <a:rPr sz="1500" b="0" i="0">
                <a:solidFill>
                  <a:srgbClr val="24324A"/>
                </a:solidFill>
                <a:latin typeface="Aptos Mono"/>
              </a:rPr>
              <a:t>source residual = 0
node 1 residual = −1
target residual = +1  → penalty 2</a:t>
            </a:r>
          </a:p>
        </p:txBody>
      </p:sp>
      <p:sp>
        <p:nvSpPr>
          <p:cNvPr id="26" name="TextBox 25"/>
          <p:cNvSpPr txBox="1"/>
          <p:nvPr/>
        </p:nvSpPr>
        <p:spPr>
          <a:xfrm>
            <a:off x="749808" y="5797296"/>
            <a:ext cx="10515600" cy="283464"/>
          </a:xfrm>
          <a:prstGeom prst="rect">
            <a:avLst/>
          </a:prstGeom>
          <a:noFill/>
        </p:spPr>
        <p:txBody>
          <a:bodyPr wrap="square" lIns="0" rIns="0" tIns="0" bIns="0" anchor="t">
            <a:spAutoFit/>
          </a:bodyPr>
          <a:lstStyle/>
          <a:p>
            <a:pPr algn="ctr">
              <a:lnSpc>
                <a:spcPct val="100000"/>
              </a:lnSpc>
              <a:spcBef>
                <a:spcPts val="0"/>
              </a:spcBef>
              <a:spcAft>
                <a:spcPts val="0"/>
              </a:spcAft>
            </a:pPr>
            <a:r>
              <a:rPr sz="1700" b="1" i="0">
                <a:solidFill>
                  <a:srgbClr val="14213D"/>
                </a:solidFill>
                <a:latin typeface="Aptos"/>
              </a:rPr>
              <a:t>Squaring makes every nonzero flow residual contribute a positive energy penalty.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548640" y="292608"/>
            <a:ext cx="11064240" cy="530352"/>
          </a:xfrm>
          <a:prstGeom prst="rect">
            <a:avLst/>
          </a:prstGeom>
          <a:noFill/>
        </p:spPr>
        <p:txBody>
          <a:bodyPr wrap="square" lIns="0" rIns="0" tIns="0" bIns="0" anchor="t">
            <a:spAutoFit/>
          </a:bodyPr>
          <a:lstStyle/>
          <a:p>
            <a:pPr algn="l">
              <a:lnSpc>
                <a:spcPct val="100000"/>
              </a:lnSpc>
              <a:spcBef>
                <a:spcPts val="0"/>
              </a:spcBef>
              <a:spcAft>
                <a:spcPts val="0"/>
              </a:spcAft>
            </a:pPr>
            <a:r>
              <a:rPr sz="2900" b="1" i="0">
                <a:solidFill>
                  <a:srgbClr val="14213D"/>
                </a:solidFill>
                <a:latin typeface="Aptos"/>
              </a:rPr>
              <a:t>Backup B — QUBO matrix and Ising mapping</a:t>
            </a:r>
          </a:p>
        </p:txBody>
      </p:sp>
      <p:sp>
        <p:nvSpPr>
          <p:cNvPr id="3" name="Rectangle 2"/>
          <p:cNvSpPr/>
          <p:nvPr/>
        </p:nvSpPr>
        <p:spPr>
          <a:xfrm>
            <a:off x="548640" y="896112"/>
            <a:ext cx="658368" cy="41148"/>
          </a:xfrm>
          <a:prstGeom prst="rect">
            <a:avLst/>
          </a:prstGeom>
          <a:solidFill>
            <a:srgbClr val="2063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a:off x="502920" y="6528816"/>
            <a:ext cx="11183112" cy="0"/>
          </a:xfrm>
          <a:prstGeom prst="line">
            <a:avLst/>
          </a:prstGeom>
          <a:ln w="8890">
            <a:solidFill>
              <a:srgbClr val="E7ECF3"/>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30352" y="6574536"/>
            <a:ext cx="2194560" cy="164592"/>
          </a:xfrm>
          <a:prstGeom prst="rect">
            <a:avLst/>
          </a:prstGeom>
          <a:noFill/>
        </p:spPr>
        <p:txBody>
          <a:bodyPr wrap="square" lIns="0" rIns="0" tIns="0" bIns="0" anchor="t">
            <a:spAutoFit/>
          </a:bodyPr>
          <a:lstStyle/>
          <a:p>
            <a:pPr algn="l">
              <a:lnSpc>
                <a:spcPct val="100000"/>
              </a:lnSpc>
              <a:spcBef>
                <a:spcPts val="0"/>
              </a:spcBef>
              <a:spcAft>
                <a:spcPts val="0"/>
              </a:spcAft>
            </a:pPr>
            <a:r>
              <a:rPr sz="950" b="1" i="0">
                <a:solidFill>
                  <a:srgbClr val="617087"/>
                </a:solidFill>
                <a:latin typeface="Aptos"/>
              </a:rPr>
              <a:t>BACKUP</a:t>
            </a:r>
          </a:p>
        </p:txBody>
      </p:sp>
      <p:sp>
        <p:nvSpPr>
          <p:cNvPr id="6" name="TextBox 5"/>
          <p:cNvSpPr txBox="1"/>
          <p:nvPr/>
        </p:nvSpPr>
        <p:spPr>
          <a:xfrm>
            <a:off x="11173968" y="6556248"/>
            <a:ext cx="457200" cy="182880"/>
          </a:xfrm>
          <a:prstGeom prst="rect">
            <a:avLst/>
          </a:prstGeom>
          <a:noFill/>
        </p:spPr>
        <p:txBody>
          <a:bodyPr wrap="square" lIns="0" rIns="0" tIns="0" bIns="0" anchor="t">
            <a:spAutoFit/>
          </a:bodyPr>
          <a:lstStyle/>
          <a:p>
            <a:pPr algn="r">
              <a:lnSpc>
                <a:spcPct val="100000"/>
              </a:lnSpc>
              <a:spcBef>
                <a:spcPts val="0"/>
              </a:spcBef>
              <a:spcAft>
                <a:spcPts val="0"/>
              </a:spcAft>
            </a:pPr>
            <a:r>
              <a:rPr sz="1000" b="1" i="0">
                <a:solidFill>
                  <a:srgbClr val="617087"/>
                </a:solidFill>
                <a:latin typeface="Aptos"/>
              </a:rPr>
              <a:t>14</a:t>
            </a:r>
          </a:p>
        </p:txBody>
      </p:sp>
      <p:sp>
        <p:nvSpPr>
          <p:cNvPr id="7" name="Rounded Rectangle 6"/>
          <p:cNvSpPr/>
          <p:nvPr/>
        </p:nvSpPr>
        <p:spPr>
          <a:xfrm>
            <a:off x="676656" y="1115568"/>
            <a:ext cx="5257800" cy="2066543"/>
          </a:xfrm>
          <a:prstGeom prst="roundRect">
            <a:avLst/>
          </a:prstGeom>
          <a:solidFill>
            <a:srgbClr val="FFFFFF"/>
          </a:solidFill>
          <a:ln w="10160">
            <a:solidFill>
              <a:srgbClr val="2063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371600"/>
            <a:ext cx="4773168" cy="256032"/>
          </a:xfrm>
          <a:prstGeom prst="rect">
            <a:avLst/>
          </a:prstGeom>
          <a:noFill/>
        </p:spPr>
        <p:txBody>
          <a:bodyPr wrap="square" lIns="0" rIns="0" tIns="0" bIns="0" anchor="t">
            <a:spAutoFit/>
          </a:bodyPr>
          <a:lstStyle/>
          <a:p>
            <a:pPr algn="ctr">
              <a:lnSpc>
                <a:spcPct val="100000"/>
              </a:lnSpc>
              <a:spcBef>
                <a:spcPts val="0"/>
              </a:spcBef>
              <a:spcAft>
                <a:spcPts val="0"/>
              </a:spcAft>
            </a:pPr>
            <a:r>
              <a:rPr sz="1200" b="1" i="0">
                <a:solidFill>
                  <a:srgbClr val="20639B"/>
                </a:solidFill>
                <a:latin typeface="Aptos"/>
              </a:rPr>
              <a:t>TWO EQUIVALENT QUBO VIEWS</a:t>
            </a:r>
          </a:p>
        </p:txBody>
      </p:sp>
      <p:pic>
        <p:nvPicPr>
          <p:cNvPr id="9" name="Picture 8" descr="eq_backup_poly.png"/>
          <p:cNvPicPr>
            <a:picLocks noChangeAspect="1"/>
          </p:cNvPicPr>
          <p:nvPr/>
        </p:nvPicPr>
        <p:blipFill>
          <a:blip r:embed="rId2"/>
          <a:stretch>
            <a:fillRect/>
          </a:stretch>
        </p:blipFill>
        <p:spPr>
          <a:xfrm>
            <a:off x="1078992" y="1783080"/>
            <a:ext cx="4389120" cy="585216"/>
          </a:xfrm>
          <a:prstGeom prst="rect">
            <a:avLst/>
          </a:prstGeom>
        </p:spPr>
      </p:pic>
      <p:sp>
        <p:nvSpPr>
          <p:cNvPr id="10" name="TextBox 9"/>
          <p:cNvSpPr txBox="1"/>
          <p:nvPr/>
        </p:nvSpPr>
        <p:spPr>
          <a:xfrm>
            <a:off x="2560320" y="2395728"/>
            <a:ext cx="914400" cy="384048"/>
          </a:xfrm>
          <a:prstGeom prst="rect">
            <a:avLst/>
          </a:prstGeom>
          <a:noFill/>
        </p:spPr>
        <p:txBody>
          <a:bodyPr wrap="square" lIns="0" rIns="0" tIns="0" bIns="0" anchor="t">
            <a:spAutoFit/>
          </a:bodyPr>
          <a:lstStyle/>
          <a:p>
            <a:pPr algn="ctr">
              <a:lnSpc>
                <a:spcPct val="100000"/>
              </a:lnSpc>
              <a:spcBef>
                <a:spcPts val="0"/>
              </a:spcBef>
              <a:spcAft>
                <a:spcPts val="0"/>
              </a:spcAft>
            </a:pPr>
            <a:r>
              <a:rPr sz="2000" b="1" i="0">
                <a:solidFill>
                  <a:srgbClr val="617087"/>
                </a:solidFill>
                <a:latin typeface="Aptos"/>
              </a:rPr>
              <a:t>⇕</a:t>
            </a:r>
          </a:p>
        </p:txBody>
      </p:sp>
      <p:pic>
        <p:nvPicPr>
          <p:cNvPr id="11" name="Picture 10" descr="eq_backup_matrix.png"/>
          <p:cNvPicPr>
            <a:picLocks noChangeAspect="1"/>
          </p:cNvPicPr>
          <p:nvPr/>
        </p:nvPicPr>
        <p:blipFill>
          <a:blip r:embed="rId3"/>
          <a:stretch>
            <a:fillRect/>
          </a:stretch>
        </p:blipFill>
        <p:spPr>
          <a:xfrm>
            <a:off x="1874519" y="2679192"/>
            <a:ext cx="2359152" cy="384048"/>
          </a:xfrm>
          <a:prstGeom prst="rect">
            <a:avLst/>
          </a:prstGeom>
        </p:spPr>
      </p:pic>
      <p:sp>
        <p:nvSpPr>
          <p:cNvPr id="12" name="Rounded Rectangle 11"/>
          <p:cNvSpPr/>
          <p:nvPr/>
        </p:nvSpPr>
        <p:spPr>
          <a:xfrm>
            <a:off x="6236208" y="1115568"/>
            <a:ext cx="5266944" cy="2066543"/>
          </a:xfrm>
          <a:prstGeom prst="roundRect">
            <a:avLst/>
          </a:prstGeom>
          <a:solidFill>
            <a:srgbClr val="FFFFFF"/>
          </a:solidFill>
          <a:ln w="10160">
            <a:solidFill>
              <a:srgbClr val="2A9D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73952" y="1371600"/>
            <a:ext cx="4773168" cy="256032"/>
          </a:xfrm>
          <a:prstGeom prst="rect">
            <a:avLst/>
          </a:prstGeom>
          <a:noFill/>
        </p:spPr>
        <p:txBody>
          <a:bodyPr wrap="square" lIns="0" rIns="0" tIns="0" bIns="0" anchor="t">
            <a:spAutoFit/>
          </a:bodyPr>
          <a:lstStyle/>
          <a:p>
            <a:pPr algn="ctr">
              <a:lnSpc>
                <a:spcPct val="100000"/>
              </a:lnSpc>
              <a:spcBef>
                <a:spcPts val="0"/>
              </a:spcBef>
              <a:spcAft>
                <a:spcPts val="0"/>
              </a:spcAft>
            </a:pPr>
            <a:r>
              <a:rPr sz="1200" b="1" i="0">
                <a:solidFill>
                  <a:srgbClr val="2A9D8F"/>
                </a:solidFill>
                <a:latin typeface="Aptos"/>
              </a:rPr>
              <a:t>SUBSTITUTE BINARY OPERATORS</a:t>
            </a:r>
          </a:p>
        </p:txBody>
      </p:sp>
      <p:pic>
        <p:nvPicPr>
          <p:cNvPr id="14" name="Picture 13" descr="eq_backup_x.png"/>
          <p:cNvPicPr>
            <a:picLocks noChangeAspect="1"/>
          </p:cNvPicPr>
          <p:nvPr/>
        </p:nvPicPr>
        <p:blipFill>
          <a:blip r:embed="rId4"/>
          <a:stretch>
            <a:fillRect/>
          </a:stretch>
        </p:blipFill>
        <p:spPr>
          <a:xfrm>
            <a:off x="6748272" y="1792224"/>
            <a:ext cx="1883664" cy="585216"/>
          </a:xfrm>
          <a:prstGeom prst="rect">
            <a:avLst/>
          </a:prstGeom>
        </p:spPr>
      </p:pic>
      <p:pic>
        <p:nvPicPr>
          <p:cNvPr id="15" name="Picture 14" descr="eq_backup_xx.png"/>
          <p:cNvPicPr>
            <a:picLocks noChangeAspect="1"/>
          </p:cNvPicPr>
          <p:nvPr/>
        </p:nvPicPr>
        <p:blipFill>
          <a:blip r:embed="rId5"/>
          <a:stretch>
            <a:fillRect/>
          </a:stretch>
        </p:blipFill>
        <p:spPr>
          <a:xfrm>
            <a:off x="8522208" y="1792224"/>
            <a:ext cx="2651760" cy="585216"/>
          </a:xfrm>
          <a:prstGeom prst="rect">
            <a:avLst/>
          </a:prstGeom>
        </p:spPr>
      </p:pic>
      <p:sp>
        <p:nvSpPr>
          <p:cNvPr id="16" name="TextBox 15"/>
          <p:cNvSpPr txBox="1"/>
          <p:nvPr/>
        </p:nvSpPr>
        <p:spPr>
          <a:xfrm>
            <a:off x="6574536" y="2487168"/>
            <a:ext cx="4590288" cy="493776"/>
          </a:xfrm>
          <a:prstGeom prst="rect">
            <a:avLst/>
          </a:prstGeom>
          <a:noFill/>
        </p:spPr>
        <p:txBody>
          <a:bodyPr wrap="square" lIns="0" rIns="0" tIns="0" bIns="0" anchor="t">
            <a:spAutoFit/>
          </a:bodyPr>
          <a:lstStyle/>
          <a:p>
            <a:pPr algn="ctr">
              <a:lnSpc>
                <a:spcPct val="100000"/>
              </a:lnSpc>
              <a:spcBef>
                <a:spcPts val="0"/>
              </a:spcBef>
              <a:spcAft>
                <a:spcPts val="0"/>
              </a:spcAft>
            </a:pPr>
            <a:r>
              <a:rPr sz="1450" b="0" i="0">
                <a:solidFill>
                  <a:srgbClr val="617087"/>
                </a:solidFill>
                <a:latin typeface="Aptos"/>
              </a:rPr>
              <a:t>Identity, single-Z, and ZZ terms appear after expansion.</a:t>
            </a:r>
          </a:p>
        </p:txBody>
      </p:sp>
      <p:sp>
        <p:nvSpPr>
          <p:cNvPr id="17" name="Rounded Rectangle 16"/>
          <p:cNvSpPr/>
          <p:nvPr/>
        </p:nvSpPr>
        <p:spPr>
          <a:xfrm>
            <a:off x="676656" y="3529584"/>
            <a:ext cx="10826496" cy="1152144"/>
          </a:xfrm>
          <a:prstGeom prst="round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eq_backup_ising.png"/>
          <p:cNvPicPr>
            <a:picLocks noChangeAspect="1"/>
          </p:cNvPicPr>
          <p:nvPr/>
        </p:nvPicPr>
        <p:blipFill>
          <a:blip r:embed="rId6"/>
          <a:stretch>
            <a:fillRect/>
          </a:stretch>
        </p:blipFill>
        <p:spPr>
          <a:xfrm>
            <a:off x="2834640" y="3785615"/>
            <a:ext cx="6537960" cy="621792"/>
          </a:xfrm>
          <a:prstGeom prst="rect">
            <a:avLst/>
          </a:prstGeom>
        </p:spPr>
      </p:pic>
      <p:sp>
        <p:nvSpPr>
          <p:cNvPr id="19" name="Rounded Rectangle 18"/>
          <p:cNvSpPr/>
          <p:nvPr/>
        </p:nvSpPr>
        <p:spPr>
          <a:xfrm>
            <a:off x="676656" y="5001768"/>
            <a:ext cx="3246120" cy="896112"/>
          </a:xfrm>
          <a:prstGeom prst="roundRect">
            <a:avLst/>
          </a:prstGeom>
          <a:solidFill>
            <a:srgbClr val="FFFFFF"/>
          </a:solidFill>
          <a:ln w="10160">
            <a:solidFill>
              <a:srgbClr val="E7E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76656" y="5001768"/>
            <a:ext cx="50292" cy="896112"/>
          </a:xfrm>
          <a:prstGeom prst="rect">
            <a:avLst/>
          </a:prstGeom>
          <a:solidFill>
            <a:srgbClr val="2063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1247" y="5093207"/>
            <a:ext cx="2953512" cy="182880"/>
          </a:xfrm>
          <a:prstGeom prst="rect">
            <a:avLst/>
          </a:prstGeom>
          <a:noFill/>
        </p:spPr>
        <p:txBody>
          <a:bodyPr wrap="square" lIns="0" rIns="0" tIns="0" bIns="0" anchor="t">
            <a:spAutoFit/>
          </a:bodyPr>
          <a:lstStyle/>
          <a:p>
            <a:pPr algn="l">
              <a:lnSpc>
                <a:spcPct val="100000"/>
              </a:lnSpc>
              <a:spcBef>
                <a:spcPts val="0"/>
              </a:spcBef>
              <a:spcAft>
                <a:spcPts val="0"/>
              </a:spcAft>
            </a:pPr>
            <a:r>
              <a:rPr sz="950" b="1" i="0">
                <a:solidFill>
                  <a:srgbClr val="617087"/>
                </a:solidFill>
                <a:latin typeface="Aptos"/>
              </a:rPr>
              <a:t>QUBO CONSTANT</a:t>
            </a:r>
          </a:p>
        </p:txBody>
      </p:sp>
      <p:sp>
        <p:nvSpPr>
          <p:cNvPr id="22" name="TextBox 21"/>
          <p:cNvSpPr txBox="1"/>
          <p:nvPr/>
        </p:nvSpPr>
        <p:spPr>
          <a:xfrm>
            <a:off x="841247" y="5312664"/>
            <a:ext cx="2953512" cy="320040"/>
          </a:xfrm>
          <a:prstGeom prst="rect">
            <a:avLst/>
          </a:prstGeom>
          <a:noFill/>
        </p:spPr>
        <p:txBody>
          <a:bodyPr wrap="square" lIns="0" rIns="0" tIns="0" bIns="0" anchor="t">
            <a:spAutoFit/>
          </a:bodyPr>
          <a:lstStyle/>
          <a:p>
            <a:pPr algn="l">
              <a:lnSpc>
                <a:spcPct val="100000"/>
              </a:lnSpc>
              <a:spcBef>
                <a:spcPts val="0"/>
              </a:spcBef>
              <a:spcAft>
                <a:spcPts val="0"/>
              </a:spcAft>
            </a:pPr>
            <a:r>
              <a:rPr sz="1950" b="1" i="0">
                <a:solidFill>
                  <a:srgbClr val="14213D"/>
                </a:solidFill>
                <a:latin typeface="Aptos"/>
              </a:rPr>
              <a:t>12</a:t>
            </a:r>
          </a:p>
        </p:txBody>
      </p:sp>
      <p:sp>
        <p:nvSpPr>
          <p:cNvPr id="23" name="TextBox 22"/>
          <p:cNvSpPr txBox="1"/>
          <p:nvPr/>
        </p:nvSpPr>
        <p:spPr>
          <a:xfrm>
            <a:off x="841247" y="5696712"/>
            <a:ext cx="2953512" cy="128016"/>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617087"/>
                </a:solidFill>
                <a:latin typeface="Aptos"/>
              </a:rPr>
              <a:t>for A=6</a:t>
            </a:r>
          </a:p>
        </p:txBody>
      </p:sp>
      <p:sp>
        <p:nvSpPr>
          <p:cNvPr id="24" name="Rounded Rectangle 23"/>
          <p:cNvSpPr/>
          <p:nvPr/>
        </p:nvSpPr>
        <p:spPr>
          <a:xfrm>
            <a:off x="4178808" y="5001768"/>
            <a:ext cx="3246120" cy="896112"/>
          </a:xfrm>
          <a:prstGeom prst="roundRect">
            <a:avLst/>
          </a:prstGeom>
          <a:solidFill>
            <a:srgbClr val="FFFFFF"/>
          </a:solidFill>
          <a:ln w="10160">
            <a:solidFill>
              <a:srgbClr val="E7E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178808" y="5001768"/>
            <a:ext cx="50292" cy="896112"/>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343400" y="5093207"/>
            <a:ext cx="2953512" cy="182880"/>
          </a:xfrm>
          <a:prstGeom prst="rect">
            <a:avLst/>
          </a:prstGeom>
          <a:noFill/>
        </p:spPr>
        <p:txBody>
          <a:bodyPr wrap="square" lIns="0" rIns="0" tIns="0" bIns="0" anchor="t">
            <a:spAutoFit/>
          </a:bodyPr>
          <a:lstStyle/>
          <a:p>
            <a:pPr algn="l">
              <a:lnSpc>
                <a:spcPct val="100000"/>
              </a:lnSpc>
              <a:spcBef>
                <a:spcPts val="0"/>
              </a:spcBef>
              <a:spcAft>
                <a:spcPts val="0"/>
              </a:spcAft>
            </a:pPr>
            <a:r>
              <a:rPr sz="950" b="1" i="0">
                <a:solidFill>
                  <a:srgbClr val="617087"/>
                </a:solidFill>
                <a:latin typeface="Aptos"/>
              </a:rPr>
              <a:t>NONZERO PAIRS</a:t>
            </a:r>
          </a:p>
        </p:txBody>
      </p:sp>
      <p:sp>
        <p:nvSpPr>
          <p:cNvPr id="27" name="TextBox 26"/>
          <p:cNvSpPr txBox="1"/>
          <p:nvPr/>
        </p:nvSpPr>
        <p:spPr>
          <a:xfrm>
            <a:off x="4343400" y="5312664"/>
            <a:ext cx="2953512" cy="320040"/>
          </a:xfrm>
          <a:prstGeom prst="rect">
            <a:avLst/>
          </a:prstGeom>
          <a:noFill/>
        </p:spPr>
        <p:txBody>
          <a:bodyPr wrap="square" lIns="0" rIns="0" tIns="0" bIns="0" anchor="t">
            <a:spAutoFit/>
          </a:bodyPr>
          <a:lstStyle/>
          <a:p>
            <a:pPr algn="l">
              <a:lnSpc>
                <a:spcPct val="100000"/>
              </a:lnSpc>
              <a:spcBef>
                <a:spcPts val="0"/>
              </a:spcBef>
              <a:spcAft>
                <a:spcPts val="0"/>
              </a:spcAft>
            </a:pPr>
            <a:r>
              <a:rPr sz="1950" b="1" i="0">
                <a:solidFill>
                  <a:srgbClr val="14213D"/>
                </a:solidFill>
                <a:latin typeface="Aptos"/>
              </a:rPr>
              <a:t>46</a:t>
            </a:r>
          </a:p>
        </p:txBody>
      </p:sp>
      <p:sp>
        <p:nvSpPr>
          <p:cNvPr id="28" name="TextBox 27"/>
          <p:cNvSpPr txBox="1"/>
          <p:nvPr/>
        </p:nvSpPr>
        <p:spPr>
          <a:xfrm>
            <a:off x="4343400" y="5696712"/>
            <a:ext cx="2953512" cy="128016"/>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617087"/>
                </a:solidFill>
                <a:latin typeface="Aptos"/>
              </a:rPr>
              <a:t>same in QUBO and Ising</a:t>
            </a:r>
          </a:p>
        </p:txBody>
      </p:sp>
      <p:sp>
        <p:nvSpPr>
          <p:cNvPr id="29" name="Rounded Rectangle 28"/>
          <p:cNvSpPr/>
          <p:nvPr/>
        </p:nvSpPr>
        <p:spPr>
          <a:xfrm>
            <a:off x="7680960" y="5001768"/>
            <a:ext cx="3822191" cy="896112"/>
          </a:xfrm>
          <a:prstGeom prst="roundRect">
            <a:avLst/>
          </a:prstGeom>
          <a:solidFill>
            <a:srgbClr val="FFFFFF"/>
          </a:solidFill>
          <a:ln w="10160">
            <a:solidFill>
              <a:srgbClr val="E7E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680960" y="5001768"/>
            <a:ext cx="50292" cy="896112"/>
          </a:xfrm>
          <a:prstGeom prst="rect">
            <a:avLst/>
          </a:prstGeom>
          <a:solidFill>
            <a:srgbClr val="D14D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845552" y="5093207"/>
            <a:ext cx="3529584" cy="182880"/>
          </a:xfrm>
          <a:prstGeom prst="rect">
            <a:avLst/>
          </a:prstGeom>
          <a:noFill/>
        </p:spPr>
        <p:txBody>
          <a:bodyPr wrap="square" lIns="0" rIns="0" tIns="0" bIns="0" anchor="t">
            <a:spAutoFit/>
          </a:bodyPr>
          <a:lstStyle/>
          <a:p>
            <a:pPr algn="l">
              <a:lnSpc>
                <a:spcPct val="100000"/>
              </a:lnSpc>
              <a:spcBef>
                <a:spcPts val="0"/>
              </a:spcBef>
              <a:spcAft>
                <a:spcPts val="0"/>
              </a:spcAft>
            </a:pPr>
            <a:r>
              <a:rPr sz="950" b="1" i="0">
                <a:solidFill>
                  <a:srgbClr val="617087"/>
                </a:solidFill>
                <a:latin typeface="Aptos"/>
              </a:rPr>
              <a:t>EXHAUSTIVE ENERGY ERROR</a:t>
            </a:r>
          </a:p>
        </p:txBody>
      </p:sp>
      <p:sp>
        <p:nvSpPr>
          <p:cNvPr id="32" name="TextBox 31"/>
          <p:cNvSpPr txBox="1"/>
          <p:nvPr/>
        </p:nvSpPr>
        <p:spPr>
          <a:xfrm>
            <a:off x="7845552" y="5312664"/>
            <a:ext cx="3529584" cy="320040"/>
          </a:xfrm>
          <a:prstGeom prst="rect">
            <a:avLst/>
          </a:prstGeom>
          <a:noFill/>
        </p:spPr>
        <p:txBody>
          <a:bodyPr wrap="square" lIns="0" rIns="0" tIns="0" bIns="0" anchor="t">
            <a:spAutoFit/>
          </a:bodyPr>
          <a:lstStyle/>
          <a:p>
            <a:pPr algn="l">
              <a:lnSpc>
                <a:spcPct val="100000"/>
              </a:lnSpc>
              <a:spcBef>
                <a:spcPts val="0"/>
              </a:spcBef>
              <a:spcAft>
                <a:spcPts val="0"/>
              </a:spcAft>
            </a:pPr>
            <a:r>
              <a:rPr sz="1950" b="1" i="0">
                <a:solidFill>
                  <a:srgbClr val="14213D"/>
                </a:solidFill>
                <a:latin typeface="Aptos"/>
              </a:rPr>
              <a:t>0 across 16,384 states</a:t>
            </a:r>
          </a:p>
        </p:txBody>
      </p:sp>
      <p:sp>
        <p:nvSpPr>
          <p:cNvPr id="33" name="TextBox 32"/>
          <p:cNvSpPr txBox="1"/>
          <p:nvPr/>
        </p:nvSpPr>
        <p:spPr>
          <a:xfrm>
            <a:off x="7845552" y="5696712"/>
            <a:ext cx="3529584" cy="128016"/>
          </a:xfrm>
          <a:prstGeom prst="rect">
            <a:avLst/>
          </a:prstGeom>
          <a:noFill/>
        </p:spPr>
        <p:txBody>
          <a:bodyPr wrap="square" lIns="0" rIns="0" tIns="0" bIns="0" anchor="t">
            <a:spAutoFit/>
          </a:bodyPr>
          <a:lstStyle/>
          <a:p>
            <a:pPr algn="l">
              <a:lnSpc>
                <a:spcPct val="100000"/>
              </a:lnSpc>
              <a:spcBef>
                <a:spcPts val="0"/>
              </a:spcBef>
              <a:spcAft>
                <a:spcPts val="0"/>
              </a:spcAft>
            </a:pPr>
            <a:r>
              <a:rPr sz="900" b="0" i="0">
                <a:solidFill>
                  <a:srgbClr val="617087"/>
                </a:solidFill>
                <a:latin typeface="Aptos"/>
              </a:rPr>
              <a:t>exact Fraction arithmetic</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548640" y="292608"/>
            <a:ext cx="11064240" cy="530352"/>
          </a:xfrm>
          <a:prstGeom prst="rect">
            <a:avLst/>
          </a:prstGeom>
          <a:noFill/>
        </p:spPr>
        <p:txBody>
          <a:bodyPr wrap="square" lIns="0" rIns="0" tIns="0" bIns="0" anchor="t">
            <a:spAutoFit/>
          </a:bodyPr>
          <a:lstStyle/>
          <a:p>
            <a:pPr algn="l">
              <a:lnSpc>
                <a:spcPct val="100000"/>
              </a:lnSpc>
              <a:spcBef>
                <a:spcPts val="0"/>
              </a:spcBef>
              <a:spcAft>
                <a:spcPts val="0"/>
              </a:spcAft>
            </a:pPr>
            <a:r>
              <a:rPr sz="2900" b="1" i="0">
                <a:solidFill>
                  <a:srgbClr val="14213D"/>
                </a:solidFill>
                <a:latin typeface="Aptos"/>
              </a:rPr>
              <a:t>Backup C — What is COBYLA?</a:t>
            </a:r>
          </a:p>
        </p:txBody>
      </p:sp>
      <p:sp>
        <p:nvSpPr>
          <p:cNvPr id="3" name="Rectangle 2"/>
          <p:cNvSpPr/>
          <p:nvPr/>
        </p:nvSpPr>
        <p:spPr>
          <a:xfrm>
            <a:off x="548640" y="896112"/>
            <a:ext cx="658368" cy="41148"/>
          </a:xfrm>
          <a:prstGeom prst="rect">
            <a:avLst/>
          </a:prstGeom>
          <a:solidFill>
            <a:srgbClr val="2063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a:off x="502920" y="6528816"/>
            <a:ext cx="11183112" cy="0"/>
          </a:xfrm>
          <a:prstGeom prst="line">
            <a:avLst/>
          </a:prstGeom>
          <a:ln w="8890">
            <a:solidFill>
              <a:srgbClr val="E7ECF3"/>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30352" y="6574536"/>
            <a:ext cx="2194560" cy="164592"/>
          </a:xfrm>
          <a:prstGeom prst="rect">
            <a:avLst/>
          </a:prstGeom>
          <a:noFill/>
        </p:spPr>
        <p:txBody>
          <a:bodyPr wrap="square" lIns="0" rIns="0" tIns="0" bIns="0" anchor="t">
            <a:spAutoFit/>
          </a:bodyPr>
          <a:lstStyle/>
          <a:p>
            <a:pPr algn="l">
              <a:lnSpc>
                <a:spcPct val="100000"/>
              </a:lnSpc>
              <a:spcBef>
                <a:spcPts val="0"/>
              </a:spcBef>
              <a:spcAft>
                <a:spcPts val="0"/>
              </a:spcAft>
            </a:pPr>
            <a:r>
              <a:rPr sz="950" b="1" i="0">
                <a:solidFill>
                  <a:srgbClr val="617087"/>
                </a:solidFill>
                <a:latin typeface="Aptos"/>
              </a:rPr>
              <a:t>BACKUP</a:t>
            </a:r>
          </a:p>
        </p:txBody>
      </p:sp>
      <p:sp>
        <p:nvSpPr>
          <p:cNvPr id="6" name="TextBox 5"/>
          <p:cNvSpPr txBox="1"/>
          <p:nvPr/>
        </p:nvSpPr>
        <p:spPr>
          <a:xfrm>
            <a:off x="11173968" y="6556248"/>
            <a:ext cx="457200" cy="182880"/>
          </a:xfrm>
          <a:prstGeom prst="rect">
            <a:avLst/>
          </a:prstGeom>
          <a:noFill/>
        </p:spPr>
        <p:txBody>
          <a:bodyPr wrap="square" lIns="0" rIns="0" tIns="0" bIns="0" anchor="t">
            <a:spAutoFit/>
          </a:bodyPr>
          <a:lstStyle/>
          <a:p>
            <a:pPr algn="r">
              <a:lnSpc>
                <a:spcPct val="100000"/>
              </a:lnSpc>
              <a:spcBef>
                <a:spcPts val="0"/>
              </a:spcBef>
              <a:spcAft>
                <a:spcPts val="0"/>
              </a:spcAft>
            </a:pPr>
            <a:r>
              <a:rPr sz="1000" b="1" i="0">
                <a:solidFill>
                  <a:srgbClr val="617087"/>
                </a:solidFill>
                <a:latin typeface="Aptos"/>
              </a:rPr>
              <a:t>15</a:t>
            </a:r>
          </a:p>
        </p:txBody>
      </p:sp>
      <p:sp>
        <p:nvSpPr>
          <p:cNvPr id="7" name="Rounded Rectangle 6"/>
          <p:cNvSpPr/>
          <p:nvPr/>
        </p:nvSpPr>
        <p:spPr>
          <a:xfrm>
            <a:off x="676656" y="1115568"/>
            <a:ext cx="5193792" cy="4462272"/>
          </a:xfrm>
          <a:prstGeom prst="roundRect">
            <a:avLst/>
          </a:prstGeom>
          <a:solidFill>
            <a:srgbClr val="FFFFFF"/>
          </a:solidFill>
          <a:ln w="10160">
            <a:solidFill>
              <a:srgbClr val="E7EC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2688" y="1298448"/>
            <a:ext cx="4681728" cy="694944"/>
          </a:xfrm>
          <a:prstGeom prst="rect">
            <a:avLst/>
          </a:prstGeom>
          <a:noFill/>
        </p:spPr>
        <p:txBody>
          <a:bodyPr wrap="square" lIns="0" rIns="0" tIns="0" bIns="0" anchor="t">
            <a:spAutoFit/>
          </a:bodyPr>
          <a:lstStyle/>
          <a:p>
            <a:pPr algn="ctr">
              <a:lnSpc>
                <a:spcPct val="100000"/>
              </a:lnSpc>
              <a:spcBef>
                <a:spcPts val="0"/>
              </a:spcBef>
              <a:spcAft>
                <a:spcPts val="0"/>
              </a:spcAft>
            </a:pPr>
            <a:r>
              <a:rPr sz="1900" b="1" i="0">
                <a:solidFill>
                  <a:srgbClr val="20639B"/>
                </a:solidFill>
                <a:latin typeface="Aptos"/>
              </a:rPr>
              <a:t>Constrained Optimization BY
Linear Approximations</a:t>
            </a:r>
          </a:p>
        </p:txBody>
      </p:sp>
      <p:sp>
        <p:nvSpPr>
          <p:cNvPr id="9" name="Oval 8"/>
          <p:cNvSpPr/>
          <p:nvPr/>
        </p:nvSpPr>
        <p:spPr>
          <a:xfrm>
            <a:off x="996696" y="2276856"/>
            <a:ext cx="109728" cy="109728"/>
          </a:xfrm>
          <a:prstGeom prst="ellipse">
            <a:avLst/>
          </a:prstGeom>
          <a:solidFill>
            <a:srgbClr val="2063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88720" y="2167128"/>
            <a:ext cx="4352544" cy="347472"/>
          </a:xfrm>
          <a:prstGeom prst="rect">
            <a:avLst/>
          </a:prstGeom>
          <a:noFill/>
        </p:spPr>
        <p:txBody>
          <a:bodyPr wrap="square" lIns="0" rIns="0" tIns="0" bIns="0" anchor="t">
            <a:spAutoFit/>
          </a:bodyPr>
          <a:lstStyle/>
          <a:p>
            <a:pPr algn="l">
              <a:lnSpc>
                <a:spcPct val="100000"/>
              </a:lnSpc>
              <a:spcBef>
                <a:spcPts val="0"/>
              </a:spcBef>
              <a:spcAft>
                <a:spcPts val="0"/>
              </a:spcAft>
            </a:pPr>
            <a:r>
              <a:rPr sz="1700" b="0" i="0">
                <a:solidFill>
                  <a:srgbClr val="24324A"/>
                </a:solidFill>
                <a:latin typeface="Aptos"/>
              </a:rPr>
              <a:t>classical, derivative-free optimizer</a:t>
            </a:r>
          </a:p>
        </p:txBody>
      </p:sp>
      <p:sp>
        <p:nvSpPr>
          <p:cNvPr id="11" name="Oval 10"/>
          <p:cNvSpPr/>
          <p:nvPr/>
        </p:nvSpPr>
        <p:spPr>
          <a:xfrm>
            <a:off x="996696" y="2807208"/>
            <a:ext cx="109728" cy="109728"/>
          </a:xfrm>
          <a:prstGeom prst="ellipse">
            <a:avLst/>
          </a:prstGeom>
          <a:solidFill>
            <a:srgbClr val="2063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88720" y="2697480"/>
            <a:ext cx="4352544" cy="347472"/>
          </a:xfrm>
          <a:prstGeom prst="rect">
            <a:avLst/>
          </a:prstGeom>
          <a:noFill/>
        </p:spPr>
        <p:txBody>
          <a:bodyPr wrap="square" lIns="0" rIns="0" tIns="0" bIns="0" anchor="t">
            <a:spAutoFit/>
          </a:bodyPr>
          <a:lstStyle/>
          <a:p>
            <a:pPr algn="l">
              <a:lnSpc>
                <a:spcPct val="100000"/>
              </a:lnSpc>
              <a:spcBef>
                <a:spcPts val="0"/>
              </a:spcBef>
              <a:spcAft>
                <a:spcPts val="0"/>
              </a:spcAft>
            </a:pPr>
            <a:r>
              <a:rPr sz="1700" b="0" i="0">
                <a:solidFill>
                  <a:srgbClr val="24324A"/>
                </a:solidFill>
                <a:latin typeface="Aptos"/>
              </a:rPr>
              <a:t>proposes QAOA angle vectors</a:t>
            </a:r>
          </a:p>
        </p:txBody>
      </p:sp>
      <p:sp>
        <p:nvSpPr>
          <p:cNvPr id="13" name="Oval 12"/>
          <p:cNvSpPr/>
          <p:nvPr/>
        </p:nvSpPr>
        <p:spPr>
          <a:xfrm>
            <a:off x="996696" y="3337560"/>
            <a:ext cx="109728" cy="109728"/>
          </a:xfrm>
          <a:prstGeom prst="ellipse">
            <a:avLst/>
          </a:prstGeom>
          <a:solidFill>
            <a:srgbClr val="2063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88720" y="3227832"/>
            <a:ext cx="4352544" cy="347472"/>
          </a:xfrm>
          <a:prstGeom prst="rect">
            <a:avLst/>
          </a:prstGeom>
          <a:noFill/>
        </p:spPr>
        <p:txBody>
          <a:bodyPr wrap="square" lIns="0" rIns="0" tIns="0" bIns="0" anchor="t">
            <a:spAutoFit/>
          </a:bodyPr>
          <a:lstStyle/>
          <a:p>
            <a:pPr algn="l">
              <a:lnSpc>
                <a:spcPct val="100000"/>
              </a:lnSpc>
              <a:spcBef>
                <a:spcPts val="0"/>
              </a:spcBef>
              <a:spcAft>
                <a:spcPts val="0"/>
              </a:spcAft>
            </a:pPr>
            <a:r>
              <a:rPr sz="1700" b="0" i="0">
                <a:solidFill>
                  <a:srgbClr val="24324A"/>
                </a:solidFill>
                <a:latin typeface="Aptos"/>
              </a:rPr>
              <a:t>uses objective evaluations, not gradients</a:t>
            </a:r>
          </a:p>
        </p:txBody>
      </p:sp>
      <p:sp>
        <p:nvSpPr>
          <p:cNvPr id="15" name="Oval 14"/>
          <p:cNvSpPr/>
          <p:nvPr/>
        </p:nvSpPr>
        <p:spPr>
          <a:xfrm>
            <a:off x="996696" y="3867911"/>
            <a:ext cx="109728" cy="109728"/>
          </a:xfrm>
          <a:prstGeom prst="ellipse">
            <a:avLst/>
          </a:prstGeom>
          <a:solidFill>
            <a:srgbClr val="D14D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88720" y="3758183"/>
            <a:ext cx="4352544" cy="347472"/>
          </a:xfrm>
          <a:prstGeom prst="rect">
            <a:avLst/>
          </a:prstGeom>
          <a:noFill/>
        </p:spPr>
        <p:txBody>
          <a:bodyPr wrap="square" lIns="0" rIns="0" tIns="0" bIns="0" anchor="t">
            <a:spAutoFit/>
          </a:bodyPr>
          <a:lstStyle/>
          <a:p>
            <a:pPr algn="l">
              <a:lnSpc>
                <a:spcPct val="100000"/>
              </a:lnSpc>
              <a:spcBef>
                <a:spcPts val="0"/>
              </a:spcBef>
              <a:spcAft>
                <a:spcPts val="0"/>
              </a:spcAft>
            </a:pPr>
            <a:r>
              <a:rPr sz="1700" b="0" i="0">
                <a:solidFill>
                  <a:srgbClr val="24324A"/>
                </a:solidFill>
                <a:latin typeface="Aptos"/>
              </a:rPr>
              <a:t>does not choose routes directly</a:t>
            </a:r>
          </a:p>
        </p:txBody>
      </p:sp>
      <p:sp>
        <p:nvSpPr>
          <p:cNvPr id="17" name="Oval 16"/>
          <p:cNvSpPr/>
          <p:nvPr/>
        </p:nvSpPr>
        <p:spPr>
          <a:xfrm>
            <a:off x="996696" y="4398264"/>
            <a:ext cx="109728" cy="109728"/>
          </a:xfrm>
          <a:prstGeom prst="ellipse">
            <a:avLst/>
          </a:prstGeom>
          <a:solidFill>
            <a:srgbClr val="D14D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88720" y="4288536"/>
            <a:ext cx="4352544" cy="347472"/>
          </a:xfrm>
          <a:prstGeom prst="rect">
            <a:avLst/>
          </a:prstGeom>
          <a:noFill/>
        </p:spPr>
        <p:txBody>
          <a:bodyPr wrap="square" lIns="0" rIns="0" tIns="0" bIns="0" anchor="t">
            <a:spAutoFit/>
          </a:bodyPr>
          <a:lstStyle/>
          <a:p>
            <a:pPr algn="l">
              <a:lnSpc>
                <a:spcPct val="100000"/>
              </a:lnSpc>
              <a:spcBef>
                <a:spcPts val="0"/>
              </a:spcBef>
              <a:spcAft>
                <a:spcPts val="0"/>
              </a:spcAft>
            </a:pPr>
            <a:r>
              <a:rPr sz="1700" b="0" i="0">
                <a:solidFill>
                  <a:srgbClr val="24324A"/>
                </a:solidFill>
                <a:latin typeface="Aptos"/>
              </a:rPr>
              <a:t>budget limits are not convergence proofs</a:t>
            </a:r>
          </a:p>
        </p:txBody>
      </p:sp>
      <p:sp>
        <p:nvSpPr>
          <p:cNvPr id="19" name="Rounded Rectangle 18"/>
          <p:cNvSpPr/>
          <p:nvPr/>
        </p:nvSpPr>
        <p:spPr>
          <a:xfrm>
            <a:off x="6181344" y="1115568"/>
            <a:ext cx="5321808" cy="4462272"/>
          </a:xfrm>
          <a:prstGeom prst="round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64808" y="1389888"/>
            <a:ext cx="4754880" cy="274320"/>
          </a:xfrm>
          <a:prstGeom prst="rect">
            <a:avLst/>
          </a:prstGeom>
          <a:noFill/>
        </p:spPr>
        <p:txBody>
          <a:bodyPr wrap="square" lIns="0" rIns="0" tIns="0" bIns="0" anchor="t">
            <a:spAutoFit/>
          </a:bodyPr>
          <a:lstStyle/>
          <a:p>
            <a:pPr algn="ctr">
              <a:lnSpc>
                <a:spcPct val="100000"/>
              </a:lnSpc>
              <a:spcBef>
                <a:spcPts val="0"/>
              </a:spcBef>
              <a:spcAft>
                <a:spcPts val="0"/>
              </a:spcAft>
            </a:pPr>
            <a:r>
              <a:rPr sz="1200" b="1" i="0">
                <a:solidFill>
                  <a:srgbClr val="E9B949"/>
                </a:solidFill>
                <a:latin typeface="Aptos"/>
              </a:rPr>
              <a:t>WHY DEPTH IS HARD</a:t>
            </a:r>
          </a:p>
        </p:txBody>
      </p:sp>
      <p:pic>
        <p:nvPicPr>
          <p:cNvPr id="21" name="Picture 20" descr="eq_backup_params.png"/>
          <p:cNvPicPr>
            <a:picLocks noChangeAspect="1"/>
          </p:cNvPicPr>
          <p:nvPr/>
        </p:nvPicPr>
        <p:blipFill>
          <a:blip r:embed="rId2"/>
          <a:stretch>
            <a:fillRect/>
          </a:stretch>
        </p:blipFill>
        <p:spPr>
          <a:xfrm>
            <a:off x="7936992" y="1856231"/>
            <a:ext cx="1591056" cy="603504"/>
          </a:xfrm>
          <a:prstGeom prst="rect">
            <a:avLst/>
          </a:prstGeom>
        </p:spPr>
      </p:pic>
      <p:sp>
        <p:nvSpPr>
          <p:cNvPr id="22" name="TextBox 21"/>
          <p:cNvSpPr txBox="1"/>
          <p:nvPr/>
        </p:nvSpPr>
        <p:spPr>
          <a:xfrm>
            <a:off x="6547104" y="2697480"/>
            <a:ext cx="4590288" cy="420624"/>
          </a:xfrm>
          <a:prstGeom prst="rect">
            <a:avLst/>
          </a:prstGeom>
          <a:noFill/>
        </p:spPr>
        <p:txBody>
          <a:bodyPr wrap="square" lIns="0" rIns="0" tIns="0" bIns="0" anchor="t">
            <a:spAutoFit/>
          </a:bodyPr>
          <a:lstStyle/>
          <a:p>
            <a:pPr algn="ctr">
              <a:lnSpc>
                <a:spcPct val="100000"/>
              </a:lnSpc>
              <a:spcBef>
                <a:spcPts val="0"/>
              </a:spcBef>
              <a:spcAft>
                <a:spcPts val="0"/>
              </a:spcAft>
            </a:pPr>
            <a:r>
              <a:rPr sz="2200" b="1" i="0">
                <a:solidFill>
                  <a:srgbClr val="FFFFFF"/>
                </a:solidFill>
                <a:latin typeface="Aptos"/>
              </a:rPr>
              <a:t>p = 110  →  220 coupled angles</a:t>
            </a:r>
          </a:p>
        </p:txBody>
      </p:sp>
      <p:sp>
        <p:nvSpPr>
          <p:cNvPr id="23" name="TextBox 22"/>
          <p:cNvSpPr txBox="1"/>
          <p:nvPr/>
        </p:nvSpPr>
        <p:spPr>
          <a:xfrm>
            <a:off x="6547104" y="3355848"/>
            <a:ext cx="4590288" cy="420624"/>
          </a:xfrm>
          <a:prstGeom prst="rect">
            <a:avLst/>
          </a:prstGeom>
          <a:noFill/>
        </p:spPr>
        <p:txBody>
          <a:bodyPr wrap="square" lIns="0" rIns="0" tIns="0" bIns="0" anchor="t">
            <a:spAutoFit/>
          </a:bodyPr>
          <a:lstStyle/>
          <a:p>
            <a:pPr algn="ctr">
              <a:lnSpc>
                <a:spcPct val="100000"/>
              </a:lnSpc>
              <a:spcBef>
                <a:spcPts val="0"/>
              </a:spcBef>
              <a:spcAft>
                <a:spcPts val="0"/>
              </a:spcAft>
            </a:pPr>
            <a:r>
              <a:rPr sz="2000" b="0" i="0">
                <a:solidFill>
                  <a:srgbClr val="FFFFFF"/>
                </a:solidFill>
                <a:latin typeface="Aptos Mono"/>
              </a:rPr>
              <a:t>budget = max(120, 4p + 64)</a:t>
            </a:r>
          </a:p>
        </p:txBody>
      </p:sp>
      <p:sp>
        <p:nvSpPr>
          <p:cNvPr id="24" name="TextBox 23"/>
          <p:cNvSpPr txBox="1"/>
          <p:nvPr/>
        </p:nvSpPr>
        <p:spPr>
          <a:xfrm>
            <a:off x="6547104" y="3977639"/>
            <a:ext cx="4590288" cy="420624"/>
          </a:xfrm>
          <a:prstGeom prst="rect">
            <a:avLst/>
          </a:prstGeom>
          <a:noFill/>
        </p:spPr>
        <p:txBody>
          <a:bodyPr wrap="square" lIns="0" rIns="0" tIns="0" bIns="0" anchor="t">
            <a:spAutoFit/>
          </a:bodyPr>
          <a:lstStyle/>
          <a:p>
            <a:pPr algn="ctr">
              <a:lnSpc>
                <a:spcPct val="100000"/>
              </a:lnSpc>
              <a:spcBef>
                <a:spcPts val="0"/>
              </a:spcBef>
              <a:spcAft>
                <a:spcPts val="0"/>
              </a:spcAft>
            </a:pPr>
            <a:r>
              <a:rPr sz="2100" b="1" i="0">
                <a:solidFill>
                  <a:srgbClr val="E9B949"/>
                </a:solidFill>
                <a:latin typeface="Aptos"/>
              </a:rPr>
              <a:t>p = 110  →  504 evaluations</a:t>
            </a:r>
          </a:p>
        </p:txBody>
      </p:sp>
      <p:sp>
        <p:nvSpPr>
          <p:cNvPr id="25" name="TextBox 24"/>
          <p:cNvSpPr txBox="1"/>
          <p:nvPr/>
        </p:nvSpPr>
        <p:spPr>
          <a:xfrm>
            <a:off x="6547104" y="4663440"/>
            <a:ext cx="4590288" cy="420624"/>
          </a:xfrm>
          <a:prstGeom prst="rect">
            <a:avLst/>
          </a:prstGeom>
          <a:noFill/>
        </p:spPr>
        <p:txBody>
          <a:bodyPr wrap="square" lIns="0" rIns="0" tIns="0" bIns="0" anchor="t">
            <a:spAutoFit/>
          </a:bodyPr>
          <a:lstStyle/>
          <a:p>
            <a:pPr algn="ctr">
              <a:lnSpc>
                <a:spcPct val="100000"/>
              </a:lnSpc>
              <a:spcBef>
                <a:spcPts val="0"/>
              </a:spcBef>
              <a:spcAft>
                <a:spcPts val="0"/>
              </a:spcAft>
            </a:pPr>
            <a:r>
              <a:rPr sz="1600" b="0" i="0">
                <a:solidFill>
                  <a:srgbClr val="FFFFFF"/>
                </a:solidFill>
                <a:latin typeface="Aptos"/>
              </a:rPr>
              <a:t>All 220 depth-sweep cells reached their budget.</a:t>
            </a:r>
          </a:p>
        </p:txBody>
      </p:sp>
      <p:sp>
        <p:nvSpPr>
          <p:cNvPr id="26" name="TextBox 25"/>
          <p:cNvSpPr txBox="1"/>
          <p:nvPr/>
        </p:nvSpPr>
        <p:spPr>
          <a:xfrm>
            <a:off x="676656" y="5751576"/>
            <a:ext cx="10826496" cy="420624"/>
          </a:xfrm>
          <a:prstGeom prst="rect">
            <a:avLst/>
          </a:prstGeom>
          <a:noFill/>
        </p:spPr>
        <p:txBody>
          <a:bodyPr wrap="square" lIns="0" rIns="0" tIns="0" bIns="0" anchor="t">
            <a:spAutoFit/>
          </a:bodyPr>
          <a:lstStyle/>
          <a:p>
            <a:pPr algn="ctr">
              <a:lnSpc>
                <a:spcPct val="100000"/>
              </a:lnSpc>
              <a:spcBef>
                <a:spcPts val="0"/>
              </a:spcBef>
              <a:spcAft>
                <a:spcPts val="0"/>
              </a:spcAft>
            </a:pPr>
            <a:r>
              <a:rPr sz="1450" b="1" i="0">
                <a:solidFill>
                  <a:srgbClr val="14213D"/>
                </a:solidFill>
                <a:latin typeface="Aptos"/>
              </a:rPr>
              <a:t>A deeper ansatz can be more expressive while simultaneously being harder for the classical optimizer to tune.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548640" y="292608"/>
            <a:ext cx="11064240" cy="530352"/>
          </a:xfrm>
          <a:prstGeom prst="rect">
            <a:avLst/>
          </a:prstGeom>
          <a:noFill/>
        </p:spPr>
        <p:txBody>
          <a:bodyPr wrap="square" lIns="0" rIns="0" tIns="0" bIns="0" anchor="t">
            <a:spAutoFit/>
          </a:bodyPr>
          <a:lstStyle/>
          <a:p>
            <a:pPr algn="l">
              <a:lnSpc>
                <a:spcPct val="100000"/>
              </a:lnSpc>
              <a:spcBef>
                <a:spcPts val="0"/>
              </a:spcBef>
              <a:spcAft>
                <a:spcPts val="0"/>
              </a:spcAft>
            </a:pPr>
            <a:r>
              <a:rPr sz="2900" b="1" i="0">
                <a:solidFill>
                  <a:srgbClr val="14213D"/>
                </a:solidFill>
                <a:latin typeface="Aptos"/>
              </a:rPr>
              <a:t>Backup D — Global-Grover is not standard Grover Search</a:t>
            </a:r>
          </a:p>
        </p:txBody>
      </p:sp>
      <p:sp>
        <p:nvSpPr>
          <p:cNvPr id="3" name="Rectangle 2"/>
          <p:cNvSpPr/>
          <p:nvPr/>
        </p:nvSpPr>
        <p:spPr>
          <a:xfrm>
            <a:off x="548640" y="896112"/>
            <a:ext cx="658368" cy="41148"/>
          </a:xfrm>
          <a:prstGeom prst="rect">
            <a:avLst/>
          </a:prstGeom>
          <a:solidFill>
            <a:srgbClr val="2063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a:off x="502920" y="6528816"/>
            <a:ext cx="11183112" cy="0"/>
          </a:xfrm>
          <a:prstGeom prst="line">
            <a:avLst/>
          </a:prstGeom>
          <a:ln w="8890">
            <a:solidFill>
              <a:srgbClr val="E7ECF3"/>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30352" y="6574536"/>
            <a:ext cx="2194560" cy="164592"/>
          </a:xfrm>
          <a:prstGeom prst="rect">
            <a:avLst/>
          </a:prstGeom>
          <a:noFill/>
        </p:spPr>
        <p:txBody>
          <a:bodyPr wrap="square" lIns="0" rIns="0" tIns="0" bIns="0" anchor="t">
            <a:spAutoFit/>
          </a:bodyPr>
          <a:lstStyle/>
          <a:p>
            <a:pPr algn="l">
              <a:lnSpc>
                <a:spcPct val="100000"/>
              </a:lnSpc>
              <a:spcBef>
                <a:spcPts val="0"/>
              </a:spcBef>
              <a:spcAft>
                <a:spcPts val="0"/>
              </a:spcAft>
            </a:pPr>
            <a:r>
              <a:rPr sz="950" b="1" i="0">
                <a:solidFill>
                  <a:srgbClr val="617087"/>
                </a:solidFill>
                <a:latin typeface="Aptos"/>
              </a:rPr>
              <a:t>BACKUP</a:t>
            </a:r>
          </a:p>
        </p:txBody>
      </p:sp>
      <p:sp>
        <p:nvSpPr>
          <p:cNvPr id="6" name="TextBox 5"/>
          <p:cNvSpPr txBox="1"/>
          <p:nvPr/>
        </p:nvSpPr>
        <p:spPr>
          <a:xfrm>
            <a:off x="11173968" y="6556248"/>
            <a:ext cx="457200" cy="182880"/>
          </a:xfrm>
          <a:prstGeom prst="rect">
            <a:avLst/>
          </a:prstGeom>
          <a:noFill/>
        </p:spPr>
        <p:txBody>
          <a:bodyPr wrap="square" lIns="0" rIns="0" tIns="0" bIns="0" anchor="t">
            <a:spAutoFit/>
          </a:bodyPr>
          <a:lstStyle/>
          <a:p>
            <a:pPr algn="r">
              <a:lnSpc>
                <a:spcPct val="100000"/>
              </a:lnSpc>
              <a:spcBef>
                <a:spcPts val="0"/>
              </a:spcBef>
              <a:spcAft>
                <a:spcPts val="0"/>
              </a:spcAft>
            </a:pPr>
            <a:r>
              <a:rPr sz="1000" b="1" i="0">
                <a:solidFill>
                  <a:srgbClr val="617087"/>
                </a:solidFill>
                <a:latin typeface="Aptos"/>
              </a:rPr>
              <a:t>16</a:t>
            </a:r>
          </a:p>
        </p:txBody>
      </p:sp>
      <p:sp>
        <p:nvSpPr>
          <p:cNvPr id="7" name="Rounded Rectangle 6"/>
          <p:cNvSpPr/>
          <p:nvPr/>
        </p:nvSpPr>
        <p:spPr>
          <a:xfrm>
            <a:off x="676656" y="1097280"/>
            <a:ext cx="5184648" cy="530352"/>
          </a:xfrm>
          <a:prstGeom prst="roundRect">
            <a:avLst/>
          </a:prstGeom>
          <a:solidFill>
            <a:srgbClr val="E7F2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9536" y="1234440"/>
            <a:ext cx="4818888" cy="256032"/>
          </a:xfrm>
          <a:prstGeom prst="rect">
            <a:avLst/>
          </a:prstGeom>
          <a:noFill/>
        </p:spPr>
        <p:txBody>
          <a:bodyPr wrap="square" lIns="0" rIns="0" tIns="0" bIns="0" anchor="t">
            <a:spAutoFit/>
          </a:bodyPr>
          <a:lstStyle/>
          <a:p>
            <a:pPr algn="ctr">
              <a:lnSpc>
                <a:spcPct val="100000"/>
              </a:lnSpc>
              <a:spcBef>
                <a:spcPts val="0"/>
              </a:spcBef>
              <a:spcAft>
                <a:spcPts val="0"/>
              </a:spcAft>
            </a:pPr>
            <a:r>
              <a:rPr sz="1600" b="1" i="0">
                <a:solidFill>
                  <a:srgbClr val="20639B"/>
                </a:solidFill>
                <a:latin typeface="Aptos"/>
              </a:rPr>
              <a:t>STANDARD GROVER SEARCH</a:t>
            </a:r>
          </a:p>
        </p:txBody>
      </p:sp>
      <p:sp>
        <p:nvSpPr>
          <p:cNvPr id="9" name="Rounded Rectangle 8"/>
          <p:cNvSpPr/>
          <p:nvPr/>
        </p:nvSpPr>
        <p:spPr>
          <a:xfrm>
            <a:off x="6272784" y="1097280"/>
            <a:ext cx="5230368" cy="530352"/>
          </a:xfrm>
          <a:prstGeom prst="roundRect">
            <a:avLst/>
          </a:prstGeom>
          <a:solidFill>
            <a:srgbClr val="FAE9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5664" y="1234440"/>
            <a:ext cx="4864608" cy="256032"/>
          </a:xfrm>
          <a:prstGeom prst="rect">
            <a:avLst/>
          </a:prstGeom>
          <a:noFill/>
        </p:spPr>
        <p:txBody>
          <a:bodyPr wrap="square" lIns="0" rIns="0" tIns="0" bIns="0" anchor="t">
            <a:spAutoFit/>
          </a:bodyPr>
          <a:lstStyle/>
          <a:p>
            <a:pPr algn="ctr">
              <a:lnSpc>
                <a:spcPct val="100000"/>
              </a:lnSpc>
              <a:spcBef>
                <a:spcPts val="0"/>
              </a:spcBef>
              <a:spcAft>
                <a:spcPts val="0"/>
              </a:spcAft>
            </a:pPr>
            <a:r>
              <a:rPr sz="1600" b="1" i="0">
                <a:solidFill>
                  <a:srgbClr val="D14D5A"/>
                </a:solidFill>
                <a:latin typeface="Aptos"/>
              </a:rPr>
              <a:t>THIS GLOBAL-GROVER QAOA</a:t>
            </a:r>
          </a:p>
        </p:txBody>
      </p:sp>
      <p:sp>
        <p:nvSpPr>
          <p:cNvPr id="11" name="Rounded Rectangle 10"/>
          <p:cNvSpPr/>
          <p:nvPr/>
        </p:nvSpPr>
        <p:spPr>
          <a:xfrm>
            <a:off x="676656" y="1847088"/>
            <a:ext cx="10826496" cy="53035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1938528"/>
            <a:ext cx="1554480" cy="347472"/>
          </a:xfrm>
          <a:prstGeom prst="rect">
            <a:avLst/>
          </a:prstGeom>
          <a:noFill/>
        </p:spPr>
        <p:txBody>
          <a:bodyPr wrap="square" lIns="0" rIns="0" tIns="0" bIns="0" anchor="t">
            <a:spAutoFit/>
          </a:bodyPr>
          <a:lstStyle/>
          <a:p>
            <a:pPr algn="l">
              <a:lnSpc>
                <a:spcPct val="100000"/>
              </a:lnSpc>
              <a:spcBef>
                <a:spcPts val="0"/>
              </a:spcBef>
              <a:spcAft>
                <a:spcPts val="0"/>
              </a:spcAft>
            </a:pPr>
            <a:r>
              <a:rPr sz="1150" b="1" i="0">
                <a:solidFill>
                  <a:srgbClr val="617087"/>
                </a:solidFill>
                <a:latin typeface="Aptos"/>
              </a:rPr>
              <a:t>Goal</a:t>
            </a:r>
          </a:p>
        </p:txBody>
      </p:sp>
      <p:sp>
        <p:nvSpPr>
          <p:cNvPr id="13" name="TextBox 12"/>
          <p:cNvSpPr txBox="1"/>
          <p:nvPr/>
        </p:nvSpPr>
        <p:spPr>
          <a:xfrm>
            <a:off x="2377440" y="1938528"/>
            <a:ext cx="3246120" cy="310896"/>
          </a:xfrm>
          <a:prstGeom prst="rect">
            <a:avLst/>
          </a:prstGeom>
          <a:noFill/>
        </p:spPr>
        <p:txBody>
          <a:bodyPr wrap="square" lIns="0" rIns="0" tIns="0" bIns="0" anchor="t">
            <a:spAutoFit/>
          </a:bodyPr>
          <a:lstStyle/>
          <a:p>
            <a:pPr algn="l">
              <a:lnSpc>
                <a:spcPct val="100000"/>
              </a:lnSpc>
              <a:spcBef>
                <a:spcPts val="0"/>
              </a:spcBef>
              <a:spcAft>
                <a:spcPts val="0"/>
              </a:spcAft>
            </a:pPr>
            <a:r>
              <a:rPr sz="1500" b="0" i="0">
                <a:solidFill>
                  <a:srgbClr val="24324A"/>
                </a:solidFill>
                <a:latin typeface="Aptos"/>
              </a:rPr>
              <a:t>Find a marked state</a:t>
            </a:r>
          </a:p>
        </p:txBody>
      </p:sp>
      <p:sp>
        <p:nvSpPr>
          <p:cNvPr id="14" name="TextBox 13"/>
          <p:cNvSpPr txBox="1"/>
          <p:nvPr/>
        </p:nvSpPr>
        <p:spPr>
          <a:xfrm>
            <a:off x="6382512" y="1938528"/>
            <a:ext cx="4882896" cy="310896"/>
          </a:xfrm>
          <a:prstGeom prst="rect">
            <a:avLst/>
          </a:prstGeom>
          <a:noFill/>
        </p:spPr>
        <p:txBody>
          <a:bodyPr wrap="square" lIns="0" rIns="0" tIns="0" bIns="0" anchor="t">
            <a:spAutoFit/>
          </a:bodyPr>
          <a:lstStyle/>
          <a:p>
            <a:pPr algn="l">
              <a:lnSpc>
                <a:spcPct val="100000"/>
              </a:lnSpc>
              <a:spcBef>
                <a:spcPts val="0"/>
              </a:spcBef>
              <a:spcAft>
                <a:spcPts val="0"/>
              </a:spcAft>
            </a:pPr>
            <a:r>
              <a:rPr sz="1500" b="0" i="0">
                <a:solidFill>
                  <a:srgbClr val="24324A"/>
                </a:solidFill>
                <a:latin typeface="Aptos"/>
              </a:rPr>
              <a:t>Optimize a cost distribution</a:t>
            </a:r>
          </a:p>
        </p:txBody>
      </p:sp>
      <p:sp>
        <p:nvSpPr>
          <p:cNvPr id="15" name="Rounded Rectangle 14"/>
          <p:cNvSpPr/>
          <p:nvPr/>
        </p:nvSpPr>
        <p:spPr>
          <a:xfrm>
            <a:off x="676656" y="2487168"/>
            <a:ext cx="10826496" cy="530352"/>
          </a:xfrm>
          <a:prstGeom prst="roundRect">
            <a:avLst/>
          </a:prstGeom>
          <a:solidFill>
            <a:srgbClr val="F0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2578608"/>
            <a:ext cx="1554480" cy="347472"/>
          </a:xfrm>
          <a:prstGeom prst="rect">
            <a:avLst/>
          </a:prstGeom>
          <a:noFill/>
        </p:spPr>
        <p:txBody>
          <a:bodyPr wrap="square" lIns="0" rIns="0" tIns="0" bIns="0" anchor="t">
            <a:spAutoFit/>
          </a:bodyPr>
          <a:lstStyle/>
          <a:p>
            <a:pPr algn="l">
              <a:lnSpc>
                <a:spcPct val="100000"/>
              </a:lnSpc>
              <a:spcBef>
                <a:spcPts val="0"/>
              </a:spcBef>
              <a:spcAft>
                <a:spcPts val="0"/>
              </a:spcAft>
            </a:pPr>
            <a:r>
              <a:rPr sz="1150" b="1" i="0">
                <a:solidFill>
                  <a:srgbClr val="617087"/>
                </a:solidFill>
                <a:latin typeface="Aptos"/>
              </a:rPr>
              <a:t>Problem phase</a:t>
            </a:r>
          </a:p>
        </p:txBody>
      </p:sp>
      <p:sp>
        <p:nvSpPr>
          <p:cNvPr id="17" name="TextBox 16"/>
          <p:cNvSpPr txBox="1"/>
          <p:nvPr/>
        </p:nvSpPr>
        <p:spPr>
          <a:xfrm>
            <a:off x="2377440" y="2578608"/>
            <a:ext cx="3246120" cy="310896"/>
          </a:xfrm>
          <a:prstGeom prst="rect">
            <a:avLst/>
          </a:prstGeom>
          <a:noFill/>
        </p:spPr>
        <p:txBody>
          <a:bodyPr wrap="square" lIns="0" rIns="0" tIns="0" bIns="0" anchor="t">
            <a:spAutoFit/>
          </a:bodyPr>
          <a:lstStyle/>
          <a:p>
            <a:pPr algn="l">
              <a:lnSpc>
                <a:spcPct val="100000"/>
              </a:lnSpc>
              <a:spcBef>
                <a:spcPts val="0"/>
              </a:spcBef>
              <a:spcAft>
                <a:spcPts val="0"/>
              </a:spcAft>
            </a:pPr>
            <a:r>
              <a:rPr sz="1500" b="0" i="0">
                <a:solidFill>
                  <a:srgbClr val="24324A"/>
                </a:solidFill>
                <a:latin typeface="Aptos"/>
              </a:rPr>
              <a:t>Binary oracle marks target</a:t>
            </a:r>
          </a:p>
        </p:txBody>
      </p:sp>
      <p:sp>
        <p:nvSpPr>
          <p:cNvPr id="18" name="TextBox 17"/>
          <p:cNvSpPr txBox="1"/>
          <p:nvPr/>
        </p:nvSpPr>
        <p:spPr>
          <a:xfrm>
            <a:off x="6382512" y="2578608"/>
            <a:ext cx="4882896" cy="310896"/>
          </a:xfrm>
          <a:prstGeom prst="rect">
            <a:avLst/>
          </a:prstGeom>
          <a:noFill/>
        </p:spPr>
        <p:txBody>
          <a:bodyPr wrap="square" lIns="0" rIns="0" tIns="0" bIns="0" anchor="t">
            <a:spAutoFit/>
          </a:bodyPr>
          <a:lstStyle/>
          <a:p>
            <a:pPr algn="l">
              <a:lnSpc>
                <a:spcPct val="100000"/>
              </a:lnSpc>
              <a:spcBef>
                <a:spcPts val="0"/>
              </a:spcBef>
              <a:spcAft>
                <a:spcPts val="0"/>
              </a:spcAft>
            </a:pPr>
            <a:r>
              <a:rPr sz="1500" b="0" i="0">
                <a:solidFill>
                  <a:srgbClr val="24324A"/>
                </a:solidFill>
                <a:latin typeface="Aptos"/>
              </a:rPr>
              <a:t>Continuous e⁻ⁱᵞᴴᶜ cost phase</a:t>
            </a:r>
          </a:p>
        </p:txBody>
      </p:sp>
      <p:sp>
        <p:nvSpPr>
          <p:cNvPr id="19" name="Rounded Rectangle 18"/>
          <p:cNvSpPr/>
          <p:nvPr/>
        </p:nvSpPr>
        <p:spPr>
          <a:xfrm>
            <a:off x="676656" y="3127248"/>
            <a:ext cx="10826496" cy="53035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3218688"/>
            <a:ext cx="1554480" cy="347472"/>
          </a:xfrm>
          <a:prstGeom prst="rect">
            <a:avLst/>
          </a:prstGeom>
          <a:noFill/>
        </p:spPr>
        <p:txBody>
          <a:bodyPr wrap="square" lIns="0" rIns="0" tIns="0" bIns="0" anchor="t">
            <a:spAutoFit/>
          </a:bodyPr>
          <a:lstStyle/>
          <a:p>
            <a:pPr algn="l">
              <a:lnSpc>
                <a:spcPct val="100000"/>
              </a:lnSpc>
              <a:spcBef>
                <a:spcPts val="0"/>
              </a:spcBef>
              <a:spcAft>
                <a:spcPts val="0"/>
              </a:spcAft>
            </a:pPr>
            <a:r>
              <a:rPr sz="1150" b="1" i="0">
                <a:solidFill>
                  <a:srgbClr val="617087"/>
                </a:solidFill>
                <a:latin typeface="Aptos"/>
              </a:rPr>
              <a:t>Mixing step</a:t>
            </a:r>
          </a:p>
        </p:txBody>
      </p:sp>
      <p:sp>
        <p:nvSpPr>
          <p:cNvPr id="21" name="TextBox 20"/>
          <p:cNvSpPr txBox="1"/>
          <p:nvPr/>
        </p:nvSpPr>
        <p:spPr>
          <a:xfrm>
            <a:off x="2377440" y="3218688"/>
            <a:ext cx="3246120" cy="310896"/>
          </a:xfrm>
          <a:prstGeom prst="rect">
            <a:avLst/>
          </a:prstGeom>
          <a:noFill/>
        </p:spPr>
        <p:txBody>
          <a:bodyPr wrap="square" lIns="0" rIns="0" tIns="0" bIns="0" anchor="t">
            <a:spAutoFit/>
          </a:bodyPr>
          <a:lstStyle/>
          <a:p>
            <a:pPr algn="l">
              <a:lnSpc>
                <a:spcPct val="100000"/>
              </a:lnSpc>
              <a:spcBef>
                <a:spcPts val="0"/>
              </a:spcBef>
              <a:spcAft>
                <a:spcPts val="0"/>
              </a:spcAft>
            </a:pPr>
            <a:r>
              <a:rPr sz="1500" b="0" i="0">
                <a:solidFill>
                  <a:srgbClr val="24324A"/>
                </a:solidFill>
                <a:latin typeface="Aptos"/>
              </a:rPr>
              <a:t>Fixed diffusion</a:t>
            </a:r>
          </a:p>
        </p:txBody>
      </p:sp>
      <p:sp>
        <p:nvSpPr>
          <p:cNvPr id="22" name="TextBox 21"/>
          <p:cNvSpPr txBox="1"/>
          <p:nvPr/>
        </p:nvSpPr>
        <p:spPr>
          <a:xfrm>
            <a:off x="6382512" y="3218688"/>
            <a:ext cx="4882896" cy="310896"/>
          </a:xfrm>
          <a:prstGeom prst="rect">
            <a:avLst/>
          </a:prstGeom>
          <a:noFill/>
        </p:spPr>
        <p:txBody>
          <a:bodyPr wrap="square" lIns="0" rIns="0" tIns="0" bIns="0" anchor="t">
            <a:spAutoFit/>
          </a:bodyPr>
          <a:lstStyle/>
          <a:p>
            <a:pPr algn="l">
              <a:lnSpc>
                <a:spcPct val="100000"/>
              </a:lnSpc>
              <a:spcBef>
                <a:spcPts val="0"/>
              </a:spcBef>
              <a:spcAft>
                <a:spcPts val="0"/>
              </a:spcAft>
            </a:pPr>
            <a:r>
              <a:rPr sz="1500" b="0" i="0">
                <a:solidFill>
                  <a:srgbClr val="24324A"/>
                </a:solidFill>
                <a:latin typeface="Aptos"/>
              </a:rPr>
              <a:t>Variational rank-one mixer</a:t>
            </a:r>
          </a:p>
        </p:txBody>
      </p:sp>
      <p:sp>
        <p:nvSpPr>
          <p:cNvPr id="23" name="Rounded Rectangle 22"/>
          <p:cNvSpPr/>
          <p:nvPr/>
        </p:nvSpPr>
        <p:spPr>
          <a:xfrm>
            <a:off x="676656" y="3767327"/>
            <a:ext cx="10826496" cy="530352"/>
          </a:xfrm>
          <a:prstGeom prst="roundRect">
            <a:avLst/>
          </a:prstGeom>
          <a:solidFill>
            <a:srgbClr val="F0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 y="3858767"/>
            <a:ext cx="1554480" cy="347472"/>
          </a:xfrm>
          <a:prstGeom prst="rect">
            <a:avLst/>
          </a:prstGeom>
          <a:noFill/>
        </p:spPr>
        <p:txBody>
          <a:bodyPr wrap="square" lIns="0" rIns="0" tIns="0" bIns="0" anchor="t">
            <a:spAutoFit/>
          </a:bodyPr>
          <a:lstStyle/>
          <a:p>
            <a:pPr algn="l">
              <a:lnSpc>
                <a:spcPct val="100000"/>
              </a:lnSpc>
              <a:spcBef>
                <a:spcPts val="0"/>
              </a:spcBef>
              <a:spcAft>
                <a:spcPts val="0"/>
              </a:spcAft>
            </a:pPr>
            <a:r>
              <a:rPr sz="1150" b="1" i="0">
                <a:solidFill>
                  <a:srgbClr val="617087"/>
                </a:solidFill>
                <a:latin typeface="Aptos"/>
              </a:rPr>
              <a:t>Angles</a:t>
            </a:r>
          </a:p>
        </p:txBody>
      </p:sp>
      <p:sp>
        <p:nvSpPr>
          <p:cNvPr id="25" name="TextBox 24"/>
          <p:cNvSpPr txBox="1"/>
          <p:nvPr/>
        </p:nvSpPr>
        <p:spPr>
          <a:xfrm>
            <a:off x="2377440" y="3858767"/>
            <a:ext cx="3246120" cy="310896"/>
          </a:xfrm>
          <a:prstGeom prst="rect">
            <a:avLst/>
          </a:prstGeom>
          <a:noFill/>
        </p:spPr>
        <p:txBody>
          <a:bodyPr wrap="square" lIns="0" rIns="0" tIns="0" bIns="0" anchor="t">
            <a:spAutoFit/>
          </a:bodyPr>
          <a:lstStyle/>
          <a:p>
            <a:pPr algn="l">
              <a:lnSpc>
                <a:spcPct val="100000"/>
              </a:lnSpc>
              <a:spcBef>
                <a:spcPts val="0"/>
              </a:spcBef>
              <a:spcAft>
                <a:spcPts val="0"/>
              </a:spcAft>
            </a:pPr>
            <a:r>
              <a:rPr sz="1500" b="0" i="0">
                <a:solidFill>
                  <a:srgbClr val="24324A"/>
                </a:solidFill>
                <a:latin typeface="Aptos"/>
              </a:rPr>
              <a:t>Prescribed iterations</a:t>
            </a:r>
          </a:p>
        </p:txBody>
      </p:sp>
      <p:sp>
        <p:nvSpPr>
          <p:cNvPr id="26" name="TextBox 25"/>
          <p:cNvSpPr txBox="1"/>
          <p:nvPr/>
        </p:nvSpPr>
        <p:spPr>
          <a:xfrm>
            <a:off x="6382512" y="3858767"/>
            <a:ext cx="4882896" cy="310896"/>
          </a:xfrm>
          <a:prstGeom prst="rect">
            <a:avLst/>
          </a:prstGeom>
          <a:noFill/>
        </p:spPr>
        <p:txBody>
          <a:bodyPr wrap="square" lIns="0" rIns="0" tIns="0" bIns="0" anchor="t">
            <a:spAutoFit/>
          </a:bodyPr>
          <a:lstStyle/>
          <a:p>
            <a:pPr algn="l">
              <a:lnSpc>
                <a:spcPct val="100000"/>
              </a:lnSpc>
              <a:spcBef>
                <a:spcPts val="0"/>
              </a:spcBef>
              <a:spcAft>
                <a:spcPts val="0"/>
              </a:spcAft>
            </a:pPr>
            <a:r>
              <a:rPr sz="1500" b="0" i="0">
                <a:solidFill>
                  <a:srgbClr val="24324A"/>
                </a:solidFill>
                <a:latin typeface="Aptos"/>
              </a:rPr>
              <a:t>γ and β optimized by COBYLA</a:t>
            </a:r>
          </a:p>
        </p:txBody>
      </p:sp>
      <p:sp>
        <p:nvSpPr>
          <p:cNvPr id="27" name="Rounded Rectangle 26"/>
          <p:cNvSpPr/>
          <p:nvPr/>
        </p:nvSpPr>
        <p:spPr>
          <a:xfrm>
            <a:off x="676656" y="4407408"/>
            <a:ext cx="10826496" cy="53035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4498848"/>
            <a:ext cx="1554480" cy="347472"/>
          </a:xfrm>
          <a:prstGeom prst="rect">
            <a:avLst/>
          </a:prstGeom>
          <a:noFill/>
        </p:spPr>
        <p:txBody>
          <a:bodyPr wrap="square" lIns="0" rIns="0" tIns="0" bIns="0" anchor="t">
            <a:spAutoFit/>
          </a:bodyPr>
          <a:lstStyle/>
          <a:p>
            <a:pPr algn="l">
              <a:lnSpc>
                <a:spcPct val="100000"/>
              </a:lnSpc>
              <a:spcBef>
                <a:spcPts val="0"/>
              </a:spcBef>
              <a:spcAft>
                <a:spcPts val="0"/>
              </a:spcAft>
            </a:pPr>
            <a:r>
              <a:rPr sz="1150" b="1" i="0">
                <a:solidFill>
                  <a:srgbClr val="617087"/>
                </a:solidFill>
                <a:latin typeface="Aptos"/>
              </a:rPr>
              <a:t>Optimal route known?</a:t>
            </a:r>
          </a:p>
        </p:txBody>
      </p:sp>
      <p:sp>
        <p:nvSpPr>
          <p:cNvPr id="29" name="TextBox 28"/>
          <p:cNvSpPr txBox="1"/>
          <p:nvPr/>
        </p:nvSpPr>
        <p:spPr>
          <a:xfrm>
            <a:off x="2377440" y="4498848"/>
            <a:ext cx="3246120" cy="310896"/>
          </a:xfrm>
          <a:prstGeom prst="rect">
            <a:avLst/>
          </a:prstGeom>
          <a:noFill/>
        </p:spPr>
        <p:txBody>
          <a:bodyPr wrap="square" lIns="0" rIns="0" tIns="0" bIns="0" anchor="t">
            <a:spAutoFit/>
          </a:bodyPr>
          <a:lstStyle/>
          <a:p>
            <a:pPr algn="l">
              <a:lnSpc>
                <a:spcPct val="100000"/>
              </a:lnSpc>
              <a:spcBef>
                <a:spcPts val="0"/>
              </a:spcBef>
              <a:spcAft>
                <a:spcPts val="0"/>
              </a:spcAft>
            </a:pPr>
            <a:r>
              <a:rPr sz="1500" b="0" i="0">
                <a:solidFill>
                  <a:srgbClr val="24324A"/>
                </a:solidFill>
                <a:latin typeface="Aptos"/>
              </a:rPr>
              <a:t>Oracle supplies marking</a:t>
            </a:r>
          </a:p>
        </p:txBody>
      </p:sp>
      <p:sp>
        <p:nvSpPr>
          <p:cNvPr id="30" name="TextBox 29"/>
          <p:cNvSpPr txBox="1"/>
          <p:nvPr/>
        </p:nvSpPr>
        <p:spPr>
          <a:xfrm>
            <a:off x="6382512" y="4498848"/>
            <a:ext cx="4882896" cy="310896"/>
          </a:xfrm>
          <a:prstGeom prst="rect">
            <a:avLst/>
          </a:prstGeom>
          <a:noFill/>
        </p:spPr>
        <p:txBody>
          <a:bodyPr wrap="square" lIns="0" rIns="0" tIns="0" bIns="0" anchor="t">
            <a:spAutoFit/>
          </a:bodyPr>
          <a:lstStyle/>
          <a:p>
            <a:pPr algn="l">
              <a:lnSpc>
                <a:spcPct val="100000"/>
              </a:lnSpc>
              <a:spcBef>
                <a:spcPts val="0"/>
              </a:spcBef>
              <a:spcAft>
                <a:spcPts val="0"/>
              </a:spcAft>
            </a:pPr>
            <a:r>
              <a:rPr sz="1500" b="0" i="0">
                <a:solidFill>
                  <a:srgbClr val="24324A"/>
                </a:solidFill>
                <a:latin typeface="Aptos"/>
              </a:rPr>
              <a:t>No optimum-marking oracle</a:t>
            </a:r>
          </a:p>
        </p:txBody>
      </p:sp>
      <p:sp>
        <p:nvSpPr>
          <p:cNvPr id="31" name="Rounded Rectangle 30"/>
          <p:cNvSpPr/>
          <p:nvPr/>
        </p:nvSpPr>
        <p:spPr>
          <a:xfrm>
            <a:off x="676656" y="5047488"/>
            <a:ext cx="10826496" cy="530352"/>
          </a:xfrm>
          <a:prstGeom prst="roundRect">
            <a:avLst/>
          </a:prstGeom>
          <a:solidFill>
            <a:srgbClr val="F0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960" y="5138927"/>
            <a:ext cx="1554480" cy="347472"/>
          </a:xfrm>
          <a:prstGeom prst="rect">
            <a:avLst/>
          </a:prstGeom>
          <a:noFill/>
        </p:spPr>
        <p:txBody>
          <a:bodyPr wrap="square" lIns="0" rIns="0" tIns="0" bIns="0" anchor="t">
            <a:spAutoFit/>
          </a:bodyPr>
          <a:lstStyle/>
          <a:p>
            <a:pPr algn="l">
              <a:lnSpc>
                <a:spcPct val="100000"/>
              </a:lnSpc>
              <a:spcBef>
                <a:spcPts val="0"/>
              </a:spcBef>
              <a:spcAft>
                <a:spcPts val="0"/>
              </a:spcAft>
            </a:pPr>
            <a:r>
              <a:rPr sz="1150" b="1" i="0">
                <a:solidFill>
                  <a:srgbClr val="617087"/>
                </a:solidFill>
                <a:latin typeface="Aptos"/>
              </a:rPr>
              <a:t>Feasibility</a:t>
            </a:r>
          </a:p>
        </p:txBody>
      </p:sp>
      <p:sp>
        <p:nvSpPr>
          <p:cNvPr id="33" name="TextBox 32"/>
          <p:cNvSpPr txBox="1"/>
          <p:nvPr/>
        </p:nvSpPr>
        <p:spPr>
          <a:xfrm>
            <a:off x="2377440" y="5138927"/>
            <a:ext cx="3246120" cy="310896"/>
          </a:xfrm>
          <a:prstGeom prst="rect">
            <a:avLst/>
          </a:prstGeom>
          <a:noFill/>
        </p:spPr>
        <p:txBody>
          <a:bodyPr wrap="square" lIns="0" rIns="0" tIns="0" bIns="0" anchor="t">
            <a:spAutoFit/>
          </a:bodyPr>
          <a:lstStyle/>
          <a:p>
            <a:pPr algn="l">
              <a:lnSpc>
                <a:spcPct val="100000"/>
              </a:lnSpc>
              <a:spcBef>
                <a:spcPts val="0"/>
              </a:spcBef>
              <a:spcAft>
                <a:spcPts val="0"/>
              </a:spcAft>
            </a:pPr>
            <a:r>
              <a:rPr sz="1500" b="0" i="0">
                <a:solidFill>
                  <a:srgbClr val="24324A"/>
                </a:solidFill>
                <a:latin typeface="Aptos"/>
              </a:rPr>
              <a:t>Depends on oracle/domain</a:t>
            </a:r>
          </a:p>
        </p:txBody>
      </p:sp>
      <p:sp>
        <p:nvSpPr>
          <p:cNvPr id="34" name="TextBox 33"/>
          <p:cNvSpPr txBox="1"/>
          <p:nvPr/>
        </p:nvSpPr>
        <p:spPr>
          <a:xfrm>
            <a:off x="6382512" y="5138927"/>
            <a:ext cx="4882896" cy="310896"/>
          </a:xfrm>
          <a:prstGeom prst="rect">
            <a:avLst/>
          </a:prstGeom>
          <a:noFill/>
        </p:spPr>
        <p:txBody>
          <a:bodyPr wrap="square" lIns="0" rIns="0" tIns="0" bIns="0" anchor="t">
            <a:spAutoFit/>
          </a:bodyPr>
          <a:lstStyle/>
          <a:p>
            <a:pPr algn="l">
              <a:lnSpc>
                <a:spcPct val="100000"/>
              </a:lnSpc>
              <a:spcBef>
                <a:spcPts val="0"/>
              </a:spcBef>
              <a:spcAft>
                <a:spcPts val="0"/>
              </a:spcAft>
            </a:pPr>
            <a:r>
              <a:rPr sz="1500" b="0" i="0">
                <a:solidFill>
                  <a:srgbClr val="24324A"/>
                </a:solidFill>
                <a:latin typeface="Aptos"/>
              </a:rPr>
              <a:t>Full 16,384-state space; not preserved</a:t>
            </a:r>
          </a:p>
        </p:txBody>
      </p:sp>
      <p:sp>
        <p:nvSpPr>
          <p:cNvPr id="35" name="Rounded Rectangle 34"/>
          <p:cNvSpPr/>
          <p:nvPr/>
        </p:nvSpPr>
        <p:spPr>
          <a:xfrm>
            <a:off x="676656" y="5779008"/>
            <a:ext cx="10826496" cy="438912"/>
          </a:xfrm>
          <a:prstGeom prst="roundRect">
            <a:avLst/>
          </a:prstGeom>
          <a:solidFill>
            <a:srgbClr val="FFF5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96112" y="5797296"/>
            <a:ext cx="10387584" cy="384048"/>
          </a:xfrm>
          <a:prstGeom prst="rect">
            <a:avLst/>
          </a:prstGeom>
          <a:noFill/>
        </p:spPr>
        <p:txBody>
          <a:bodyPr wrap="square" lIns="0" rIns="0" tIns="0" bIns="0" anchor="t">
            <a:spAutoFit/>
          </a:bodyPr>
          <a:lstStyle/>
          <a:p>
            <a:pPr algn="ctr">
              <a:lnSpc>
                <a:spcPct val="100000"/>
              </a:lnSpc>
              <a:spcBef>
                <a:spcPts val="0"/>
              </a:spcBef>
              <a:spcAft>
                <a:spcPts val="0"/>
              </a:spcAft>
            </a:pPr>
            <a:r>
              <a:rPr sz="1350" b="1" i="0">
                <a:solidFill>
                  <a:srgbClr val="14213D"/>
                </a:solidFill>
                <a:latin typeface="Aptos"/>
              </a:rPr>
              <a:t>The familiar π/4·√N iteration count is exploratory context only; it is not a prediction for this variational continuous-cost circuit.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548640" y="292608"/>
            <a:ext cx="11064240" cy="530352"/>
          </a:xfrm>
          <a:prstGeom prst="rect">
            <a:avLst/>
          </a:prstGeom>
          <a:noFill/>
        </p:spPr>
        <p:txBody>
          <a:bodyPr wrap="square" lIns="0" rIns="0" tIns="0" bIns="0" anchor="t">
            <a:spAutoFit/>
          </a:bodyPr>
          <a:lstStyle/>
          <a:p>
            <a:pPr algn="l">
              <a:lnSpc>
                <a:spcPct val="100000"/>
              </a:lnSpc>
              <a:spcBef>
                <a:spcPts val="0"/>
              </a:spcBef>
              <a:spcAft>
                <a:spcPts val="0"/>
              </a:spcAft>
            </a:pPr>
            <a:r>
              <a:rPr sz="2900" b="1" i="0">
                <a:solidFill>
                  <a:srgbClr val="14213D"/>
                </a:solidFill>
                <a:latin typeface="Aptos"/>
              </a:rPr>
              <a:t>Backup E — CVaR robustness study</a:t>
            </a:r>
          </a:p>
        </p:txBody>
      </p:sp>
      <p:sp>
        <p:nvSpPr>
          <p:cNvPr id="3" name="Rectangle 2"/>
          <p:cNvSpPr/>
          <p:nvPr/>
        </p:nvSpPr>
        <p:spPr>
          <a:xfrm>
            <a:off x="548640" y="896112"/>
            <a:ext cx="658368" cy="41148"/>
          </a:xfrm>
          <a:prstGeom prst="rect">
            <a:avLst/>
          </a:prstGeom>
          <a:solidFill>
            <a:srgbClr val="2063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a:off x="502920" y="6528816"/>
            <a:ext cx="11183112" cy="0"/>
          </a:xfrm>
          <a:prstGeom prst="line">
            <a:avLst/>
          </a:prstGeom>
          <a:ln w="8890">
            <a:solidFill>
              <a:srgbClr val="E7ECF3"/>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30352" y="6574536"/>
            <a:ext cx="2194560" cy="164592"/>
          </a:xfrm>
          <a:prstGeom prst="rect">
            <a:avLst/>
          </a:prstGeom>
          <a:noFill/>
        </p:spPr>
        <p:txBody>
          <a:bodyPr wrap="square" lIns="0" rIns="0" tIns="0" bIns="0" anchor="t">
            <a:spAutoFit/>
          </a:bodyPr>
          <a:lstStyle/>
          <a:p>
            <a:pPr algn="l">
              <a:lnSpc>
                <a:spcPct val="100000"/>
              </a:lnSpc>
              <a:spcBef>
                <a:spcPts val="0"/>
              </a:spcBef>
              <a:spcAft>
                <a:spcPts val="0"/>
              </a:spcAft>
            </a:pPr>
            <a:r>
              <a:rPr sz="950" b="1" i="0">
                <a:solidFill>
                  <a:srgbClr val="617087"/>
                </a:solidFill>
                <a:latin typeface="Aptos"/>
              </a:rPr>
              <a:t>BACKUP</a:t>
            </a:r>
          </a:p>
        </p:txBody>
      </p:sp>
      <p:sp>
        <p:nvSpPr>
          <p:cNvPr id="6" name="TextBox 5"/>
          <p:cNvSpPr txBox="1"/>
          <p:nvPr/>
        </p:nvSpPr>
        <p:spPr>
          <a:xfrm>
            <a:off x="11173968" y="6556248"/>
            <a:ext cx="457200" cy="182880"/>
          </a:xfrm>
          <a:prstGeom prst="rect">
            <a:avLst/>
          </a:prstGeom>
          <a:noFill/>
        </p:spPr>
        <p:txBody>
          <a:bodyPr wrap="square" lIns="0" rIns="0" tIns="0" bIns="0" anchor="t">
            <a:spAutoFit/>
          </a:bodyPr>
          <a:lstStyle/>
          <a:p>
            <a:pPr algn="r">
              <a:lnSpc>
                <a:spcPct val="100000"/>
              </a:lnSpc>
              <a:spcBef>
                <a:spcPts val="0"/>
              </a:spcBef>
              <a:spcAft>
                <a:spcPts val="0"/>
              </a:spcAft>
            </a:pPr>
            <a:r>
              <a:rPr sz="1000" b="1" i="0">
                <a:solidFill>
                  <a:srgbClr val="617087"/>
                </a:solidFill>
                <a:latin typeface="Aptos"/>
              </a:rPr>
              <a:t>17</a:t>
            </a:r>
          </a:p>
        </p:txBody>
      </p:sp>
      <p:graphicFrame>
        <p:nvGraphicFramePr>
          <p:cNvPr id="7" name="Chart 6"/>
          <p:cNvGraphicFramePr>
            <a:graphicFrameLocks noGrp="1"/>
          </p:cNvGraphicFramePr>
          <p:nvPr/>
        </p:nvGraphicFramePr>
        <p:xfrm>
          <a:off x="658368" y="1188720"/>
          <a:ext cx="5925312" cy="3913632"/>
        </p:xfrm>
        <a:graphic>
          <a:graphicData uri="http://schemas.openxmlformats.org/drawingml/2006/chart">
            <c:chart xmlns:c="http://schemas.openxmlformats.org/drawingml/2006/chart" r:id="rId2"/>
          </a:graphicData>
        </a:graphic>
      </p:graphicFrame>
      <p:sp>
        <p:nvSpPr>
          <p:cNvPr id="8" name="Rounded Rectangle 7"/>
          <p:cNvSpPr/>
          <p:nvPr/>
        </p:nvSpPr>
        <p:spPr>
          <a:xfrm>
            <a:off x="6876288" y="1188720"/>
            <a:ext cx="4645152" cy="1005840"/>
          </a:xfrm>
          <a:prstGeom prst="roundRect">
            <a:avLst/>
          </a:prstGeom>
          <a:solidFill>
            <a:srgbClr val="FFFFFF"/>
          </a:solidFill>
          <a:ln w="10160">
            <a:solidFill>
              <a:srgbClr val="2063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14032" y="1389888"/>
            <a:ext cx="4169663" cy="256032"/>
          </a:xfrm>
          <a:prstGeom prst="rect">
            <a:avLst/>
          </a:prstGeom>
          <a:noFill/>
        </p:spPr>
        <p:txBody>
          <a:bodyPr wrap="square" lIns="0" rIns="0" tIns="0" bIns="0" anchor="t">
            <a:spAutoFit/>
          </a:bodyPr>
          <a:lstStyle/>
          <a:p>
            <a:pPr algn="l">
              <a:lnSpc>
                <a:spcPct val="100000"/>
              </a:lnSpc>
              <a:spcBef>
                <a:spcPts val="0"/>
              </a:spcBef>
              <a:spcAft>
                <a:spcPts val="0"/>
              </a:spcAft>
            </a:pPr>
            <a:r>
              <a:rPr sz="1200" b="1" i="0">
                <a:solidFill>
                  <a:srgbClr val="20639B"/>
                </a:solidFill>
                <a:latin typeface="Aptos"/>
              </a:rPr>
              <a:t>PENALTY-X · p=110</a:t>
            </a:r>
          </a:p>
        </p:txBody>
      </p:sp>
      <p:sp>
        <p:nvSpPr>
          <p:cNvPr id="10" name="TextBox 9"/>
          <p:cNvSpPr txBox="1"/>
          <p:nvPr/>
        </p:nvSpPr>
        <p:spPr>
          <a:xfrm>
            <a:off x="7114032" y="1746504"/>
            <a:ext cx="4169663" cy="256032"/>
          </a:xfrm>
          <a:prstGeom prst="rect">
            <a:avLst/>
          </a:prstGeom>
          <a:noFill/>
        </p:spPr>
        <p:txBody>
          <a:bodyPr wrap="square" lIns="0" rIns="0" tIns="0" bIns="0" anchor="t">
            <a:spAutoFit/>
          </a:bodyPr>
          <a:lstStyle/>
          <a:p>
            <a:pPr algn="l">
              <a:lnSpc>
                <a:spcPct val="100000"/>
              </a:lnSpc>
              <a:spcBef>
                <a:spcPts val="0"/>
              </a:spcBef>
              <a:spcAft>
                <a:spcPts val="0"/>
              </a:spcAft>
            </a:pPr>
            <a:r>
              <a:rPr sz="1600" b="1" i="0">
                <a:solidFill>
                  <a:srgbClr val="24324A"/>
                </a:solidFill>
                <a:latin typeface="Aptos"/>
              </a:rPr>
              <a:t>7/10 wins · median ratio 2.971 · MIXED</a:t>
            </a:r>
          </a:p>
        </p:txBody>
      </p:sp>
      <p:sp>
        <p:nvSpPr>
          <p:cNvPr id="11" name="Rounded Rectangle 10"/>
          <p:cNvSpPr/>
          <p:nvPr/>
        </p:nvSpPr>
        <p:spPr>
          <a:xfrm>
            <a:off x="6876288" y="2404872"/>
            <a:ext cx="4645152" cy="1005840"/>
          </a:xfrm>
          <a:prstGeom prst="roundRect">
            <a:avLst/>
          </a:prstGeom>
          <a:solidFill>
            <a:srgbClr val="FFFFFF"/>
          </a:solidFill>
          <a:ln w="10160">
            <a:solidFill>
              <a:srgbClr val="D14D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14032" y="2606040"/>
            <a:ext cx="4169663" cy="256032"/>
          </a:xfrm>
          <a:prstGeom prst="rect">
            <a:avLst/>
          </a:prstGeom>
          <a:noFill/>
        </p:spPr>
        <p:txBody>
          <a:bodyPr wrap="square" lIns="0" rIns="0" tIns="0" bIns="0" anchor="t">
            <a:spAutoFit/>
          </a:bodyPr>
          <a:lstStyle/>
          <a:p>
            <a:pPr algn="l">
              <a:lnSpc>
                <a:spcPct val="100000"/>
              </a:lnSpc>
              <a:spcBef>
                <a:spcPts val="0"/>
              </a:spcBef>
              <a:spcAft>
                <a:spcPts val="0"/>
              </a:spcAft>
            </a:pPr>
            <a:r>
              <a:rPr sz="1200" b="1" i="0">
                <a:solidFill>
                  <a:srgbClr val="D14D5A"/>
                </a:solidFill>
                <a:latin typeface="Aptos"/>
              </a:rPr>
              <a:t>GLOBAL-GROVER · p=110</a:t>
            </a:r>
          </a:p>
        </p:txBody>
      </p:sp>
      <p:sp>
        <p:nvSpPr>
          <p:cNvPr id="13" name="TextBox 12"/>
          <p:cNvSpPr txBox="1"/>
          <p:nvPr/>
        </p:nvSpPr>
        <p:spPr>
          <a:xfrm>
            <a:off x="7114032" y="2962656"/>
            <a:ext cx="4169663" cy="256032"/>
          </a:xfrm>
          <a:prstGeom prst="rect">
            <a:avLst/>
          </a:prstGeom>
          <a:noFill/>
        </p:spPr>
        <p:txBody>
          <a:bodyPr wrap="square" lIns="0" rIns="0" tIns="0" bIns="0" anchor="t">
            <a:spAutoFit/>
          </a:bodyPr>
          <a:lstStyle/>
          <a:p>
            <a:pPr algn="l">
              <a:lnSpc>
                <a:spcPct val="100000"/>
              </a:lnSpc>
              <a:spcBef>
                <a:spcPts val="0"/>
              </a:spcBef>
              <a:spcAft>
                <a:spcPts val="0"/>
              </a:spcAft>
            </a:pPr>
            <a:r>
              <a:rPr sz="1600" b="1" i="0">
                <a:solidFill>
                  <a:srgbClr val="24324A"/>
                </a:solidFill>
                <a:latin typeface="Aptos"/>
              </a:rPr>
              <a:t>10/10 wins · median ratio 3.929</a:t>
            </a:r>
          </a:p>
        </p:txBody>
      </p:sp>
      <p:sp>
        <p:nvSpPr>
          <p:cNvPr id="14" name="Rounded Rectangle 13"/>
          <p:cNvSpPr/>
          <p:nvPr/>
        </p:nvSpPr>
        <p:spPr>
          <a:xfrm>
            <a:off x="6876288" y="3621024"/>
            <a:ext cx="4645152" cy="1481328"/>
          </a:xfrm>
          <a:prstGeom prst="round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114032" y="3813048"/>
            <a:ext cx="4169663" cy="256032"/>
          </a:xfrm>
          <a:prstGeom prst="rect">
            <a:avLst/>
          </a:prstGeom>
          <a:noFill/>
        </p:spPr>
        <p:txBody>
          <a:bodyPr wrap="square" lIns="0" rIns="0" tIns="0" bIns="0" anchor="t">
            <a:spAutoFit/>
          </a:bodyPr>
          <a:lstStyle/>
          <a:p>
            <a:pPr algn="l">
              <a:lnSpc>
                <a:spcPct val="100000"/>
              </a:lnSpc>
              <a:spcBef>
                <a:spcPts val="0"/>
              </a:spcBef>
              <a:spcAft>
                <a:spcPts val="0"/>
              </a:spcAft>
            </a:pPr>
            <a:r>
              <a:rPr sz="1200" b="1" i="0">
                <a:solidFill>
                  <a:srgbClr val="E9B949"/>
                </a:solidFill>
                <a:latin typeface="Aptos"/>
              </a:rPr>
              <a:t>FROZEN PROTOCOL</a:t>
            </a:r>
          </a:p>
        </p:txBody>
      </p:sp>
      <p:sp>
        <p:nvSpPr>
          <p:cNvPr id="16" name="TextBox 15"/>
          <p:cNvSpPr txBox="1"/>
          <p:nvPr/>
        </p:nvSpPr>
        <p:spPr>
          <a:xfrm>
            <a:off x="7114032" y="4178808"/>
            <a:ext cx="4169663" cy="713232"/>
          </a:xfrm>
          <a:prstGeom prst="rect">
            <a:avLst/>
          </a:prstGeom>
          <a:noFill/>
        </p:spPr>
        <p:txBody>
          <a:bodyPr wrap="square" lIns="0" rIns="0" tIns="0" bIns="0" anchor="t">
            <a:spAutoFit/>
          </a:bodyPr>
          <a:lstStyle/>
          <a:p>
            <a:pPr algn="ctr">
              <a:lnSpc>
                <a:spcPct val="100000"/>
              </a:lnSpc>
              <a:spcBef>
                <a:spcPts val="0"/>
              </a:spcBef>
              <a:spcAft>
                <a:spcPts val="0"/>
              </a:spcAft>
            </a:pPr>
            <a:r>
              <a:rPr sz="1500" b="0" i="0">
                <a:solidFill>
                  <a:srgbClr val="FFFFFF"/>
                </a:solidFill>
                <a:latin typeface="Aptos"/>
              </a:rPr>
              <a:t>alpha in {0.05, 0.10, 0.25, 0.50}
plus expectation (alpha=1)
p = 50, 100, 110 · 140 cells</a:t>
            </a:r>
          </a:p>
        </p:txBody>
      </p:sp>
      <p:sp>
        <p:nvSpPr>
          <p:cNvPr id="17" name="Rounded Rectangle 16"/>
          <p:cNvSpPr/>
          <p:nvPr/>
        </p:nvSpPr>
        <p:spPr>
          <a:xfrm>
            <a:off x="658368" y="5358384"/>
            <a:ext cx="10863072" cy="768096"/>
          </a:xfrm>
          <a:prstGeom prst="roundRect">
            <a:avLst/>
          </a:prstGeom>
          <a:solidFill>
            <a:srgbClr val="E4F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96112" y="5504688"/>
            <a:ext cx="10387584" cy="457200"/>
          </a:xfrm>
          <a:prstGeom prst="rect">
            <a:avLst/>
          </a:prstGeom>
          <a:noFill/>
        </p:spPr>
        <p:txBody>
          <a:bodyPr wrap="square" lIns="0" rIns="0" tIns="0" bIns="0" anchor="t">
            <a:spAutoFit/>
          </a:bodyPr>
          <a:lstStyle/>
          <a:p>
            <a:pPr algn="ctr">
              <a:lnSpc>
                <a:spcPct val="100000"/>
              </a:lnSpc>
              <a:spcBef>
                <a:spcPts val="0"/>
              </a:spcBef>
              <a:spcAft>
                <a:spcPts val="0"/>
              </a:spcAft>
            </a:pPr>
            <a:r>
              <a:rPr sz="1550" b="1" i="0">
                <a:solidFill>
                  <a:srgbClr val="277A55"/>
                </a:solidFill>
                <a:latin typeface="Aptos"/>
              </a:rPr>
              <a:t>Supported mechanism: feasible-region amplification, not consistently stronger optimal concentration within the feasible set. All cells were budget-exhausted; absolute p_opt remained small.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Routing to QAOA: Mixer Design and Circuit Depth</dc:title>
  <dc:subject>DTU 10387 SCIQIS course project final presentation</dc:subject>
  <dc:creator>ZhilinChen02</dc:creator>
  <cp:keywords>QAOA, routing, QUBO, Ising, Penalty-X, Global-Grover, CVaR, COBYLA</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